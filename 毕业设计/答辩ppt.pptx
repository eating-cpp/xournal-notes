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60" r:id="rId7"/>
    <p:sldId id="298" r:id="rId8"/>
    <p:sldId id="332" r:id="rId9"/>
    <p:sldId id="294" r:id="rId10"/>
    <p:sldId id="308" r:id="rId11"/>
    <p:sldId id="333" r:id="rId12"/>
    <p:sldId id="309" r:id="rId13"/>
    <p:sldId id="334" r:id="rId14"/>
    <p:sldId id="310" r:id="rId15"/>
    <p:sldId id="336" r:id="rId16"/>
    <p:sldId id="337" r:id="rId17"/>
    <p:sldId id="352" r:id="rId18"/>
    <p:sldId id="338" r:id="rId19"/>
    <p:sldId id="331" r:id="rId20"/>
    <p:sldId id="295" r:id="rId21"/>
    <p:sldId id="339" r:id="rId22"/>
    <p:sldId id="341" r:id="rId23"/>
    <p:sldId id="340" r:id="rId24"/>
    <p:sldId id="353" r:id="rId25"/>
    <p:sldId id="342" r:id="rId26"/>
    <p:sldId id="344" r:id="rId27"/>
    <p:sldId id="343" r:id="rId28"/>
    <p:sldId id="346" r:id="rId29"/>
    <p:sldId id="348" r:id="rId30"/>
    <p:sldId id="349" r:id="rId31"/>
    <p:sldId id="296" r:id="rId32"/>
    <p:sldId id="325" r:id="rId33"/>
    <p:sldId id="351" r:id="rId34"/>
    <p:sldId id="280"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C56DFE9-2F3A-4C3F-B1D7-CB96C2E6B6EE}">
          <p14:sldIdLst>
            <p14:sldId id="256"/>
            <p14:sldId id="257"/>
            <p14:sldId id="260"/>
            <p14:sldId id="298"/>
            <p14:sldId id="332"/>
            <p14:sldId id="294"/>
            <p14:sldId id="308"/>
            <p14:sldId id="333"/>
            <p14:sldId id="309"/>
            <p14:sldId id="334"/>
            <p14:sldId id="310"/>
            <p14:sldId id="336"/>
            <p14:sldId id="337"/>
            <p14:sldId id="352"/>
            <p14:sldId id="338"/>
            <p14:sldId id="331"/>
            <p14:sldId id="295"/>
            <p14:sldId id="339"/>
            <p14:sldId id="341"/>
            <p14:sldId id="340"/>
            <p14:sldId id="353"/>
            <p14:sldId id="342"/>
            <p14:sldId id="344"/>
            <p14:sldId id="343"/>
            <p14:sldId id="346"/>
            <p14:sldId id="348"/>
            <p14:sldId id="349"/>
            <p14:sldId id="296"/>
            <p14:sldId id="325"/>
            <p14:sldId id="351"/>
            <p14:sldId id="280"/>
          </p14:sldIdLst>
        </p14:section>
      </p14:sectionLst>
    </p:ext>
    <p:ext uri="{EFAFB233-063F-42B5-8137-9DF3F51BA10A}">
      <p15:sldGuideLst xmlns:p15="http://schemas.microsoft.com/office/powerpoint/2012/main">
        <p15:guide id="1" orient="horz" pos="529" userDrawn="1">
          <p15:clr>
            <a:srgbClr val="A4A3A4"/>
          </p15:clr>
        </p15:guide>
        <p15:guide id="2" pos="529" userDrawn="1">
          <p15:clr>
            <a:srgbClr val="A4A3A4"/>
          </p15:clr>
        </p15:guide>
        <p15:guide id="3" orient="horz" pos="859" userDrawn="1">
          <p15:clr>
            <a:srgbClr val="A4A3A4"/>
          </p15:clr>
        </p15:guide>
        <p15:guide id="4" orient="horz" pos="4065" userDrawn="1">
          <p15:clr>
            <a:srgbClr val="A4A3A4"/>
          </p15:clr>
        </p15:guide>
        <p15:guide id="5" orient="horz" pos="3750" userDrawn="1">
          <p15:clr>
            <a:srgbClr val="A4A3A4"/>
          </p15:clr>
        </p15:guide>
        <p15:guide id="6" pos="7149" userDrawn="1">
          <p15:clr>
            <a:srgbClr val="A4A3A4"/>
          </p15:clr>
        </p15:guide>
        <p15:guide id="7" orient="horz" pos="0" userDrawn="1">
          <p15:clr>
            <a:srgbClr val="A4A3A4"/>
          </p15:clr>
        </p15:guide>
        <p15:guide id="8" orient="horz" pos="2228" userDrawn="1">
          <p15:clr>
            <a:srgbClr val="A4A3A4"/>
          </p15:clr>
        </p15:guide>
        <p15:guide id="9" pos="38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F7E7E"/>
    <a:srgbClr val="770504"/>
    <a:srgbClr val="F877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886"/>
    <p:restoredTop sz="75226" autoAdjust="0"/>
  </p:normalViewPr>
  <p:slideViewPr>
    <p:cSldViewPr snapToGrid="0" snapToObjects="1" showGuides="1">
      <p:cViewPr varScale="1">
        <p:scale>
          <a:sx n="53" d="100"/>
          <a:sy n="53" d="100"/>
        </p:scale>
        <p:origin x="1028" y="40"/>
      </p:cViewPr>
      <p:guideLst>
        <p:guide orient="horz" pos="529"/>
        <p:guide pos="529"/>
        <p:guide orient="horz" pos="859"/>
        <p:guide orient="horz" pos="4065"/>
        <p:guide orient="horz" pos="3750"/>
        <p:guide pos="7149"/>
        <p:guide orient="horz"/>
        <p:guide orient="horz" pos="2228"/>
        <p:guide pos="383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A8DF2C-48CD-2F47-94CA-CD8AC056331B}"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A7046-F370-CA44-A09C-93B5FDE04322}"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具身视觉导航要求智能体能够通过视觉感知的方法估计相机在预先构建的环境地图中的位姿</a:t>
            </a:r>
            <a:endParaRPr kumimoji="1" lang="zh-CN" altLang="en-US" dirty="0"/>
          </a:p>
          <a:p>
            <a:r>
              <a:rPr kumimoji="1" lang="zh-CN" altLang="en-US" dirty="0"/>
              <a:t>为解决用自然语言指令来命令智能体完成导航任务容易出现的语义混淆问题，具身视觉导航任务演变成了</a:t>
            </a:r>
            <a:r>
              <a:rPr kumimoji="1" lang="en-US" altLang="zh-CN" dirty="0"/>
              <a:t>IIN</a:t>
            </a:r>
            <a:r>
              <a:rPr kumimoji="1" lang="zh-CN" altLang="en-US" dirty="0"/>
              <a:t>任务，即要求智能体接收到一张包含了特定目标物体的图像猴在限定时间步内找到这个特定的物体实例的位置并到达该物体附近</a:t>
            </a:r>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近些年来的三维重建、相机位姿定位视觉导航领域也都取得了很多成果</a:t>
            </a:r>
            <a:endParaRPr kumimoji="1" lang="zh-CN" altLang="en-US" dirty="0"/>
          </a:p>
          <a:p>
            <a:r>
              <a:rPr kumimoji="1" lang="zh-CN" altLang="en-US" dirty="0"/>
              <a:t>语义引导的</a:t>
            </a:r>
            <a:r>
              <a:rPr kumimoji="1" lang="en-US" altLang="zh-CN" dirty="0"/>
              <a:t>3D</a:t>
            </a:r>
            <a:r>
              <a:rPr kumimoji="1" lang="zh-CN" altLang="en-US" dirty="0"/>
              <a:t>高斯：</a:t>
            </a:r>
            <a:r>
              <a:rPr kumimoji="1" lang="en-US" altLang="zh-CN" dirty="0"/>
              <a:t>seggaussian</a:t>
            </a:r>
            <a:r>
              <a:rPr kumimoji="1" lang="zh-CN" altLang="en-US" dirty="0"/>
              <a:t>：利用语义掩码识别重建薄弱区域，通过空间正则化抑制高斯重叠，显著提升了稀疏观测下的语义重建质量。</a:t>
            </a:r>
            <a:endParaRPr kumimoji="1" lang="zh-CN" altLang="en-US" dirty="0"/>
          </a:p>
          <a:p>
            <a:r>
              <a:rPr kumimoji="1" lang="zh-CN" altLang="en-US" dirty="0"/>
              <a:t>特征场引入：</a:t>
            </a:r>
            <a:r>
              <a:rPr kumimoji="1" lang="en-US" altLang="zh-CN" dirty="0"/>
              <a:t>Gsplatloc</a:t>
            </a:r>
            <a:r>
              <a:rPr kumimoji="1" lang="zh-CN" altLang="en-US" dirty="0"/>
              <a:t>在</a:t>
            </a:r>
            <a:r>
              <a:rPr kumimoji="1" lang="en-US" altLang="zh-CN" dirty="0"/>
              <a:t>3DGS</a:t>
            </a:r>
            <a:r>
              <a:rPr kumimoji="1" lang="zh-CN" altLang="en-US" dirty="0"/>
              <a:t>中引入原生稠密特特征场，实现特征渲染</a:t>
            </a:r>
            <a:endParaRPr kumimoji="1" lang="zh-CN" altLang="en-US" dirty="0"/>
          </a:p>
          <a:p>
            <a:r>
              <a:rPr kumimoji="1" lang="zh-CN" altLang="en-US" dirty="0"/>
              <a:t>可执行、语义对齐、物理对齐：</a:t>
            </a:r>
            <a:r>
              <a:rPr kumimoji="1" lang="en-US" altLang="zh-CN" dirty="0"/>
              <a:t>SAGE-3D</a:t>
            </a:r>
            <a:r>
              <a:rPr kumimoji="1" lang="zh-CN" altLang="en-US" dirty="0"/>
              <a:t>将</a:t>
            </a:r>
            <a:r>
              <a:rPr kumimoji="1" lang="en-US" altLang="zh-CN" dirty="0"/>
              <a:t> 3DGS </a:t>
            </a:r>
            <a:r>
              <a:rPr kumimoji="1" lang="zh-CN" altLang="en-US" dirty="0"/>
              <a:t>升级为可执行、语义对齐、物理对齐的环境基础，发布了包含</a:t>
            </a:r>
            <a:r>
              <a:rPr kumimoji="1" lang="en-US" altLang="zh-CN" dirty="0"/>
              <a:t> 1000 </a:t>
            </a:r>
            <a:r>
              <a:rPr kumimoji="1" lang="zh-CN" altLang="en-US" dirty="0"/>
              <a:t>个室内场景的</a:t>
            </a:r>
            <a:r>
              <a:rPr kumimoji="1" lang="en-US" altLang="zh-CN" dirty="0"/>
              <a:t> InteriorGS[14] </a:t>
            </a:r>
            <a:r>
              <a:rPr kumimoji="1" lang="zh-CN" altLang="en-US" dirty="0"/>
              <a:t>数据集</a:t>
            </a:r>
            <a:endParaRPr kumimoji="1" lang="zh-CN" altLang="en-US" dirty="0"/>
          </a:p>
          <a:p>
            <a:endParaRPr kumimoji="1" lang="zh-CN" altLang="en-US" dirty="0"/>
          </a:p>
          <a:p>
            <a:r>
              <a:rPr kumimoji="1" lang="zh-CN" altLang="en-US" dirty="0"/>
              <a:t>图像检索技术：即通过查询图像与已知位姿的图像数据库进行比对来推断近似位置。</a:t>
            </a:r>
            <a:endParaRPr kumimoji="1" lang="zh-CN" altLang="en-US" dirty="0"/>
          </a:p>
          <a:p>
            <a:r>
              <a:rPr kumimoji="1" lang="en-US" altLang="zh-CN" dirty="0"/>
              <a:t>SFM</a:t>
            </a:r>
            <a:r>
              <a:rPr kumimoji="1" lang="zh-CN" altLang="en-US" dirty="0"/>
              <a:t>：运动恢复结构查询图像提取的特征与三维地图之间建立显式的</a:t>
            </a:r>
            <a:r>
              <a:rPr kumimoji="1" lang="en-US" altLang="zh-CN" dirty="0"/>
              <a:t> 2D-3D</a:t>
            </a:r>
            <a:r>
              <a:rPr kumimoji="1" lang="zh-CN" altLang="en-US" dirty="0"/>
              <a:t>对应关系，通常结合随机抽样一致性（</a:t>
            </a:r>
            <a:r>
              <a:rPr kumimoji="1" lang="en-US" altLang="zh-CN" dirty="0"/>
              <a:t>RANSAC</a:t>
            </a:r>
            <a:r>
              <a:rPr kumimoji="1" lang="zh-CN" altLang="en-US" dirty="0"/>
              <a:t>）算法，使用透视</a:t>
            </a:r>
            <a:r>
              <a:rPr kumimoji="1" lang="en-US" altLang="zh-CN" dirty="0"/>
              <a:t> n </a:t>
            </a:r>
            <a:r>
              <a:rPr kumimoji="1" lang="zh-CN" altLang="en-US" dirty="0"/>
              <a:t>点（</a:t>
            </a:r>
            <a:r>
              <a:rPr kumimoji="1" lang="en-US" altLang="zh-CN" dirty="0"/>
              <a:t>PnP</a:t>
            </a:r>
            <a:r>
              <a:rPr kumimoji="1" lang="zh-CN" altLang="en-US" dirty="0"/>
              <a:t>）求解器来计算相机位移</a:t>
            </a:r>
            <a:endParaRPr kumimoji="1" lang="zh-CN" altLang="en-US" dirty="0"/>
          </a:p>
          <a:p>
            <a:r>
              <a:rPr kumimoji="1" lang="zh-CN" altLang="en-US" dirty="0"/>
              <a:t>位姿回归方法采用深度神经网络方式：这类方法将环境结构整合到网络架构中，能够实现端到端的训练</a:t>
            </a:r>
            <a:endParaRPr kumimoji="1" lang="zh-CN" altLang="en-US" dirty="0"/>
          </a:p>
          <a:p>
            <a:endParaRPr kumimoji="1" lang="zh-CN" altLang="en-US" dirty="0"/>
          </a:p>
          <a:p>
            <a:r>
              <a:rPr kumimoji="1" lang="zh-CN" altLang="en-US" dirty="0"/>
              <a:t>总体而言，他们的问题可以归结为两个点，也是本位的核心切入点：</a:t>
            </a:r>
            <a:endParaRPr kumimoji="1" lang="zh-CN" altLang="en-US" dirty="0"/>
          </a:p>
          <a:p>
            <a:pPr marL="171450" indent="-171450">
              <a:buFont typeface="Arial" panose="020B0604020202020204" pitchFamily="34" charset="0"/>
              <a:buChar char="•"/>
            </a:pPr>
            <a:r>
              <a:rPr kumimoji="1" lang="zh-CN" altLang="en-US" dirty="0"/>
              <a:t>语义表示不充分</a:t>
            </a:r>
            <a:r>
              <a:rPr kumimoji="1" lang="en-US" altLang="zh-CN" dirty="0"/>
              <a:t>: </a:t>
            </a:r>
            <a:r>
              <a:rPr kumimoji="1" lang="zh-CN" altLang="en-US" dirty="0"/>
              <a:t>大多数方法（如</a:t>
            </a:r>
            <a:r>
              <a:rPr kumimoji="1" lang="en-US" altLang="zh-CN" dirty="0"/>
              <a:t> GaussNav[2]</a:t>
            </a:r>
            <a:r>
              <a:rPr kumimoji="1" lang="zh-CN" altLang="en-US" dirty="0"/>
              <a:t>、</a:t>
            </a:r>
            <a:r>
              <a:rPr kumimoji="1" lang="en-US" altLang="zh-CN" dirty="0"/>
              <a:t>UnitedVLN[19]</a:t>
            </a:r>
            <a:r>
              <a:rPr kumimoji="1" lang="zh-CN" altLang="en-US" dirty="0"/>
              <a:t>）仍采用静态</a:t>
            </a:r>
            <a:endParaRPr kumimoji="1" lang="zh-CN" altLang="en-US" dirty="0"/>
          </a:p>
          <a:p>
            <a:r>
              <a:rPr kumimoji="1" lang="zh-CN" altLang="en-US" dirty="0"/>
              <a:t>语义标签或粗粒度语义表示，无法实现语义与几何、纹理参数的端到端联合</a:t>
            </a:r>
            <a:endParaRPr kumimoji="1" lang="zh-CN" altLang="en-US" dirty="0"/>
          </a:p>
          <a:p>
            <a:r>
              <a:rPr kumimoji="1" lang="zh-CN" altLang="en-US" dirty="0"/>
              <a:t>优化，导致语义错位和实例区分能力不足；</a:t>
            </a:r>
            <a:endParaRPr kumimoji="1" lang="zh-CN" altLang="en-US" dirty="0"/>
          </a:p>
          <a:p>
            <a:pPr marL="171450" indent="-171450">
              <a:buFont typeface="Arial" panose="020B0604020202020204" pitchFamily="34" charset="0"/>
              <a:buChar char="•"/>
            </a:pPr>
            <a:r>
              <a:rPr kumimoji="1" lang="en-US" altLang="zh-CN" dirty="0"/>
              <a:t> </a:t>
            </a:r>
            <a:r>
              <a:rPr kumimoji="1" lang="zh-CN" altLang="en-US" dirty="0"/>
              <a:t>实例定位精度不足：现有定位方法对于相似实例的区分能力有限，且缺乏针</a:t>
            </a:r>
            <a:endParaRPr kumimoji="1" lang="zh-CN" altLang="en-US" dirty="0"/>
          </a:p>
          <a:p>
            <a:r>
              <a:rPr kumimoji="1" lang="zh-CN" altLang="en-US" dirty="0"/>
              <a:t>对</a:t>
            </a:r>
            <a:r>
              <a:rPr kumimoji="1" lang="en-US" altLang="zh-CN" dirty="0"/>
              <a:t> IIN </a:t>
            </a:r>
            <a:r>
              <a:rPr kumimoji="1" lang="zh-CN" altLang="en-US" dirty="0"/>
              <a:t>任务的专用位姿精修机制，在复杂场景中容易出现目标误匹配和定位</a:t>
            </a:r>
            <a:endParaRPr kumimoji="1" lang="zh-CN" altLang="en-US" dirty="0"/>
          </a:p>
          <a:p>
            <a:r>
              <a:rPr kumimoji="1" lang="zh-CN" altLang="en-US" dirty="0"/>
              <a:t>偏差</a:t>
            </a:r>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本文对既有的</a:t>
            </a:r>
            <a:r>
              <a:rPr kumimoji="1" lang="en-US" altLang="zh-CN" dirty="0"/>
              <a:t> GaussNav[2]</a:t>
            </a:r>
            <a:r>
              <a:rPr kumimoji="1" lang="zh-CN" altLang="en-US" dirty="0"/>
              <a:t>与</a:t>
            </a:r>
            <a:r>
              <a:rPr kumimoji="1" lang="en-US" altLang="zh-CN" dirty="0"/>
              <a:t> GsplatLoc[3]</a:t>
            </a:r>
            <a:r>
              <a:rPr kumimoji="1" lang="zh-CN" altLang="en-US" dirty="0"/>
              <a:t>两个核心框架进行了研究并进行了优化工作，提出了提出了一种基于语义增强</a:t>
            </a:r>
            <a:r>
              <a:rPr kumimoji="1" lang="en-US" altLang="zh-CN" dirty="0"/>
              <a:t> 3D </a:t>
            </a:r>
            <a:r>
              <a:rPr kumimoji="1" lang="zh-CN" altLang="en-US" dirty="0"/>
              <a:t>高斯泼溅的模块化视觉导航框架</a:t>
            </a:r>
            <a:r>
              <a:rPr kumimoji="1" lang="en-US" altLang="zh-CN" dirty="0"/>
              <a:t> GS-Guide</a:t>
            </a:r>
            <a:endParaRPr kumimoji="1" lang="en-US" altLang="zh-CN" dirty="0"/>
          </a:p>
          <a:p>
            <a:r>
              <a:rPr kumimoji="1" lang="zh-CN" altLang="en-US" dirty="0"/>
              <a:t>主要贡献总结为</a:t>
            </a:r>
            <a:r>
              <a:rPr kumimoji="1" lang="en-US" altLang="zh-CN" dirty="0"/>
              <a:t>3</a:t>
            </a:r>
            <a:r>
              <a:rPr kumimoji="1" lang="zh-CN" altLang="en-US" dirty="0"/>
              <a:t>点：</a:t>
            </a:r>
            <a:endParaRPr kumimoji="1" lang="zh-CN" altLang="en-US" dirty="0"/>
          </a:p>
          <a:p>
            <a:r>
              <a:rPr kumimoji="1" lang="en-US" altLang="zh-CN" dirty="0"/>
              <a:t>• </a:t>
            </a:r>
            <a:r>
              <a:rPr kumimoji="1" lang="zh-CN" altLang="en-US" dirty="0"/>
              <a:t>高斯语义信息融合与监督优化：引入</a:t>
            </a:r>
            <a:r>
              <a:rPr kumimoji="1" lang="en-US" altLang="zh-CN" dirty="0"/>
              <a:t> Yolo26[20]</a:t>
            </a:r>
            <a:r>
              <a:rPr kumimoji="1" lang="zh-CN" altLang="en-US" dirty="0"/>
              <a:t>语义分割模型输出的物体实例语义，为高斯新增可微语义标签。复用原版</a:t>
            </a:r>
            <a:r>
              <a:rPr kumimoji="1" lang="en-US" altLang="zh-CN" dirty="0"/>
              <a:t> 3DGS </a:t>
            </a:r>
            <a:r>
              <a:rPr kumimoji="1" lang="zh-CN" altLang="en-US" dirty="0"/>
              <a:t>中</a:t>
            </a:r>
            <a:r>
              <a:rPr kumimoji="1" lang="en-US" altLang="zh-CN" dirty="0"/>
              <a:t> RGB </a:t>
            </a:r>
            <a:r>
              <a:rPr kumimoji="1" lang="zh-CN" altLang="en-US" dirty="0"/>
              <a:t>颜色渲染逻辑，实现渲染通道数自适应适配</a:t>
            </a:r>
            <a:r>
              <a:rPr kumimoji="1" lang="en-US" altLang="zh-CN" dirty="0"/>
              <a:t> RGB </a:t>
            </a:r>
            <a:r>
              <a:rPr kumimoji="1" lang="zh-CN" altLang="en-US" dirty="0"/>
              <a:t>和语义渲染两种模式。实现了语义高斯的高效构建。</a:t>
            </a:r>
            <a:endParaRPr kumimoji="1" lang="zh-CN" altLang="en-US" dirty="0"/>
          </a:p>
          <a:p>
            <a:r>
              <a:rPr kumimoji="1" lang="en-US" altLang="zh-CN" dirty="0"/>
              <a:t>• </a:t>
            </a:r>
            <a:r>
              <a:rPr kumimoji="1" lang="zh-CN" altLang="en-US" dirty="0"/>
              <a:t>对齐目标图像的具体位姿：利用</a:t>
            </a:r>
            <a:r>
              <a:rPr kumimoji="1" lang="en-US" altLang="zh-CN" dirty="0"/>
              <a:t> GSplatLoc[3]</a:t>
            </a:r>
            <a:r>
              <a:rPr kumimoji="1" lang="zh-CN" altLang="en-US" dirty="0"/>
              <a:t>提供的基于高斯渲染优化后的图像扭曲技术，通过将目标图像与高斯渲染结果进行对齐，实现了多视角生成与目标位姿精确估计。</a:t>
            </a:r>
            <a:endParaRPr kumimoji="1" lang="zh-CN" altLang="en-US" dirty="0"/>
          </a:p>
          <a:p>
            <a:r>
              <a:rPr kumimoji="1" lang="en-US" altLang="zh-CN" dirty="0"/>
              <a:t>• </a:t>
            </a:r>
            <a:r>
              <a:rPr kumimoji="1" lang="zh-CN" altLang="en-US" dirty="0"/>
              <a:t>目标导航：利用优化后的语义高斯表示，结合基于</a:t>
            </a:r>
            <a:r>
              <a:rPr kumimoji="1" lang="en-US" altLang="zh-CN" dirty="0"/>
              <a:t> LightGlue+Disk[21-22]</a:t>
            </a:r>
            <a:r>
              <a:rPr kumimoji="1" lang="zh-CN" altLang="en-US" dirty="0"/>
              <a:t>的特征提取与匹配方案的目标位姿估计，实现了一个视觉导航系统。</a:t>
            </a:r>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整个系统是一个极简的面向视觉导航的模块化框架，主要包含三个阶段：环境探索与语义地图构建、目标定位与相机位姿对齐、导航。</a:t>
            </a:r>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本文所使用的高斯是经过简化的，除去了很多参数并且将每个高斯椭球退化为一个球体。</a:t>
            </a:r>
            <a:endParaRPr kumimoji="1" lang="zh-CN" altLang="en-US" dirty="0"/>
          </a:p>
          <a:p>
            <a:r>
              <a:rPr kumimoji="1" lang="zh-CN" altLang="en-US" dirty="0"/>
              <a:t>保留了原始</a:t>
            </a:r>
            <a:r>
              <a:rPr kumimoji="1" lang="en-US" altLang="zh-CN" dirty="0"/>
              <a:t>3D</a:t>
            </a:r>
            <a:r>
              <a:rPr kumimoji="1" lang="zh-CN" altLang="en-US" dirty="0"/>
              <a:t>高斯的基元表示核心能力，将高斯核心参数简化这几个个参数，分别代表高斯的</a:t>
            </a:r>
            <a:r>
              <a:rPr kumimoji="1" lang="en-US" altLang="zh-CN" dirty="0"/>
              <a:t>RGB</a:t>
            </a:r>
            <a:r>
              <a:rPr kumimoji="1" lang="zh-CN" altLang="en-US" dirty="0"/>
              <a:t>向量，高斯中心坐标，每个高斯半径，高斯透明度，以及本文新增加的</a:t>
            </a:r>
            <a:r>
              <a:rPr kumimoji="1" lang="en-US" altLang="zh-CN" dirty="0"/>
              <a:t>7</a:t>
            </a:r>
            <a:r>
              <a:rPr kumimoji="1" lang="zh-CN" altLang="en-US" dirty="0"/>
              <a:t>维度的高斯语义向量</a:t>
            </a:r>
            <a:endParaRPr kumimoji="1" lang="zh-CN" altLang="en-US" dirty="0"/>
          </a:p>
          <a:p>
            <a:r>
              <a:rPr kumimoji="1" lang="zh-CN" altLang="en-US" dirty="0"/>
              <a:t>这么做是因为物体的整体颜色和纹理特征已经足够支撑实例级匹配需求，不需要球谐函数来模拟不同角度下不同反射光与颜色的表示方式。</a:t>
            </a:r>
            <a:endParaRPr kumimoji="1" lang="zh-CN" altLang="en-US" dirty="0"/>
          </a:p>
          <a:p>
            <a:r>
              <a:rPr kumimoji="1" lang="zh-CN" altLang="en-US" dirty="0"/>
              <a:t>并且导航任务并不需要毫米级别的精度，只要能够表示物体的大致位置，整体结构与实例形状即可。</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然后就是核心工作之一语义高斯构建</a:t>
            </a:r>
            <a:endParaRPr kumimoji="1" lang="zh-CN" altLang="en-US" dirty="0"/>
          </a:p>
          <a:p>
            <a:r>
              <a:rPr kumimoji="1" lang="en-US" altLang="zh-CN" dirty="0"/>
              <a:t>1.</a:t>
            </a:r>
            <a:r>
              <a:rPr kumimoji="1" lang="zh-CN" altLang="en-US" dirty="0"/>
              <a:t>原始</a:t>
            </a:r>
            <a:r>
              <a:rPr kumimoji="1" lang="en-US" altLang="zh-CN" dirty="0"/>
              <a:t>GaussNav</a:t>
            </a:r>
            <a:r>
              <a:rPr kumimoji="1" lang="zh-CN" altLang="en-US" dirty="0"/>
              <a:t>静态语义标签改为可跟踪梯度的</a:t>
            </a:r>
            <a:r>
              <a:rPr kumimoji="1" lang="en-US" altLang="zh-CN" dirty="0"/>
              <a:t>7</a:t>
            </a:r>
            <a:r>
              <a:rPr kumimoji="1" lang="zh-CN" altLang="en-US" dirty="0"/>
              <a:t>维度语义标签</a:t>
            </a:r>
            <a:endParaRPr kumimoji="1" lang="zh-CN" altLang="en-US" dirty="0"/>
          </a:p>
          <a:p>
            <a:r>
              <a:rPr kumimoji="1" lang="en-US" altLang="zh-CN" dirty="0"/>
              <a:t>2.</a:t>
            </a:r>
            <a:r>
              <a:rPr kumimoji="1" lang="zh-CN" altLang="en-US" dirty="0"/>
              <a:t>自适应通道数</a:t>
            </a:r>
            <a:endParaRPr kumimoji="1" lang="zh-CN" altLang="en-US" dirty="0"/>
          </a:p>
          <a:p>
            <a:r>
              <a:rPr kumimoji="1" lang="en-US" altLang="zh-CN" dirty="0"/>
              <a:t>3.</a:t>
            </a:r>
            <a:r>
              <a:rPr kumimoji="1" lang="zh-CN" altLang="en-US" dirty="0"/>
              <a:t>选取贡献度最大的高斯所带有的语义为每个像素渲一个</a:t>
            </a:r>
            <a:r>
              <a:rPr kumimoji="1" lang="en-US" altLang="zh-CN" dirty="0"/>
              <a:t> v </a:t>
            </a:r>
            <a:r>
              <a:rPr kumimoji="1" lang="zh-CN" altLang="en-US" dirty="0"/>
              <a:t>维语义向量，经</a:t>
            </a:r>
            <a:r>
              <a:rPr kumimoji="1" lang="en-US" altLang="zh-CN" dirty="0"/>
              <a:t> sof tmax </a:t>
            </a:r>
            <a:r>
              <a:rPr kumimoji="1" lang="zh-CN" altLang="en-US" dirty="0"/>
              <a:t>将</a:t>
            </a:r>
            <a:r>
              <a:rPr kumimoji="1" lang="en-US" altLang="zh-CN" dirty="0"/>
              <a:t> v </a:t>
            </a:r>
            <a:r>
              <a:rPr kumimoji="1" lang="zh-CN" altLang="en-US" dirty="0"/>
              <a:t>维向量表示为各语义类别概率</a:t>
            </a:r>
            <a:endParaRPr kumimoji="1" lang="zh-CN" altLang="en-US" dirty="0"/>
          </a:p>
          <a:p>
            <a:r>
              <a:rPr kumimoji="1" lang="en-US" altLang="zh-CN" dirty="0"/>
              <a:t>4.</a:t>
            </a:r>
            <a:r>
              <a:rPr kumimoji="1" lang="zh-CN" altLang="en-US" dirty="0"/>
              <a:t>多中不同的语义损失共同监督语义训练</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ea typeface="宋体" panose="02010600030101010101" pitchFamily="2" charset="-122"/>
              </a:rPr>
              <a:t>第二阶段就是目标定位与路径规划</a:t>
            </a:r>
            <a:endParaRPr kumimoji="1" lang="zh-CN" altLang="en-US" dirty="0">
              <a:ea typeface="宋体" panose="02010600030101010101" pitchFamily="2" charset="-122"/>
            </a:endParaRPr>
          </a:p>
          <a:p>
            <a:r>
              <a:rPr kumimoji="1" lang="zh-CN" altLang="en-US" dirty="0">
                <a:ea typeface="宋体" panose="02010600030101010101" pitchFamily="2" charset="-122"/>
              </a:rPr>
              <a:t>首先，对目标图像</a:t>
            </a:r>
            <a:r>
              <a:rPr kumimoji="1" lang="en-US" altLang="zh-CN" dirty="0">
                <a:ea typeface="宋体" panose="02010600030101010101" pitchFamily="2" charset="-122"/>
              </a:rPr>
              <a:t> Ig </a:t>
            </a:r>
            <a:r>
              <a:rPr kumimoji="1" lang="zh-CN" altLang="en-US" dirty="0">
                <a:ea typeface="宋体" panose="02010600030101010101" pitchFamily="2" charset="-122"/>
              </a:rPr>
              <a:t>进行分类，预测目标物体的语义标签</a:t>
            </a:r>
            <a:r>
              <a:rPr kumimoji="1" lang="en-US" altLang="zh-CN" dirty="0">
                <a:ea typeface="宋体" panose="02010600030101010101" pitchFamily="2" charset="-122"/>
              </a:rPr>
              <a:t> </a:t>
            </a:r>
            <a:r>
              <a:rPr kumimoji="1" lang="en-US" altLang="en-US" dirty="0">
                <a:ea typeface="宋体" panose="02010600030101010101" pitchFamily="2" charset="-122"/>
              </a:rPr>
              <a:t>ˆ</a:t>
            </a:r>
            <a:r>
              <a:rPr kumimoji="1" lang="en-US" altLang="zh-CN" dirty="0">
                <a:ea typeface="宋体" panose="02010600030101010101" pitchFamily="2" charset="-122"/>
              </a:rPr>
              <a:t>lg</a:t>
            </a:r>
            <a:r>
              <a:rPr kumimoji="1" lang="zh-CN" altLang="en-US" dirty="0">
                <a:ea typeface="宋体" panose="02010600030101010101" pitchFamily="2" charset="-122"/>
              </a:rPr>
              <a:t>；然后利用该语义标签查询语义高斯地图中所有同类别实例物体，并与目标图像进行匹配，从而确定初始位姿</a:t>
            </a:r>
            <a:r>
              <a:rPr kumimoji="1" lang="en-US" altLang="zh-CN" dirty="0">
                <a:ea typeface="宋体" panose="02010600030101010101" pitchFamily="2" charset="-122"/>
              </a:rPr>
              <a:t> </a:t>
            </a:r>
            <a:r>
              <a:rPr kumimoji="1" lang="en-US" altLang="en-US" dirty="0">
                <a:ea typeface="宋体" panose="02010600030101010101" pitchFamily="2" charset="-122"/>
              </a:rPr>
              <a:t>ˆ</a:t>
            </a:r>
            <a:r>
              <a:rPr kumimoji="1" lang="en-US" altLang="zh-CN" dirty="0">
                <a:ea typeface="宋体" panose="02010600030101010101" pitchFamily="2" charset="-122"/>
              </a:rPr>
              <a:t>Pg</a:t>
            </a:r>
            <a:r>
              <a:rPr kumimoji="1" lang="zh-CN" altLang="en-US" dirty="0">
                <a:ea typeface="宋体" panose="02010600030101010101" pitchFamily="2" charset="-122"/>
              </a:rPr>
              <a:t>；最后通过路径规划模块生成可行路径并输出智能体动作序列。</a:t>
            </a:r>
            <a:endParaRPr kumimoji="1" lang="zh-CN" altLang="en-US" dirty="0">
              <a:ea typeface="宋体" panose="02010600030101010101" pitchFamily="2" charset="-122"/>
            </a:endParaRPr>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确定目标实例后与初始位姿</a:t>
            </a:r>
            <a:r>
              <a:rPr kumimoji="1" lang="en-US" altLang="zh-CN" dirty="0"/>
              <a:t> (R, t) </a:t>
            </a:r>
            <a:r>
              <a:rPr kumimoji="1" lang="zh-CN" altLang="en-US" dirty="0"/>
              <a:t>后，根据初始位姿</a:t>
            </a:r>
            <a:r>
              <a:rPr kumimoji="1" lang="en-US" altLang="zh-CN" dirty="0"/>
              <a:t> (R, t) </a:t>
            </a:r>
            <a:r>
              <a:rPr kumimoji="1" lang="zh-CN" altLang="en-US" dirty="0"/>
              <a:t>渲染图像</a:t>
            </a:r>
            <a:r>
              <a:rPr kumimoji="1" lang="en-US" altLang="zh-CN" dirty="0"/>
              <a:t> qr </a:t>
            </a:r>
            <a:r>
              <a:rPr kumimoji="1" lang="zh-CN" altLang="en-US" dirty="0"/>
              <a:t>以及对应的深度图</a:t>
            </a:r>
            <a:r>
              <a:rPr kumimoji="1" lang="en-US" altLang="zh-CN" dirty="0"/>
              <a:t> dr</a:t>
            </a:r>
            <a:r>
              <a:rPr kumimoji="1" lang="zh-CN" altLang="en-US" dirty="0"/>
              <a:t>，随后最小化</a:t>
            </a:r>
            <a:r>
              <a:rPr kumimoji="1" lang="en-US" altLang="zh-CN" dirty="0"/>
              <a:t> Warping Loss </a:t>
            </a:r>
            <a:r>
              <a:rPr kumimoji="1" lang="zh-CN" altLang="en-US" dirty="0"/>
              <a:t>来优化最终的位姿</a:t>
            </a:r>
            <a:r>
              <a:rPr kumimoji="1" lang="en-US" altLang="zh-CN" dirty="0"/>
              <a:t> (R′, t′)</a:t>
            </a:r>
            <a:r>
              <a:rPr kumimoji="1" lang="zh-CN" altLang="en-US" dirty="0"/>
              <a:t>。</a:t>
            </a:r>
            <a:endParaRPr kumimoji="1" lang="zh-CN" altLang="en-US" dirty="0"/>
          </a:p>
          <a:p>
            <a:r>
              <a:rPr kumimoji="1" lang="en-US" altLang="zh-CN" dirty="0"/>
              <a:t>Warpping Loss </a:t>
            </a:r>
            <a:r>
              <a:rPr kumimoji="1" lang="zh-CN" altLang="en-US" dirty="0"/>
              <a:t>定义为渲染图像与目标图像的所有像素级别的</a:t>
            </a:r>
            <a:r>
              <a:rPr kumimoji="1" lang="en-US" altLang="zh-CN" dirty="0"/>
              <a:t> RGB </a:t>
            </a:r>
            <a:r>
              <a:rPr kumimoji="1" lang="zh-CN" altLang="en-US" dirty="0"/>
              <a:t>差异总和</a:t>
            </a:r>
            <a:endParaRPr kumimoji="1" lang="zh-CN" altLang="en-US" dirty="0"/>
          </a:p>
          <a:p>
            <a:r>
              <a:rPr kumimoji="1" lang="zh-CN" altLang="en-US" dirty="0"/>
              <a:t>扭曲函数</a:t>
            </a:r>
            <a:r>
              <a:rPr kumimoji="1" lang="en-US" altLang="zh-CN" dirty="0"/>
              <a:t> W (·) </a:t>
            </a:r>
            <a:r>
              <a:rPr kumimoji="1" lang="zh-CN" altLang="en-US" dirty="0"/>
              <a:t>通过对参考图像</a:t>
            </a:r>
            <a:r>
              <a:rPr kumimoji="1" lang="en-US" altLang="zh-CN" dirty="0"/>
              <a:t> qr </a:t>
            </a:r>
            <a:r>
              <a:rPr kumimoji="1" lang="zh-CN" altLang="en-US" dirty="0"/>
              <a:t>上的像素</a:t>
            </a:r>
            <a:r>
              <a:rPr kumimoji="1" lang="en-US" altLang="zh-CN" dirty="0"/>
              <a:t> pi </a:t>
            </a:r>
            <a:r>
              <a:rPr kumimoji="1" lang="zh-CN" altLang="en-US" dirty="0"/>
              <a:t>执行坐标变换，找到其在目标图像</a:t>
            </a:r>
            <a:r>
              <a:rPr kumimoji="1" lang="en-US" altLang="zh-CN" dirty="0"/>
              <a:t>q </a:t>
            </a:r>
            <a:r>
              <a:rPr kumimoji="1" lang="zh-CN" altLang="en-US" dirty="0"/>
              <a:t>上对应的像素。</a:t>
            </a:r>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左边为智能体接收到的目标图像，中间为初始粗位姿下的渲染图像，右侧为经过</a:t>
            </a:r>
            <a:r>
              <a:rPr kumimoji="1" lang="en-US" altLang="zh-CN" dirty="0"/>
              <a:t>Warping Loss </a:t>
            </a:r>
            <a:r>
              <a:rPr kumimoji="1" lang="zh-CN" altLang="en-US" dirty="0"/>
              <a:t>后的渲染图像</a:t>
            </a:r>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a:t>
            </a:r>
            <a:r>
              <a:rPr kumimoji="1" lang="zh-CN" altLang="en-US" dirty="0"/>
              <a:t>场景数据采集功能缺失：作者仅提供了</a:t>
            </a:r>
            <a:r>
              <a:rPr kumimoji="1" lang="en-US" altLang="zh-CN" dirty="0"/>
              <a:t> 10 </a:t>
            </a:r>
            <a:r>
              <a:rPr kumimoji="1" lang="zh-CN" altLang="en-US" dirty="0"/>
              <a:t>张预完成预处理的场景图像及其对应的</a:t>
            </a:r>
            <a:r>
              <a:rPr kumimoji="1" lang="en-US" altLang="zh-CN" dirty="0"/>
              <a:t> RGB</a:t>
            </a:r>
            <a:r>
              <a:rPr kumimoji="1" lang="zh-CN" altLang="en-US" dirty="0"/>
              <a:t>、深度、语义标注数据用于</a:t>
            </a:r>
            <a:r>
              <a:rPr kumimoji="1" lang="en-US" altLang="zh-CN" dirty="0"/>
              <a:t> GaussianConstruction </a:t>
            </a:r>
            <a:r>
              <a:rPr kumimoji="1" lang="zh-CN" altLang="en-US" dirty="0"/>
              <a:t>模块的部署验证，未开发面向导航任务的场景数据自主采集功能，无法实现自定义场景的数据集构建，难以支撑后续模型优化与泛化性验证。</a:t>
            </a:r>
            <a:endParaRPr kumimoji="1" lang="zh-CN" altLang="en-US" dirty="0"/>
          </a:p>
          <a:p>
            <a:r>
              <a:rPr kumimoji="1" lang="en-US" altLang="zh-CN" dirty="0"/>
              <a:t>4.</a:t>
            </a:r>
            <a:r>
              <a:rPr kumimoji="1" lang="zh-CN" altLang="en-US" dirty="0"/>
              <a:t>语义标签未纳入高斯参数优化流程：开源代码中，高斯原语的语义标签未与</a:t>
            </a:r>
            <a:r>
              <a:rPr kumimoji="1" lang="en-US" altLang="zh-CN" dirty="0"/>
              <a:t> RGB</a:t>
            </a:r>
            <a:r>
              <a:rPr kumimoji="1" lang="zh-CN" altLang="en-US" dirty="0"/>
              <a:t>、透明度、尺度等核心参数共同参与训练优化，导致语义信息无法与三维高斯表征深度融合，无法为导航任务提供稳定的语义支撑，与论文提出的语义高斯地图核心设计理念存在偏差。</a:t>
            </a:r>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ea typeface="宋体" panose="02010600030101010101" pitchFamily="2" charset="-122"/>
              </a:rPr>
              <a:t>实际导航成功案例的可视化过程图</a:t>
            </a:r>
            <a:endParaRPr kumimoji="1" lang="zh-CN" altLang="en-US" dirty="0">
              <a:ea typeface="宋体" panose="02010600030101010101" pitchFamily="2" charset="-122"/>
            </a:endParaRPr>
          </a:p>
          <a:p>
            <a:r>
              <a:rPr kumimoji="1" lang="zh-CN" altLang="en-US" dirty="0">
                <a:ea typeface="宋体" panose="02010600030101010101" pitchFamily="2" charset="-122"/>
              </a:rPr>
              <a:t>智能体在环境中被随机初始化时，系统会向其提供一张展示目标物体的目标图像。智能体利用已构建好的高斯以及处理过目标位置，并向目标物体移动，最终到达目标物体。</a:t>
            </a:r>
            <a:endParaRPr kumimoji="1" lang="zh-CN" altLang="en-US" dirty="0">
              <a:ea typeface="宋体" panose="02010600030101010101" pitchFamily="2" charset="-122"/>
            </a:endParaRPr>
          </a:p>
          <a:p>
            <a:endParaRPr kumimoji="1" lang="zh-CN" altLang="en-US" dirty="0">
              <a:ea typeface="宋体" panose="02010600030101010101" pitchFamily="2" charset="-122"/>
            </a:endParaRPr>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当智能体调用</a:t>
            </a:r>
            <a:r>
              <a:rPr kumimoji="1" lang="en-US" altLang="zh-CN" dirty="0"/>
              <a:t> STOP </a:t>
            </a:r>
            <a:r>
              <a:rPr kumimoji="1" lang="zh-CN" altLang="en-US" dirty="0"/>
              <a:t>动作时，系统判定智能体目前所在位置和目标位置的直线欧式距离是否小于等于</a:t>
            </a:r>
            <a:r>
              <a:rPr kumimoji="1" lang="en-US" altLang="zh-CN" dirty="0"/>
              <a:t> 1 </a:t>
            </a:r>
            <a:r>
              <a:rPr kumimoji="1" lang="zh-CN" altLang="en-US" dirty="0"/>
              <a:t>米，若小于</a:t>
            </a:r>
            <a:r>
              <a:rPr kumimoji="1" lang="en-US" altLang="zh-CN" dirty="0"/>
              <a:t> 1 </a:t>
            </a:r>
            <a:r>
              <a:rPr kumimoji="1" lang="zh-CN" altLang="en-US" dirty="0"/>
              <a:t>米则判定成功</a:t>
            </a:r>
            <a:r>
              <a:rPr kumimoji="1" lang="en-US" altLang="zh-CN" dirty="0"/>
              <a:t> Success = 1</a:t>
            </a:r>
            <a:r>
              <a:rPr kumimoji="1" lang="zh-CN" altLang="en-US" dirty="0"/>
              <a:t>，否则判定失败</a:t>
            </a:r>
            <a:r>
              <a:rPr kumimoji="1" lang="en-US" altLang="zh-CN" dirty="0"/>
              <a:t> Success = 0</a:t>
            </a:r>
            <a:r>
              <a:rPr kumimoji="1" lang="zh-CN" altLang="en-US" dirty="0"/>
              <a:t>。</a:t>
            </a:r>
            <a:endParaRPr kumimoji="1" lang="zh-CN" altLang="en-US" dirty="0"/>
          </a:p>
          <a:p>
            <a:endParaRPr kumimoji="1" lang="zh-CN" altLang="en-US" dirty="0"/>
          </a:p>
          <a:p>
            <a:r>
              <a:rPr kumimoji="1" lang="zh-CN" altLang="en-US" dirty="0"/>
              <a:t>其中</a:t>
            </a:r>
            <a:r>
              <a:rPr kumimoji="1" lang="en-US" altLang="zh-CN" dirty="0"/>
              <a:t> N </a:t>
            </a:r>
            <a:r>
              <a:rPr kumimoji="1" lang="zh-CN" altLang="en-US" dirty="0"/>
              <a:t>为任务回合总数，</a:t>
            </a:r>
            <a:r>
              <a:rPr kumimoji="1" lang="en-US" altLang="zh-CN" dirty="0"/>
              <a:t>Si </a:t>
            </a:r>
            <a:r>
              <a:rPr kumimoji="1" lang="zh-CN" altLang="en-US" dirty="0"/>
              <a:t>为第</a:t>
            </a:r>
            <a:r>
              <a:rPr kumimoji="1" lang="en-US" altLang="zh-CN" dirty="0"/>
              <a:t> i </a:t>
            </a:r>
            <a:r>
              <a:rPr kumimoji="1" lang="zh-CN" altLang="en-US" dirty="0"/>
              <a:t>个任务回合的二值成功指示符号，</a:t>
            </a:r>
            <a:r>
              <a:rPr kumimoji="1" lang="en-US" altLang="zh-CN" dirty="0"/>
              <a:t>li </a:t>
            </a:r>
            <a:r>
              <a:rPr kumimoji="1" lang="zh-CN" altLang="en-US" dirty="0"/>
              <a:t>为从起始位置到目标的最短路径距离，</a:t>
            </a:r>
            <a:r>
              <a:rPr kumimoji="1" lang="en-US" altLang="zh-CN" dirty="0"/>
              <a:t>pi </a:t>
            </a:r>
            <a:r>
              <a:rPr kumimoji="1" lang="zh-CN" altLang="en-US" dirty="0"/>
              <a:t>为智能体实际走过的路径长度。</a:t>
            </a:r>
            <a:r>
              <a:rPr kumimoji="1" lang="en-US" altLang="zh-CN" dirty="0"/>
              <a:t>SP L </a:t>
            </a:r>
            <a:r>
              <a:rPr kumimoji="1" lang="zh-CN" altLang="en-US" dirty="0"/>
              <a:t>值越高，表示导航效率越高。</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RL Baseline[1]</a:t>
            </a:r>
            <a:r>
              <a:rPr kumimoji="1" lang="zh-CN" altLang="en-US" dirty="0"/>
              <a:t>构建了一个端到端的强化学习网络，直接接受智能体的传感器数据和目标图像，通过视觉编码器和位置编码器提取特征在经历两层</a:t>
            </a:r>
            <a:r>
              <a:rPr kumimoji="1" lang="en-US" altLang="zh-CN" dirty="0"/>
              <a:t>LSTM</a:t>
            </a:r>
            <a:r>
              <a:rPr kumimoji="1" lang="zh-CN" altLang="en-US" dirty="0"/>
              <a:t>融合输出决策，是一个端到端的方法</a:t>
            </a:r>
            <a:endParaRPr kumimoji="1" lang="zh-CN" altLang="en-US" dirty="0"/>
          </a:p>
          <a:p>
            <a:r>
              <a:rPr kumimoji="1" lang="zh-CN" altLang="en-US" dirty="0"/>
              <a:t>该网络使用近端策略优化（</a:t>
            </a:r>
            <a:r>
              <a:rPr kumimoji="1" lang="en-US" altLang="zh-CN" dirty="0"/>
              <a:t>PPO</a:t>
            </a:r>
            <a:r>
              <a:rPr kumimoji="1" lang="zh-CN" altLang="en-US" dirty="0"/>
              <a:t>）算法从头开始训练，最终仅取得了</a:t>
            </a:r>
            <a:r>
              <a:rPr kumimoji="1" lang="en-US" altLang="zh-CN" dirty="0"/>
              <a:t> 0.083 </a:t>
            </a:r>
            <a:r>
              <a:rPr kumimoji="1" lang="zh-CN" altLang="en-US" dirty="0"/>
              <a:t>的成功率和</a:t>
            </a:r>
            <a:r>
              <a:rPr kumimoji="1" lang="en-US" altLang="zh-CN" dirty="0"/>
              <a:t> 0.035</a:t>
            </a:r>
            <a:r>
              <a:rPr kumimoji="1" lang="zh-CN" altLang="en-US" dirty="0"/>
              <a:t>的</a:t>
            </a:r>
            <a:r>
              <a:rPr kumimoji="1" lang="en-US" altLang="zh-CN" dirty="0"/>
              <a:t> SPL</a:t>
            </a:r>
            <a:r>
              <a:rPr kumimoji="1" lang="zh-CN" altLang="en-US" dirty="0"/>
              <a:t>。这一结果表明，纯端到端的强化学习框架难以同时掌握</a:t>
            </a:r>
            <a:r>
              <a:rPr kumimoji="1" lang="en-US" altLang="zh-CN" dirty="0"/>
              <a:t> IIN </a:t>
            </a:r>
            <a:r>
              <a:rPr kumimoji="1" lang="zh-CN" altLang="en-US" dirty="0"/>
              <a:t>任务所需的场景语义理解、跨视角实例识别和长期空间记忆等核心能力，导致导航性能和效率均处于较低水平。</a:t>
            </a:r>
            <a:endParaRPr kumimoji="1" lang="zh-CN" altLang="en-US" dirty="0"/>
          </a:p>
          <a:p>
            <a:endParaRPr kumimoji="1" lang="zh-CN" altLang="en-US" dirty="0"/>
          </a:p>
          <a:p>
            <a:r>
              <a:rPr kumimoji="1" lang="en-US" altLang="zh-CN" dirty="0"/>
              <a:t>OVRL-v2</a:t>
            </a:r>
            <a:r>
              <a:rPr kumimoji="1" lang="zh-CN" altLang="en-US" dirty="0"/>
              <a:t>是一个代表性基线方法其核心是通过自监督预训练学习通用的视觉表示。讲预训练好的模型直接应有在</a:t>
            </a:r>
            <a:r>
              <a:rPr kumimoji="1" lang="en-US" altLang="zh-CN" dirty="0"/>
              <a:t>IIN</a:t>
            </a:r>
            <a:r>
              <a:rPr kumimoji="1" lang="zh-CN" altLang="en-US" dirty="0"/>
              <a:t>任务发下性能极差</a:t>
            </a:r>
            <a:r>
              <a:rPr kumimoji="1" lang="en-US" altLang="zh-CN" dirty="0"/>
              <a:t> </a:t>
            </a:r>
            <a:r>
              <a:rPr kumimoji="1" lang="zh-CN" altLang="en-US" dirty="0"/>
              <a:t>这一显著的性能下降主要源于三个方面的不匹配：一是场景数据集从</a:t>
            </a:r>
            <a:r>
              <a:rPr kumimoji="1" lang="en-US" altLang="zh-CN" dirty="0"/>
              <a:t> Gibson[39] </a:t>
            </a:r>
            <a:r>
              <a:rPr kumimoji="1" lang="zh-CN" altLang="en-US" dirty="0"/>
              <a:t>切换到了</a:t>
            </a:r>
            <a:r>
              <a:rPr kumimoji="1" lang="en-US" altLang="zh-CN" dirty="0"/>
              <a:t> HM3D</a:t>
            </a:r>
            <a:r>
              <a:rPr kumimoji="1" lang="zh-CN" altLang="en-US" dirty="0"/>
              <a:t>，二是机器人本体从</a:t>
            </a:r>
            <a:r>
              <a:rPr kumimoji="1" lang="en-US" altLang="zh-CN" dirty="0"/>
              <a:t> Locobot[40] </a:t>
            </a:r>
            <a:r>
              <a:rPr kumimoji="1" lang="zh-CN" altLang="en-US" dirty="0"/>
              <a:t>变为了</a:t>
            </a:r>
            <a:r>
              <a:rPr kumimoji="1" lang="en-US" altLang="zh-CN" dirty="0"/>
              <a:t> Hello Robot Stretch[36]</a:t>
            </a:r>
            <a:r>
              <a:rPr kumimoji="1" lang="zh-CN" altLang="en-US" dirty="0"/>
              <a:t>，三是任务目标从</a:t>
            </a:r>
            <a:r>
              <a:rPr kumimoji="1" lang="en-US" altLang="zh-CN" dirty="0"/>
              <a:t>” </a:t>
            </a:r>
            <a:r>
              <a:rPr kumimoji="1" lang="zh-CN" altLang="en-US" dirty="0"/>
              <a:t>导航到图像拍摄位置</a:t>
            </a:r>
            <a:r>
              <a:rPr kumimoji="1" lang="en-US" altLang="zh-CN" dirty="0"/>
              <a:t>” </a:t>
            </a:r>
            <a:r>
              <a:rPr kumimoji="1" lang="zh-CN" altLang="en-US" dirty="0"/>
              <a:t>转变为</a:t>
            </a:r>
            <a:r>
              <a:rPr kumimoji="1" lang="en-US" altLang="zh-CN" dirty="0"/>
              <a:t>” </a:t>
            </a:r>
            <a:r>
              <a:rPr kumimoji="1" lang="zh-CN" altLang="en-US" dirty="0"/>
              <a:t>导航到图像中的特定物体实例</a:t>
            </a:r>
            <a:r>
              <a:rPr kumimoji="1" lang="en-US" altLang="zh-CN" dirty="0"/>
              <a:t>”</a:t>
            </a:r>
            <a:endParaRPr kumimoji="1" lang="en-US" altLang="zh-CN" dirty="0"/>
          </a:p>
          <a:p>
            <a:endParaRPr kumimoji="1" lang="en-US" altLang="zh-CN" dirty="0"/>
          </a:p>
          <a:p>
            <a:r>
              <a:rPr kumimoji="1" lang="zh-CN" altLang="en-US" dirty="0"/>
              <a:t>这进一步验证了端到端方法在处理需要精细实例区分和空间推理的</a:t>
            </a:r>
            <a:r>
              <a:rPr kumimoji="1" lang="en-US" altLang="zh-CN" dirty="0"/>
              <a:t> IIN </a:t>
            </a:r>
            <a:r>
              <a:rPr kumimoji="1" lang="zh-CN" altLang="en-US" dirty="0"/>
              <a:t>任务时存在固有局限性。</a:t>
            </a:r>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Mod-IIN[31]</a:t>
            </a:r>
            <a:r>
              <a:rPr kumimoji="1" lang="zh-CN" altLang="en-US" dirty="0"/>
              <a:t>是一个系统性解决</a:t>
            </a:r>
            <a:r>
              <a:rPr kumimoji="1" lang="en-US" altLang="zh-CN" dirty="0"/>
              <a:t> IIN </a:t>
            </a:r>
            <a:r>
              <a:rPr kumimoji="1" lang="zh-CN" altLang="en-US" dirty="0"/>
              <a:t>任务的模块化方法，它将任务分解为探索、目标实例重识别、目标定位和局部导航四个独立子任务</a:t>
            </a:r>
            <a:endParaRPr kumimoji="1" lang="zh-CN" altLang="en-US" dirty="0"/>
          </a:p>
          <a:p>
            <a:r>
              <a:rPr kumimoji="1" lang="zh-CN" altLang="en-US" dirty="0"/>
              <a:t>将模型应用于本文所使用的</a:t>
            </a:r>
            <a:r>
              <a:rPr kumimoji="1" lang="en-US" altLang="zh-CN" dirty="0"/>
              <a:t> HM3D </a:t>
            </a:r>
            <a:r>
              <a:rPr kumimoji="1" lang="zh-CN" altLang="en-US" dirty="0"/>
              <a:t>数据集进行测试，基于地图的模块化方法在</a:t>
            </a:r>
            <a:r>
              <a:rPr kumimoji="1" lang="en-US" altLang="zh-CN" dirty="0"/>
              <a:t> IIN </a:t>
            </a:r>
            <a:r>
              <a:rPr kumimoji="1" lang="zh-CN" altLang="en-US" dirty="0"/>
              <a:t>任务中具有较大优势</a:t>
            </a:r>
            <a:endParaRPr kumimoji="1" lang="zh-CN" altLang="en-US" dirty="0"/>
          </a:p>
          <a:p>
            <a:endParaRPr kumimoji="1" lang="zh-CN" altLang="en-US" dirty="0"/>
          </a:p>
          <a:p>
            <a:endParaRPr kumimoji="1" lang="zh-CN" altLang="en-US" dirty="0"/>
          </a:p>
          <a:p>
            <a:r>
              <a:rPr kumimoji="1" lang="en-US" altLang="zh-CN" dirty="0"/>
              <a:t>GaussNav[2]</a:t>
            </a:r>
            <a:r>
              <a:rPr kumimoji="1" lang="zh-CN" altLang="en-US" dirty="0"/>
              <a:t>通过引入</a:t>
            </a:r>
            <a:r>
              <a:rPr kumimoji="1" lang="en-US" altLang="zh-CN" dirty="0"/>
              <a:t> 3D </a:t>
            </a:r>
            <a:r>
              <a:rPr kumimoji="1" lang="zh-CN" altLang="en-US" dirty="0"/>
              <a:t>高斯溅射技术构建语义高斯地图，实现了</a:t>
            </a:r>
            <a:r>
              <a:rPr kumimoji="1" lang="en-US" altLang="zh-CN" dirty="0"/>
              <a:t> IIN </a:t>
            </a:r>
            <a:r>
              <a:rPr kumimoji="1" lang="zh-CN" altLang="en-US" dirty="0"/>
              <a:t>任务性能显著提升</a:t>
            </a:r>
            <a:endParaRPr kumimoji="1" lang="zh-CN" altLang="en-US" dirty="0"/>
          </a:p>
          <a:p>
            <a:r>
              <a:rPr kumimoji="1" lang="zh-CN" altLang="en-US" dirty="0"/>
              <a:t>语义高斯地图同时编码了场景的</a:t>
            </a:r>
            <a:r>
              <a:rPr kumimoji="1" lang="en-US" altLang="zh-CN" dirty="0"/>
              <a:t> 3D </a:t>
            </a:r>
            <a:r>
              <a:rPr kumimoji="1" lang="zh-CN" altLang="en-US" dirty="0"/>
              <a:t>几何结构、每个高斯的语义标签以及物体的精细纹理特征</a:t>
            </a:r>
            <a:endParaRPr kumimoji="1" lang="zh-CN" altLang="en-US" dirty="0"/>
          </a:p>
          <a:p>
            <a:endParaRPr kumimoji="1" lang="zh-CN" altLang="en-US" dirty="0"/>
          </a:p>
          <a:p>
            <a:r>
              <a:rPr kumimoji="1" lang="zh-CN" altLang="en-US" dirty="0"/>
              <a:t>这使得智能体能够直接从地图中渲染出物体实例的多视角（</a:t>
            </a:r>
            <a:r>
              <a:rPr kumimoji="1" lang="en-US" altLang="zh-CN" dirty="0"/>
              <a:t>NVS</a:t>
            </a:r>
            <a:r>
              <a:rPr kumimoji="1" lang="zh-CN" altLang="en-US" dirty="0"/>
              <a:t>）描述性图像，与目标图像进行特征匹配从而精确确定目标实例与目标位置，无需像</a:t>
            </a:r>
            <a:r>
              <a:rPr kumimoji="1" lang="en-US" altLang="zh-CN" dirty="0"/>
              <a:t> BEV </a:t>
            </a:r>
            <a:r>
              <a:rPr kumimoji="1" lang="zh-CN" altLang="en-US" dirty="0"/>
              <a:t>地图方法那样对潜在候选对象进行额外的近距离验证，充分证明了语义高斯地图表示在实例级导航任务中的显著优势</a:t>
            </a:r>
            <a:endParaRPr kumimoji="1" lang="zh-CN" altLang="en-US" dirty="0"/>
          </a:p>
          <a:p>
            <a:endParaRPr kumimoji="1" lang="zh-CN" altLang="en-US" dirty="0"/>
          </a:p>
          <a:p>
            <a:r>
              <a:rPr kumimoji="1" lang="zh-CN" altLang="en-US" dirty="0"/>
              <a:t>本文在</a:t>
            </a:r>
            <a:r>
              <a:rPr kumimoji="1" lang="en-US" altLang="zh-CN" dirty="0"/>
              <a:t>GaussNav</a:t>
            </a:r>
            <a:r>
              <a:rPr kumimoji="1" lang="zh-CN" altLang="en-US" dirty="0"/>
              <a:t>的论文基础上提出两个关键创新进一步提升了导航性能</a:t>
            </a:r>
            <a:endParaRPr kumimoji="1" lang="zh-CN" altLang="en-US" dirty="0"/>
          </a:p>
          <a:p>
            <a:r>
              <a:rPr kumimoji="1" lang="en-US" altLang="zh-CN" dirty="0"/>
              <a:t>1.</a:t>
            </a:r>
            <a:r>
              <a:rPr kumimoji="1" lang="zh-CN" altLang="en-US" dirty="0"/>
              <a:t>通过为每个高斯引入可训练的语义向量，并在优化过程中持续监督语义渲染质量，解决了原始</a:t>
            </a:r>
            <a:r>
              <a:rPr kumimoji="1" lang="en-US" altLang="zh-CN" dirty="0"/>
              <a:t> GaussNav </a:t>
            </a:r>
            <a:r>
              <a:rPr kumimoji="1" lang="zh-CN" altLang="en-US" dirty="0"/>
              <a:t>中语义标签与几何纹理参数脱节的问题。这使得语义高斯地图能够更准确地编码场景的细粒度语义信息，提升了实例级目标识别的可靠性。</a:t>
            </a:r>
            <a:endParaRPr kumimoji="1" lang="zh-CN" altLang="en-US" dirty="0"/>
          </a:p>
          <a:p>
            <a:r>
              <a:rPr kumimoji="1" lang="en-US" altLang="zh-CN" dirty="0"/>
              <a:t>2.</a:t>
            </a:r>
            <a:r>
              <a:rPr kumimoji="1" lang="zh-CN" altLang="en-US" dirty="0"/>
              <a:t>通过最小化渲染图像与目标图像之间的像素级光度损失，实现了亚像素级的位姿优化。这种稠密对齐方式能够有效修正基于稀疏特征匹配得到的初始位姿偏差，特别适用于纹理较少或存在遮挡的场景。</a:t>
            </a:r>
            <a:endParaRPr kumimoji="1" lang="zh-CN" altLang="en-US" dirty="0"/>
          </a:p>
          <a:p>
            <a:endParaRPr kumimoji="1" lang="zh-CN" altLang="en-US" dirty="0"/>
          </a:p>
          <a:p>
            <a:r>
              <a:rPr kumimoji="1" lang="zh-CN" altLang="en-US" dirty="0"/>
              <a:t>实验结果表明</a:t>
            </a:r>
            <a:r>
              <a:rPr kumimoji="1" lang="en-US" altLang="zh-CN" dirty="0"/>
              <a:t>GSGuide </a:t>
            </a:r>
            <a:r>
              <a:rPr kumimoji="1" lang="zh-CN" altLang="en-US" dirty="0"/>
              <a:t>的导航成功率从</a:t>
            </a:r>
            <a:r>
              <a:rPr kumimoji="1" lang="en-US" altLang="zh-CN" dirty="0"/>
              <a:t> GaussNav </a:t>
            </a:r>
            <a:r>
              <a:rPr kumimoji="1" lang="zh-CN" altLang="en-US" dirty="0"/>
              <a:t>的</a:t>
            </a:r>
            <a:r>
              <a:rPr kumimoji="1" lang="en-US" altLang="zh-CN" dirty="0"/>
              <a:t> 0.725 </a:t>
            </a:r>
            <a:r>
              <a:rPr kumimoji="1" lang="zh-CN" altLang="en-US" dirty="0"/>
              <a:t>提升至</a:t>
            </a:r>
            <a:r>
              <a:rPr kumimoji="1" lang="en-US" altLang="zh-CN" dirty="0"/>
              <a:t> 0.778</a:t>
            </a:r>
            <a:r>
              <a:rPr kumimoji="1" lang="zh-CN" altLang="en-US" dirty="0"/>
              <a:t>（相对提升</a:t>
            </a:r>
            <a:r>
              <a:rPr kumimoji="1" lang="en-US" altLang="zh-CN" dirty="0"/>
              <a:t> 7.31%</a:t>
            </a:r>
            <a:r>
              <a:rPr kumimoji="1" lang="zh-CN" altLang="en-US" dirty="0"/>
              <a:t>），同时</a:t>
            </a:r>
            <a:r>
              <a:rPr kumimoji="1" lang="en-US" altLang="zh-CN" dirty="0"/>
              <a:t> SPL </a:t>
            </a:r>
            <a:r>
              <a:rPr kumimoji="1" lang="zh-CN" altLang="en-US" dirty="0"/>
              <a:t>从</a:t>
            </a:r>
            <a:r>
              <a:rPr kumimoji="1" lang="en-US" altLang="zh-CN" dirty="0"/>
              <a:t> 0.578 </a:t>
            </a:r>
            <a:r>
              <a:rPr kumimoji="1" lang="zh-CN" altLang="en-US" dirty="0"/>
              <a:t>提升至</a:t>
            </a:r>
            <a:r>
              <a:rPr kumimoji="1" lang="en-US" altLang="zh-CN" dirty="0"/>
              <a:t> 0.585</a:t>
            </a:r>
            <a:r>
              <a:rPr kumimoji="1" lang="zh-CN" altLang="en-US" dirty="0"/>
              <a:t>（相对提升</a:t>
            </a:r>
            <a:r>
              <a:rPr kumimoji="1" lang="en-US" altLang="zh-CN" dirty="0"/>
              <a:t> 1.21%</a:t>
            </a:r>
            <a:r>
              <a:rPr kumimoji="1" lang="zh-CN" altLang="en-US" dirty="0"/>
              <a:t>）。这一结果验证了两个核心改进的有效性：语义渲染监督机制主要提升了目标识别的准确性，而位姿精修</a:t>
            </a:r>
            <a:r>
              <a:rPr kumimoji="1" lang="en-US" altLang="zh-CN" dirty="0"/>
              <a:t> Warping Loss </a:t>
            </a:r>
            <a:r>
              <a:rPr kumimoji="1" lang="zh-CN" altLang="en-US" dirty="0"/>
              <a:t>则优化了目标定位的精度。两者协同作用，使</a:t>
            </a:r>
            <a:r>
              <a:rPr kumimoji="1" lang="en-US" altLang="zh-CN" dirty="0"/>
              <a:t> GSGuide </a:t>
            </a:r>
            <a:r>
              <a:rPr kumimoji="1" lang="zh-CN" altLang="en-US" dirty="0"/>
              <a:t>在</a:t>
            </a:r>
            <a:r>
              <a:rPr kumimoji="1" lang="en-US" altLang="zh-CN" dirty="0"/>
              <a:t>HM3D </a:t>
            </a:r>
            <a:r>
              <a:rPr kumimoji="1" lang="zh-CN" altLang="en-US" dirty="0"/>
              <a:t>数据集上取得了当前最优的导航性能。</a:t>
            </a:r>
            <a:endParaRPr kumimoji="1" lang="zh-CN" altLang="en-US" dirty="0"/>
          </a:p>
          <a:p>
            <a:endParaRPr kumimoji="1" lang="zh-CN" altLang="en-US" dirty="0"/>
          </a:p>
          <a:p>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移除了本文提出的语义渲染监督机制，即完全遵从原始</a:t>
            </a:r>
            <a:r>
              <a:rPr kumimoji="1" lang="en-US" altLang="zh-CN" dirty="0"/>
              <a:t> GaussNav </a:t>
            </a:r>
            <a:r>
              <a:rPr kumimoji="1" lang="zh-CN" altLang="en-US" dirty="0"/>
              <a:t>的语义处理流程：仅在高斯初始化阶段通过</a:t>
            </a:r>
            <a:r>
              <a:rPr kumimoji="1" lang="en-US" altLang="zh-CN" dirty="0"/>
              <a:t> Mask R-CNN </a:t>
            </a:r>
            <a:r>
              <a:rPr kumimoji="1" lang="zh-CN" altLang="en-US" dirty="0"/>
              <a:t>的分割结果为每个高斯分配一次性静态语义标签，在后续的可微渲染优化和高斯致密化过程中禁用语义标签梯度跟踪</a:t>
            </a:r>
            <a:endParaRPr kumimoji="1" lang="zh-CN" altLang="en-US" dirty="0"/>
          </a:p>
          <a:p>
            <a:r>
              <a:rPr kumimoji="1" lang="zh-CN" altLang="en-US" dirty="0"/>
              <a:t>移除语义监督后成功率和</a:t>
            </a:r>
            <a:r>
              <a:rPr kumimoji="1" lang="en-US" altLang="zh-CN" dirty="0"/>
              <a:t>SPL</a:t>
            </a:r>
            <a:r>
              <a:rPr kumimoji="1" lang="zh-CN" altLang="en-US" dirty="0"/>
              <a:t>下降（说一下下贱多少）</a:t>
            </a:r>
            <a:endParaRPr kumimoji="1" lang="zh-CN" altLang="en-US" dirty="0"/>
          </a:p>
          <a:p>
            <a:r>
              <a:rPr kumimoji="1" lang="zh-CN" altLang="en-US" dirty="0"/>
              <a:t>说一下语义指标的变化</a:t>
            </a:r>
            <a:endParaRPr kumimoji="1" lang="zh-CN" altLang="en-US" dirty="0"/>
          </a:p>
          <a:p>
            <a:endParaRPr kumimoji="1" lang="zh-CN" altLang="en-US" dirty="0"/>
          </a:p>
          <a:p>
            <a:r>
              <a:rPr kumimoji="1" lang="zh-CN" altLang="en-US" dirty="0"/>
              <a:t>语义错位问题：静态语义标签并不会跟随高斯的</a:t>
            </a:r>
            <a:r>
              <a:rPr kumimoji="1" lang="en-US" altLang="zh-CN" dirty="0"/>
              <a:t> 3D </a:t>
            </a:r>
            <a:r>
              <a:rPr kumimoji="1" lang="zh-CN" altLang="en-US" dirty="0"/>
              <a:t>几何纹理参数同步更新，在多轮迭代优化后，高斯的位置、大小可能发生变化，但语义标签保持不变，导致语义错位问题，进而引起物体边界模糊、覆盖不完整不连续等问题。</a:t>
            </a:r>
            <a:endParaRPr kumimoji="1" lang="zh-CN" altLang="en-US" dirty="0"/>
          </a:p>
          <a:p>
            <a:r>
              <a:rPr kumimoji="1" lang="en-US" altLang="zh-CN" dirty="0"/>
              <a:t>2. </a:t>
            </a:r>
            <a:r>
              <a:rPr kumimoji="1" lang="zh-CN" altLang="en-US" dirty="0"/>
              <a:t>误差传递效应：语义误差会传递到后续的实例匹配阶段。由于语义标签不准确，在检索相同类别的候选物体时可能会遗漏真正的目标，或者引入无关的干扰物体，导致物体实例匹配得分受到影响，进而引发部分目标匹配混淆。</a:t>
            </a:r>
            <a:endParaRPr kumimoji="1" lang="zh-CN" altLang="en-US" dirty="0"/>
          </a:p>
          <a:p>
            <a:r>
              <a:rPr kumimoji="1" lang="en-US" altLang="zh-CN" dirty="0"/>
              <a:t>3. </a:t>
            </a:r>
            <a:r>
              <a:rPr kumimoji="1" lang="zh-CN" altLang="en-US" dirty="0"/>
              <a:t>对</a:t>
            </a:r>
            <a:r>
              <a:rPr kumimoji="1" lang="en-US" altLang="zh-CN" dirty="0"/>
              <a:t> SPL </a:t>
            </a:r>
            <a:r>
              <a:rPr kumimoji="1" lang="zh-CN" altLang="en-US" dirty="0"/>
              <a:t>的有限影响：</a:t>
            </a:r>
            <a:r>
              <a:rPr kumimoji="1" lang="en-US" altLang="zh-CN" dirty="0"/>
              <a:t>SPL </a:t>
            </a:r>
            <a:r>
              <a:rPr kumimoji="1" lang="zh-CN" altLang="en-US" dirty="0"/>
              <a:t>的小幅度下降说明语义渲染监督主要影响目标识别的准确性，对于已经确定的目标实例，后续的导航路径规划效率受到的影响较小。这是因为路径规划主要依赖场景的几何结构，而非精细的语义信息。</a:t>
            </a:r>
            <a:endParaRPr kumimoji="1" lang="zh-CN" altLang="en-US" dirty="0"/>
          </a:p>
          <a:p>
            <a:endParaRPr kumimoji="1" lang="en-US" altLang="zh-CN" dirty="0"/>
          </a:p>
          <a:p>
            <a:endParaRPr kumimoji="1" lang="en-US" altLang="zh-CN"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可以明显看出，相较于优化前优化后高斯覆盖更加完整、连续，物体表面覆盖断层减少</a:t>
            </a:r>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传统的局部特征匹配方法主要基于稀疏关键点估算目标的位置，对于纹理较少的物体（如光滑的墙壁、白色家具）或存在部分遮挡的物体，可用的关键点数量大幅减少，容易引起较大的定位偏差。</a:t>
            </a:r>
            <a:endParaRPr kumimoji="1" lang="zh-CN" altLang="en-US" dirty="0"/>
          </a:p>
          <a:p>
            <a:endParaRPr kumimoji="1" lang="zh-CN" altLang="en-US" dirty="0"/>
          </a:p>
          <a:p>
            <a:r>
              <a:rPr kumimoji="1" lang="zh-CN" altLang="en-US" dirty="0"/>
              <a:t>本文引入</a:t>
            </a:r>
            <a:r>
              <a:rPr kumimoji="1" lang="en-US" altLang="zh-CN" dirty="0"/>
              <a:t> warping loss </a:t>
            </a:r>
            <a:r>
              <a:rPr kumimoji="1" lang="zh-CN" altLang="en-US" dirty="0"/>
              <a:t>最小化渲染图像与目标图像之间的像素级光度损失，能够使相机位姿尽可能优化到目标图像拍摄位姿。相比于仅使用稀疏特征匹配，这种稠密对齐方式显著提升了定位准确性。</a:t>
            </a:r>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 </a:t>
            </a:r>
            <a:r>
              <a:rPr kumimoji="1" lang="zh-CN" altLang="en-US" dirty="0"/>
              <a:t>语义渲染监督是性能提升的主要来源，贡献了</a:t>
            </a:r>
            <a:r>
              <a:rPr kumimoji="1" lang="en-US" altLang="zh-CN" dirty="0"/>
              <a:t> 7.07% </a:t>
            </a:r>
            <a:r>
              <a:rPr kumimoji="1" lang="zh-CN" altLang="en-US" dirty="0"/>
              <a:t>的成功率提升，同时显著改善了所有语义渲染指标（交叉熵损失下降</a:t>
            </a:r>
            <a:r>
              <a:rPr kumimoji="1" lang="en-US" altLang="zh-CN" dirty="0"/>
              <a:t> 20.0%</a:t>
            </a:r>
            <a:r>
              <a:rPr kumimoji="1" lang="zh-CN" altLang="en-US" dirty="0"/>
              <a:t>，</a:t>
            </a:r>
            <a:r>
              <a:rPr kumimoji="1" lang="en-US" altLang="zh-CN" dirty="0"/>
              <a:t>Dice </a:t>
            </a:r>
            <a:r>
              <a:rPr kumimoji="1" lang="zh-CN" altLang="en-US" dirty="0"/>
              <a:t>损失下降</a:t>
            </a:r>
            <a:r>
              <a:rPr kumimoji="1" lang="en-US" altLang="zh-CN" dirty="0"/>
              <a:t> 2.8%</a:t>
            </a:r>
            <a:r>
              <a:rPr kumimoji="1" lang="zh-CN" altLang="en-US" dirty="0"/>
              <a:t>，</a:t>
            </a:r>
            <a:endParaRPr kumimoji="1" lang="zh-CN" altLang="en-US" dirty="0"/>
          </a:p>
          <a:p>
            <a:endParaRPr kumimoji="1" lang="zh-CN" altLang="en-US" dirty="0"/>
          </a:p>
          <a:p>
            <a:r>
              <a:rPr kumimoji="1" lang="zh-CN" altLang="en-US" dirty="0"/>
              <a:t>位姿精修</a:t>
            </a:r>
            <a:r>
              <a:rPr kumimoji="1" lang="en-US" altLang="zh-CN" dirty="0"/>
              <a:t> Warping Loss </a:t>
            </a:r>
            <a:r>
              <a:rPr kumimoji="1" lang="zh-CN" altLang="en-US" dirty="0"/>
              <a:t>贡献了</a:t>
            </a:r>
            <a:r>
              <a:rPr kumimoji="1" lang="en-US" altLang="zh-CN" dirty="0"/>
              <a:t> 3.86% </a:t>
            </a:r>
            <a:r>
              <a:rPr kumimoji="1" lang="zh-CN" altLang="en-US" dirty="0"/>
              <a:t>的成功率提升，进一步优化了目标定位的精度，但对语义渲染质量几乎没有影响；</a:t>
            </a:r>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尽管本文提出的</a:t>
            </a:r>
            <a:r>
              <a:rPr kumimoji="1" lang="en-US" altLang="zh-CN" dirty="0"/>
              <a:t> GsGuide </a:t>
            </a:r>
            <a:r>
              <a:rPr kumimoji="1" lang="zh-CN" altLang="en-US" dirty="0"/>
              <a:t>框架展现出良好的综合重建性能，其平均峰值信噪比（</a:t>
            </a:r>
            <a:r>
              <a:rPr kumimoji="1" lang="en-US" altLang="zh-CN" dirty="0"/>
              <a:t>PSNR</a:t>
            </a:r>
            <a:r>
              <a:rPr kumimoji="1" lang="zh-CN" altLang="en-US" dirty="0"/>
              <a:t>）达到</a:t>
            </a:r>
            <a:r>
              <a:rPr kumimoji="1" lang="en-US" altLang="zh-CN" dirty="0"/>
              <a:t> 29.71 dB</a:t>
            </a:r>
            <a:r>
              <a:rPr kumimoji="1" lang="zh-CN" altLang="en-US" dirty="0"/>
              <a:t>，深度估计的均方根误差（</a:t>
            </a:r>
            <a:r>
              <a:rPr kumimoji="1" lang="en-US" altLang="zh-CN" dirty="0"/>
              <a:t>RMSE</a:t>
            </a:r>
            <a:r>
              <a:rPr kumimoji="1" lang="zh-CN" altLang="en-US" dirty="0"/>
              <a:t>）与平</a:t>
            </a:r>
            <a:r>
              <a:rPr kumimoji="1" lang="en-US" altLang="zh-CN" dirty="0"/>
              <a:t>L1</a:t>
            </a:r>
            <a:r>
              <a:rPr kumimoji="1" lang="zh-CN" altLang="en-US" dirty="0"/>
              <a:t>）均为</a:t>
            </a:r>
            <a:r>
              <a:rPr kumimoji="1" lang="en-US" altLang="zh-CN" dirty="0"/>
              <a:t> 4.75 cm</a:t>
            </a:r>
            <a:r>
              <a:rPr kumimoji="1" lang="zh-CN" altLang="en-US" dirty="0"/>
              <a:t>，</a:t>
            </a:r>
            <a:r>
              <a:rPr kumimoji="1" lang="zh-CN" altLang="en-US" b="1" dirty="0"/>
              <a:t>表明深度估计精度较高且误差分布均匀无显著离群值</a:t>
            </a:r>
            <a:r>
              <a:rPr kumimoji="1" lang="zh-CN" altLang="en-US" dirty="0"/>
              <a:t>；同时，平均多尺度结构相似性指数（</a:t>
            </a:r>
            <a:r>
              <a:rPr kumimoji="1" lang="en-US" altLang="zh-CN" dirty="0"/>
              <a:t>MS-SSIM</a:t>
            </a:r>
            <a:r>
              <a:rPr kumimoji="1" lang="zh-CN" altLang="en-US" dirty="0"/>
              <a:t>）高达</a:t>
            </a:r>
            <a:r>
              <a:rPr kumimoji="1" lang="en-US" altLang="zh-CN" dirty="0"/>
              <a:t> 0.966</a:t>
            </a:r>
            <a:r>
              <a:rPr kumimoji="1" lang="zh-CN" altLang="en-US" dirty="0"/>
              <a:t>，平均感知图像块相似度（</a:t>
            </a:r>
            <a:r>
              <a:rPr kumimoji="1" lang="en-US" altLang="zh-CN" dirty="0"/>
              <a:t>LPIPS</a:t>
            </a:r>
            <a:r>
              <a:rPr kumimoji="1" lang="zh-CN" altLang="en-US" dirty="0"/>
              <a:t>）低至</a:t>
            </a:r>
            <a:r>
              <a:rPr kumimoji="1" lang="en-US" altLang="zh-CN" dirty="0"/>
              <a:t> 0.176</a:t>
            </a:r>
            <a:r>
              <a:rPr kumimoji="1" lang="zh-CN" altLang="en-US" dirty="0"/>
              <a:t>，</a:t>
            </a:r>
            <a:r>
              <a:rPr kumimoji="1" lang="zh-CN" altLang="en-US" b="1" dirty="0"/>
              <a:t>说明重建结果在结构纹理一致性和人眼视觉感知质量方面均和</a:t>
            </a:r>
            <a:r>
              <a:rPr kumimoji="1" lang="en-US" altLang="zh-CN" b="1" dirty="0"/>
              <a:t> HM3D </a:t>
            </a:r>
            <a:r>
              <a:rPr kumimoji="1" lang="zh-CN" altLang="en-US" b="1" dirty="0"/>
              <a:t>场景高度一致</a:t>
            </a:r>
            <a:r>
              <a:rPr kumimoji="1" lang="zh-CN" altLang="en-US" dirty="0"/>
              <a:t>，</a:t>
            </a:r>
            <a:endParaRPr kumimoji="1" lang="zh-CN" altLang="en-US" dirty="0"/>
          </a:p>
          <a:p>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基于已完成的</a:t>
            </a:r>
            <a:r>
              <a:rPr kumimoji="1" lang="en-US" altLang="zh-CN" dirty="0"/>
              <a:t> GaussNav </a:t>
            </a:r>
            <a:r>
              <a:rPr kumimoji="1" lang="zh-CN" altLang="en-US" dirty="0"/>
              <a:t>代码复现、</a:t>
            </a:r>
            <a:r>
              <a:rPr kumimoji="1" lang="en-US" altLang="zh-CN" dirty="0"/>
              <a:t>3DGS </a:t>
            </a:r>
            <a:r>
              <a:rPr kumimoji="1" lang="zh-CN" altLang="en-US" dirty="0"/>
              <a:t>在线渲染框架搭建、</a:t>
            </a:r>
            <a:r>
              <a:rPr kumimoji="1" lang="en-US" altLang="zh-CN" dirty="0"/>
              <a:t>YOLOv6 </a:t>
            </a:r>
            <a:r>
              <a:rPr kumimoji="1" lang="zh-CN" altLang="en-US" dirty="0"/>
              <a:t>语义分割集成、语义标签监督训练基础实现等前置工作，分阶段完成框架全流程的落地、优化与验证，最终实现一套组件极简、以</a:t>
            </a:r>
            <a:r>
              <a:rPr kumimoji="1" lang="en-US" altLang="zh-CN" dirty="0"/>
              <a:t> 3DGS </a:t>
            </a:r>
            <a:r>
              <a:rPr kumimoji="1" lang="zh-CN" altLang="en-US" dirty="0"/>
              <a:t>为核心引导的实例图像高斯导航系统。</a:t>
            </a:r>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94A7046-F370-CA44-A09C-93B5FDE04322}" type="slidenum">
              <a:rPr kumimoji="1" lang="zh-CN" altLang="en-US" smtClean="0"/>
            </a:fld>
            <a:endParaRPr kumimoji="1"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2.jpe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image" Target="../media/image2.jpeg"/><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image" Target="../media/image7.png"/><Relationship Id="rId34" Type="http://schemas.openxmlformats.org/officeDocument/2006/relationships/notesSlide" Target="../notesSlides/notesSlide2.xml"/><Relationship Id="rId33" Type="http://schemas.openxmlformats.org/officeDocument/2006/relationships/slideLayout" Target="../slideLayouts/slideLayout1.xml"/><Relationship Id="rId32" Type="http://schemas.openxmlformats.org/officeDocument/2006/relationships/tags" Target="../tags/tag28.xml"/><Relationship Id="rId31" Type="http://schemas.openxmlformats.org/officeDocument/2006/relationships/tags" Target="../tags/tag27.xml"/><Relationship Id="rId30" Type="http://schemas.openxmlformats.org/officeDocument/2006/relationships/tags" Target="../tags/tag26.xml"/><Relationship Id="rId3" Type="http://schemas.openxmlformats.org/officeDocument/2006/relationships/image" Target="../media/image6.png"/><Relationship Id="rId29" Type="http://schemas.openxmlformats.org/officeDocument/2006/relationships/tags" Target="../tags/tag25.xml"/><Relationship Id="rId28" Type="http://schemas.openxmlformats.org/officeDocument/2006/relationships/tags" Target="../tags/tag24.xml"/><Relationship Id="rId27" Type="http://schemas.openxmlformats.org/officeDocument/2006/relationships/tags" Target="../tags/tag23.xml"/><Relationship Id="rId26" Type="http://schemas.openxmlformats.org/officeDocument/2006/relationships/tags" Target="../tags/tag22.xml"/><Relationship Id="rId25" Type="http://schemas.openxmlformats.org/officeDocument/2006/relationships/tags" Target="../tags/tag21.xml"/><Relationship Id="rId24" Type="http://schemas.openxmlformats.org/officeDocument/2006/relationships/tags" Target="../tags/tag20.xml"/><Relationship Id="rId23" Type="http://schemas.openxmlformats.org/officeDocument/2006/relationships/tags" Target="../tags/tag19.xml"/><Relationship Id="rId22" Type="http://schemas.openxmlformats.org/officeDocument/2006/relationships/tags" Target="../tags/tag18.xml"/><Relationship Id="rId21" Type="http://schemas.openxmlformats.org/officeDocument/2006/relationships/tags" Target="../tags/tag17.xml"/><Relationship Id="rId20" Type="http://schemas.openxmlformats.org/officeDocument/2006/relationships/tags" Target="../tags/tag16.xml"/><Relationship Id="rId2" Type="http://schemas.openxmlformats.org/officeDocument/2006/relationships/image" Target="../media/image5.png"/><Relationship Id="rId19" Type="http://schemas.openxmlformats.org/officeDocument/2006/relationships/tags" Target="../tags/tag15.xml"/><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xml"/><Relationship Id="rId4" Type="http://schemas.openxmlformats.org/officeDocument/2006/relationships/image" Target="../media/image21.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xml"/><Relationship Id="rId4" Type="http://schemas.openxmlformats.org/officeDocument/2006/relationships/image" Target="../media/image24.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image" Target="../media/image24.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xml"/><Relationship Id="rId4" Type="http://schemas.openxmlformats.org/officeDocument/2006/relationships/image" Target="../media/image27.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1.xml"/><Relationship Id="rId4" Type="http://schemas.openxmlformats.org/officeDocument/2006/relationships/image" Target="../media/image2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image" Target="../media/image7.png"/><Relationship Id="rId3" Type="http://schemas.openxmlformats.org/officeDocument/2006/relationships/image" Target="../media/image6.png"/><Relationship Id="rId20" Type="http://schemas.openxmlformats.org/officeDocument/2006/relationships/notesSlide" Target="../notesSlides/notesSlide29.xml"/><Relationship Id="rId2" Type="http://schemas.openxmlformats.org/officeDocument/2006/relationships/image" Target="../media/image5.png"/><Relationship Id="rId19" Type="http://schemas.openxmlformats.org/officeDocument/2006/relationships/slideLayout" Target="../slideLayouts/slideLayout2.xml"/><Relationship Id="rId18" Type="http://schemas.openxmlformats.org/officeDocument/2006/relationships/tags" Target="../tags/tag42.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image" Target="../media/image1.jpeg"/></Relationships>
</file>

<file path=ppt/slides/_rels/slide30.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image" Target="../media/image7.png"/><Relationship Id="rId3" Type="http://schemas.openxmlformats.org/officeDocument/2006/relationships/image" Target="../media/image6.png"/><Relationship Id="rId20" Type="http://schemas.openxmlformats.org/officeDocument/2006/relationships/notesSlide" Target="../notesSlides/notesSlide30.xml"/><Relationship Id="rId2" Type="http://schemas.openxmlformats.org/officeDocument/2006/relationships/image" Target="../media/image5.png"/><Relationship Id="rId19" Type="http://schemas.openxmlformats.org/officeDocument/2006/relationships/slideLayout" Target="../slideLayouts/slideLayout1.xml"/><Relationship Id="rId18" Type="http://schemas.openxmlformats.org/officeDocument/2006/relationships/tags" Target="../tags/tag56.xml"/><Relationship Id="rId17" Type="http://schemas.openxmlformats.org/officeDocument/2006/relationships/tags" Target="../tags/tag55.xml"/><Relationship Id="rId16" Type="http://schemas.openxmlformats.org/officeDocument/2006/relationships/tags" Target="../tags/tag54.xml"/><Relationship Id="rId15" Type="http://schemas.openxmlformats.org/officeDocument/2006/relationships/tags" Target="../tags/tag53.xml"/><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image" Target="../media/image1.jpe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1.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7.png"/><Relationship Id="rId1"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2638119" y="2503544"/>
            <a:ext cx="6915785" cy="1322070"/>
          </a:xfrm>
          <a:prstGeom prst="rect">
            <a:avLst/>
          </a:prstGeom>
          <a:noFill/>
        </p:spPr>
        <p:txBody>
          <a:bodyPr wrap="none" rtlCol="0">
            <a:spAutoFit/>
          </a:bodyPr>
          <a:lstStyle/>
          <a:p>
            <a:pPr algn="ctr"/>
            <a:r>
              <a:rPr kumimoji="1" lang="zh-CN" altLang="en-US" sz="4000" b="1" spc="300" dirty="0">
                <a:ln w="9525">
                  <a:noFill/>
                </a:ln>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微软雅黑" panose="020B0503020204020204" pitchFamily="34" charset="-122"/>
                <a:cs typeface="Arial" panose="020B0604020202020204" pitchFamily="34" charset="0"/>
              </a:rPr>
              <a:t>基于</a:t>
            </a:r>
            <a:r>
              <a:rPr kumimoji="1" lang="en-US" altLang="zh-CN" sz="4000" b="1" spc="300" dirty="0">
                <a:ln w="9525">
                  <a:noFill/>
                </a:ln>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微软雅黑" panose="020B0503020204020204" pitchFamily="34" charset="-122"/>
                <a:cs typeface="Arial" panose="020B0604020202020204" pitchFamily="34" charset="0"/>
              </a:rPr>
              <a:t>3D</a:t>
            </a:r>
            <a:r>
              <a:rPr kumimoji="1" lang="zh-CN" altLang="en-US" sz="4000" b="1" spc="300" dirty="0">
                <a:ln w="9525">
                  <a:noFill/>
                </a:ln>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微软雅黑" panose="020B0503020204020204" pitchFamily="34" charset="-122"/>
                <a:cs typeface="Arial" panose="020B0604020202020204" pitchFamily="34" charset="0"/>
              </a:rPr>
              <a:t>高斯泼溅的视觉导航</a:t>
            </a:r>
            <a:endParaRPr kumimoji="1" lang="en-US" altLang="zh-CN" sz="4000" b="1" spc="300" dirty="0">
              <a:ln w="9525">
                <a:noFill/>
              </a:ln>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微软雅黑" panose="020B0503020204020204" pitchFamily="34" charset="-122"/>
              <a:cs typeface="Arial" panose="020B0604020202020204" pitchFamily="34" charset="0"/>
            </a:endParaRPr>
          </a:p>
          <a:p>
            <a:pPr algn="ctr"/>
            <a:r>
              <a:rPr kumimoji="1" lang="zh-CN" altLang="en-US" sz="4000" b="1" spc="300" dirty="0">
                <a:ln w="9525">
                  <a:noFill/>
                </a:ln>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微软雅黑" panose="020B0503020204020204" pitchFamily="34" charset="-122"/>
                <a:cs typeface="Arial" panose="020B0604020202020204" pitchFamily="34" charset="0"/>
              </a:rPr>
              <a:t>算法的实现与优化 </a:t>
            </a:r>
            <a:endParaRPr kumimoji="1" lang="zh-CN" altLang="en-US" sz="4000" b="1" spc="300" dirty="0">
              <a:ln w="9525">
                <a:noFill/>
              </a:ln>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微软雅黑" panose="020B0503020204020204" pitchFamily="34" charset="-122"/>
              <a:cs typeface="Arial" panose="020B0604020202020204" pitchFamily="34" charset="0"/>
            </a:endParaRPr>
          </a:p>
        </p:txBody>
      </p:sp>
      <p:grpSp>
        <p:nvGrpSpPr>
          <p:cNvPr id="11" name="组合 10"/>
          <p:cNvGrpSpPr/>
          <p:nvPr/>
        </p:nvGrpSpPr>
        <p:grpSpPr>
          <a:xfrm>
            <a:off x="0" y="79577"/>
            <a:ext cx="12192000" cy="3911656"/>
            <a:chOff x="0" y="79577"/>
            <a:chExt cx="12192000" cy="3911656"/>
          </a:xfrm>
        </p:grpSpPr>
        <p:pic>
          <p:nvPicPr>
            <p:cNvPr id="8" name="图片 7"/>
            <p:cNvPicPr>
              <a:picLocks noChangeAspect="1"/>
            </p:cNvPicPr>
            <p:nvPr/>
          </p:nvPicPr>
          <p:blipFill>
            <a:blip r:embed="rId2"/>
            <a:stretch>
              <a:fillRect/>
            </a:stretch>
          </p:blipFill>
          <p:spPr>
            <a:xfrm>
              <a:off x="5457713" y="1011739"/>
              <a:ext cx="1276573" cy="1125400"/>
            </a:xfrm>
            <a:prstGeom prst="rect">
              <a:avLst/>
            </a:prstGeom>
          </p:spPr>
        </p:pic>
        <p:pic>
          <p:nvPicPr>
            <p:cNvPr id="12" name="图片 11" descr="图片包含 游戏机, 物体, 钟表, 标志&#10;&#10;描述已自动生成"/>
            <p:cNvPicPr>
              <a:picLocks noChangeAspect="1"/>
            </p:cNvPicPr>
            <p:nvPr/>
          </p:nvPicPr>
          <p:blipFill>
            <a:blip r:embed="rId3"/>
            <a:stretch>
              <a:fillRect/>
            </a:stretch>
          </p:blipFill>
          <p:spPr>
            <a:xfrm>
              <a:off x="4572686" y="79577"/>
              <a:ext cx="3046628" cy="615185"/>
            </a:xfrm>
            <a:prstGeom prst="rect">
              <a:avLst/>
            </a:prstGeom>
          </p:spPr>
        </p:pic>
        <p:cxnSp>
          <p:nvCxnSpPr>
            <p:cNvPr id="14" name="直线连接符 13"/>
            <p:cNvCxnSpPr/>
            <p:nvPr/>
          </p:nvCxnSpPr>
          <p:spPr>
            <a:xfrm>
              <a:off x="0" y="3991233"/>
              <a:ext cx="12192000" cy="0"/>
            </a:xfrm>
            <a:prstGeom prst="line">
              <a:avLst/>
            </a:prstGeom>
            <a:ln w="57150">
              <a:gradFill>
                <a:gsLst>
                  <a:gs pos="0">
                    <a:schemeClr val="accent1">
                      <a:lumMod val="0"/>
                      <a:lumOff val="100000"/>
                      <a:alpha val="0"/>
                    </a:schemeClr>
                  </a:gs>
                  <a:gs pos="100000">
                    <a:schemeClr val="accent1">
                      <a:lumMod val="0"/>
                      <a:lumOff val="100000"/>
                      <a:alpha val="0"/>
                    </a:schemeClr>
                  </a:gs>
                  <a:gs pos="51000">
                    <a:srgbClr val="C00000">
                      <a:alpha val="88000"/>
                    </a:srgbClr>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4742133" y="4772657"/>
            <a:ext cx="2714147" cy="1210694"/>
            <a:chOff x="4742133" y="4772657"/>
            <a:chExt cx="2714147" cy="1210694"/>
          </a:xfrm>
        </p:grpSpPr>
        <p:sp>
          <p:nvSpPr>
            <p:cNvPr id="22" name="文本框 21"/>
            <p:cNvSpPr txBox="1"/>
            <p:nvPr/>
          </p:nvSpPr>
          <p:spPr>
            <a:xfrm>
              <a:off x="5330442" y="5707761"/>
              <a:ext cx="1612265" cy="275590"/>
            </a:xfrm>
            <a:prstGeom prst="rect">
              <a:avLst/>
            </a:prstGeom>
            <a:noFill/>
          </p:spPr>
          <p:txBody>
            <a:bodyPr wrap="none" rtlCol="0">
              <a:spAutoFit/>
            </a:bodyPr>
            <a:lstStyle/>
            <a:p>
              <a:pPr algn="ctr"/>
              <a:r>
                <a:rPr kumimoji="1" lang="en-US" altLang="zh-CN" sz="1200" spc="300" dirty="0">
                  <a:latin typeface="Arial" panose="020B0604020202020204" pitchFamily="34" charset="0"/>
                  <a:ea typeface="微软雅黑" panose="020B0503020204020204" pitchFamily="34" charset="-122"/>
                  <a:cs typeface="Arial" panose="020B0604020202020204" pitchFamily="34" charset="0"/>
                </a:rPr>
                <a:t>2026</a:t>
              </a:r>
              <a:r>
                <a:rPr kumimoji="1" lang="zh-CN" altLang="en-US" sz="1200" spc="300" dirty="0">
                  <a:latin typeface="Arial" panose="020B0604020202020204" pitchFamily="34" charset="0"/>
                  <a:ea typeface="微软雅黑" panose="020B0503020204020204" pitchFamily="34" charset="-122"/>
                  <a:cs typeface="Arial" panose="020B0604020202020204" pitchFamily="34" charset="0"/>
                </a:rPr>
                <a:t>年</a:t>
              </a:r>
              <a:r>
                <a:rPr kumimoji="1" lang="en-US" altLang="zh-CN" sz="1200" spc="300" dirty="0">
                  <a:latin typeface="Arial" panose="020B0604020202020204" pitchFamily="34" charset="0"/>
                  <a:ea typeface="微软雅黑" panose="020B0503020204020204" pitchFamily="34" charset="-122"/>
                  <a:cs typeface="Arial" panose="020B0604020202020204" pitchFamily="34" charset="0"/>
                </a:rPr>
                <a:t>5</a:t>
              </a:r>
              <a:r>
                <a:rPr kumimoji="1" lang="zh-CN" altLang="en-US" sz="1200" spc="300" dirty="0">
                  <a:latin typeface="Arial" panose="020B0604020202020204" pitchFamily="34" charset="0"/>
                  <a:ea typeface="微软雅黑" panose="020B0503020204020204" pitchFamily="34" charset="-122"/>
                  <a:cs typeface="Arial" panose="020B0604020202020204" pitchFamily="34" charset="0"/>
                </a:rPr>
                <a:t>月</a:t>
              </a:r>
              <a:r>
                <a:rPr kumimoji="1" lang="en-US" altLang="zh-CN" sz="1200" spc="300" dirty="0">
                  <a:latin typeface="Arial" panose="020B0604020202020204" pitchFamily="34" charset="0"/>
                  <a:ea typeface="微软雅黑" panose="020B0503020204020204" pitchFamily="34" charset="-122"/>
                  <a:cs typeface="Arial" panose="020B0604020202020204" pitchFamily="34" charset="0"/>
                </a:rPr>
                <a:t>26</a:t>
              </a:r>
              <a:r>
                <a:rPr kumimoji="1" lang="zh-CN" altLang="en-US" sz="1200" spc="300" dirty="0">
                  <a:latin typeface="Arial" panose="020B0604020202020204" pitchFamily="34" charset="0"/>
                  <a:ea typeface="微软雅黑" panose="020B0503020204020204" pitchFamily="34" charset="-122"/>
                  <a:cs typeface="Arial" panose="020B0604020202020204" pitchFamily="34" charset="0"/>
                </a:rPr>
                <a:t>日</a:t>
              </a:r>
              <a:endParaRPr kumimoji="1" lang="zh-CN" altLang="en-US" sz="12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5" name="文本框 4"/>
            <p:cNvSpPr txBox="1"/>
            <p:nvPr/>
          </p:nvSpPr>
          <p:spPr>
            <a:xfrm>
              <a:off x="4799842" y="4772657"/>
              <a:ext cx="1146468" cy="338554"/>
            </a:xfrm>
            <a:prstGeom prst="rect">
              <a:avLst/>
            </a:prstGeom>
            <a:noFill/>
          </p:spPr>
          <p:txBody>
            <a:bodyPr wrap="none" rtlCol="0">
              <a:spAutoFit/>
            </a:bodyPr>
            <a:lstStyle/>
            <a:p>
              <a:pPr algn="ctr"/>
              <a:r>
                <a:rPr kumimoji="1" lang="zh-CN" altLang="en-US" sz="1600" spc="900" dirty="0">
                  <a:latin typeface="Arial" panose="020B0604020202020204" pitchFamily="34" charset="0"/>
                  <a:ea typeface="微软雅黑" panose="020B0503020204020204" pitchFamily="34" charset="-122"/>
                  <a:cs typeface="Arial" panose="020B0604020202020204" pitchFamily="34" charset="0"/>
                </a:rPr>
                <a:t>汇报人</a:t>
              </a:r>
              <a:endParaRPr kumimoji="1" lang="zh-CN" altLang="en-US" sz="1600" spc="900" dirty="0">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p:cNvSpPr txBox="1"/>
            <p:nvPr/>
          </p:nvSpPr>
          <p:spPr>
            <a:xfrm>
              <a:off x="6296987" y="4772657"/>
              <a:ext cx="1159293" cy="338554"/>
            </a:xfrm>
            <a:prstGeom prst="rect">
              <a:avLst/>
            </a:prstGeom>
            <a:noFill/>
          </p:spPr>
          <p:txBody>
            <a:bodyPr wrap="none" rtlCol="0">
              <a:spAutoFit/>
            </a:bodyPr>
            <a:lstStyle/>
            <a:p>
              <a:pPr algn="ctr"/>
              <a:r>
                <a:rPr kumimoji="1" lang="zh-CN" altLang="en-US" sz="1600" spc="250" dirty="0">
                  <a:latin typeface="Arial" panose="020B0604020202020204" pitchFamily="34" charset="0"/>
                  <a:ea typeface="微软雅黑" panose="020B0503020204020204" pitchFamily="34" charset="-122"/>
                  <a:cs typeface="Arial" panose="020B0604020202020204" pitchFamily="34" charset="0"/>
                </a:rPr>
                <a:t>指导老师</a:t>
              </a:r>
              <a:endParaRPr kumimoji="1" lang="zh-CN" altLang="en-US" sz="1600" spc="250" dirty="0">
                <a:latin typeface="Arial" panose="020B0604020202020204" pitchFamily="34" charset="0"/>
                <a:ea typeface="微软雅黑" panose="020B0503020204020204" pitchFamily="34" charset="-122"/>
                <a:cs typeface="Arial" panose="020B0604020202020204" pitchFamily="34" charset="0"/>
              </a:endParaRPr>
            </a:p>
          </p:txBody>
        </p:sp>
        <p:sp>
          <p:nvSpPr>
            <p:cNvPr id="19" name="文本框 18"/>
            <p:cNvSpPr txBox="1"/>
            <p:nvPr/>
          </p:nvSpPr>
          <p:spPr>
            <a:xfrm>
              <a:off x="4742133" y="5111211"/>
              <a:ext cx="1146468" cy="430887"/>
            </a:xfrm>
            <a:prstGeom prst="rect">
              <a:avLst/>
            </a:prstGeom>
            <a:noFill/>
          </p:spPr>
          <p:txBody>
            <a:bodyPr wrap="none" rtlCol="0">
              <a:spAutoFit/>
            </a:bodyPr>
            <a:lstStyle/>
            <a:p>
              <a:pPr algn="ctr"/>
              <a:r>
                <a:rPr kumimoji="1" lang="zh-CN" altLang="en-US" sz="2200" b="1" spc="300" dirty="0">
                  <a:latin typeface="Arial" panose="020B0604020202020204" pitchFamily="34" charset="0"/>
                  <a:ea typeface="微软雅黑" panose="020B0503020204020204" pitchFamily="34" charset="-122"/>
                  <a:cs typeface="Arial" panose="020B0604020202020204" pitchFamily="34" charset="0"/>
                </a:rPr>
                <a:t>李钰杰</a:t>
              </a:r>
              <a:endParaRPr kumimoji="1" lang="zh-CN" altLang="en-US" sz="2200" b="1" spc="300" dirty="0">
                <a:latin typeface="Arial" panose="020B0604020202020204" pitchFamily="34" charset="0"/>
                <a:ea typeface="微软雅黑" panose="020B0503020204020204" pitchFamily="34" charset="-122"/>
                <a:cs typeface="Arial" panose="020B0604020202020204" pitchFamily="34" charset="0"/>
              </a:endParaRPr>
            </a:p>
          </p:txBody>
        </p:sp>
        <p:sp>
          <p:nvSpPr>
            <p:cNvPr id="20" name="文本框 19"/>
            <p:cNvSpPr txBox="1"/>
            <p:nvPr/>
          </p:nvSpPr>
          <p:spPr>
            <a:xfrm>
              <a:off x="6303399" y="5111211"/>
              <a:ext cx="1146468" cy="430887"/>
            </a:xfrm>
            <a:prstGeom prst="rect">
              <a:avLst/>
            </a:prstGeom>
            <a:noFill/>
          </p:spPr>
          <p:txBody>
            <a:bodyPr wrap="none" rtlCol="0">
              <a:spAutoFit/>
            </a:bodyPr>
            <a:lstStyle/>
            <a:p>
              <a:pPr algn="ctr"/>
              <a:r>
                <a:rPr kumimoji="1" lang="zh-CN" altLang="en-US" sz="2200" b="1" spc="300" dirty="0">
                  <a:latin typeface="Arial" panose="020B0604020202020204" pitchFamily="34" charset="0"/>
                  <a:ea typeface="微软雅黑" panose="020B0503020204020204" pitchFamily="34" charset="-122"/>
                  <a:cs typeface="Arial" panose="020B0604020202020204" pitchFamily="34" charset="0"/>
                </a:rPr>
                <a:t>毋芳芳</a:t>
              </a:r>
              <a:endParaRPr kumimoji="1" lang="zh-CN" altLang="en-US" sz="2200" b="1" spc="300" dirty="0">
                <a:latin typeface="Arial" panose="020B0604020202020204" pitchFamily="34" charset="0"/>
                <a:ea typeface="微软雅黑" panose="020B0503020204020204" pitchFamily="34" charset="-122"/>
                <a:cs typeface="Arial" panose="020B0604020202020204" pitchFamily="34" charset="0"/>
              </a:endParaRPr>
            </a:p>
          </p:txBody>
        </p:sp>
        <p:cxnSp>
          <p:nvCxnSpPr>
            <p:cNvPr id="3" name="直线连接符 2"/>
            <p:cNvCxnSpPr/>
            <p:nvPr/>
          </p:nvCxnSpPr>
          <p:spPr>
            <a:xfrm flipH="1">
              <a:off x="6061727" y="5008857"/>
              <a:ext cx="149690" cy="204708"/>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grpSp>
        <p:nvGrpSpPr>
          <p:cNvPr id="9" name="组合 8"/>
          <p:cNvGrpSpPr/>
          <p:nvPr/>
        </p:nvGrpSpPr>
        <p:grpSpPr>
          <a:xfrm>
            <a:off x="0" y="-2"/>
            <a:ext cx="12192000" cy="6858003"/>
            <a:chOff x="0" y="-2"/>
            <a:chExt cx="12192000" cy="6858003"/>
          </a:xfrm>
        </p:grpSpPr>
        <p:sp>
          <p:nvSpPr>
            <p:cNvPr id="2" name="矩形 1"/>
            <p:cNvSpPr/>
            <p:nvPr/>
          </p:nvSpPr>
          <p:spPr>
            <a:xfrm>
              <a:off x="0" y="-2"/>
              <a:ext cx="12192000" cy="1062679"/>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 name="矩形 2"/>
            <p:cNvSpPr/>
            <p:nvPr/>
          </p:nvSpPr>
          <p:spPr>
            <a:xfrm>
              <a:off x="0" y="106267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 name="矩形 3"/>
            <p:cNvSpPr/>
            <p:nvPr/>
          </p:nvSpPr>
          <p:spPr>
            <a:xfrm>
              <a:off x="0" y="6453336"/>
              <a:ext cx="12192000" cy="404665"/>
            </a:xfrm>
            <a:prstGeom prst="rect">
              <a:avLst/>
            </a:prstGeom>
            <a:gradFill>
              <a:gsLst>
                <a:gs pos="0">
                  <a:srgbClr val="C00000"/>
                </a:gs>
                <a:gs pos="100000">
                  <a:srgbClr val="C00000">
                    <a:alpha val="80000"/>
                    <a:lumMod val="94000"/>
                    <a:lumOff val="6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13" name="组合 12"/>
          <p:cNvGrpSpPr/>
          <p:nvPr/>
        </p:nvGrpSpPr>
        <p:grpSpPr>
          <a:xfrm>
            <a:off x="623392" y="260058"/>
            <a:ext cx="2162740" cy="693697"/>
            <a:chOff x="623392" y="260058"/>
            <a:chExt cx="2162740" cy="693697"/>
          </a:xfrm>
        </p:grpSpPr>
        <p:sp>
          <p:nvSpPr>
            <p:cNvPr id="11" name="文本框 10"/>
            <p:cNvSpPr txBox="1"/>
            <p:nvPr/>
          </p:nvSpPr>
          <p:spPr>
            <a:xfrm>
              <a:off x="857591" y="553645"/>
              <a:ext cx="1928541" cy="400110"/>
            </a:xfrm>
            <a:prstGeom prst="rect">
              <a:avLst/>
            </a:prstGeom>
            <a:noFill/>
            <a:ln>
              <a:noFill/>
            </a:ln>
          </p:spPr>
          <p:txBody>
            <a:bodyPr wrap="none" rtlCol="0">
              <a:spAutoFit/>
            </a:bodyPr>
            <a:lstStyle/>
            <a:p>
              <a:r>
                <a:rPr kumimoji="1" lang="en-US" altLang="zh-CN" sz="2000" b="1" spc="300" dirty="0">
                  <a:solidFill>
                    <a:schemeClr val="bg1">
                      <a:alpha val="38000"/>
                    </a:schemeClr>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CONTENTS</a:t>
              </a:r>
              <a:endParaRPr kumimoji="1" lang="zh-CN" altLang="en-US" sz="2000" b="1" spc="300" dirty="0">
                <a:solidFill>
                  <a:schemeClr val="bg1">
                    <a:alpha val="38000"/>
                  </a:schemeClr>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8" name="文本框 7"/>
            <p:cNvSpPr txBox="1"/>
            <p:nvPr/>
          </p:nvSpPr>
          <p:spPr>
            <a:xfrm>
              <a:off x="623392" y="260058"/>
              <a:ext cx="1159292" cy="584775"/>
            </a:xfrm>
            <a:prstGeom prst="rect">
              <a:avLst/>
            </a:prstGeom>
            <a:noFill/>
          </p:spPr>
          <p:txBody>
            <a:bodyPr wrap="none" rtlCol="0">
              <a:spAutoFit/>
            </a:bodyPr>
            <a:lstStyle/>
            <a:p>
              <a:pPr algn="l"/>
              <a:r>
                <a:rPr kumimoji="1" lang="zh-CN" altLang="en-US" sz="3200" b="1" spc="6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目录</a:t>
              </a:r>
              <a:endParaRPr kumimoji="1" lang="zh-CN" altLang="en-US" sz="3200" b="1" spc="6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 name="组合 14"/>
          <p:cNvGrpSpPr/>
          <p:nvPr/>
        </p:nvGrpSpPr>
        <p:grpSpPr>
          <a:xfrm>
            <a:off x="133400" y="303140"/>
            <a:ext cx="11901234" cy="6632796"/>
            <a:chOff x="133400" y="303140"/>
            <a:chExt cx="11901234" cy="6632796"/>
          </a:xfrm>
        </p:grpSpPr>
        <p:pic>
          <p:nvPicPr>
            <p:cNvPr id="5" name="图片 4"/>
            <p:cNvPicPr>
              <a:picLocks noChangeAspect="1"/>
            </p:cNvPicPr>
            <p:nvPr/>
          </p:nvPicPr>
          <p:blipFill>
            <a:blip r:embed="rId2" cstate="screen">
              <a:alphaModFix amt="70000"/>
            </a:blip>
            <a:stretch>
              <a:fillRect/>
            </a:stretch>
          </p:blipFill>
          <p:spPr>
            <a:xfrm>
              <a:off x="9840416" y="303140"/>
              <a:ext cx="2031325" cy="403124"/>
            </a:xfrm>
            <a:prstGeom prst="rect">
              <a:avLst/>
            </a:prstGeom>
          </p:spPr>
        </p:pic>
        <p:pic>
          <p:nvPicPr>
            <p:cNvPr id="10" name="图片 9"/>
            <p:cNvPicPr>
              <a:picLocks noChangeAspect="1"/>
            </p:cNvPicPr>
            <p:nvPr/>
          </p:nvPicPr>
          <p:blipFill>
            <a:blip r:embed="rId3" cstate="screen">
              <a:alphaModFix amt="50000"/>
            </a:blip>
            <a:stretch>
              <a:fillRect/>
            </a:stretch>
          </p:blipFill>
          <p:spPr>
            <a:xfrm>
              <a:off x="8996245" y="6572902"/>
              <a:ext cx="3038389" cy="185483"/>
            </a:xfrm>
            <a:prstGeom prst="rect">
              <a:avLst/>
            </a:prstGeom>
          </p:spPr>
        </p:pic>
        <p:pic>
          <p:nvPicPr>
            <p:cNvPr id="12" name="图片 11" descr="图片包含 游戏机, 画, 钟表&#10;&#10;描述已自动生成"/>
            <p:cNvPicPr>
              <a:picLocks noChangeAspect="1"/>
            </p:cNvPicPr>
            <p:nvPr/>
          </p:nvPicPr>
          <p:blipFill>
            <a:blip r:embed="rId4"/>
            <a:stretch>
              <a:fillRect/>
            </a:stretch>
          </p:blipFill>
          <p:spPr>
            <a:xfrm>
              <a:off x="133400" y="6453336"/>
              <a:ext cx="2362200" cy="482600"/>
            </a:xfrm>
            <a:prstGeom prst="rect">
              <a:avLst/>
            </a:prstGeom>
          </p:spPr>
        </p:pic>
      </p:grpSp>
      <p:grpSp>
        <p:nvGrpSpPr>
          <p:cNvPr id="7" name="组合 6"/>
          <p:cNvGrpSpPr/>
          <p:nvPr>
            <p:custDataLst>
              <p:tags r:id="rId5"/>
            </p:custDataLst>
          </p:nvPr>
        </p:nvGrpSpPr>
        <p:grpSpPr>
          <a:xfrm>
            <a:off x="1893837" y="2375159"/>
            <a:ext cx="3730447" cy="767627"/>
            <a:chOff x="1782684" y="1907512"/>
            <a:chExt cx="3730447" cy="767627"/>
          </a:xfrm>
        </p:grpSpPr>
        <p:sp>
          <p:nvSpPr>
            <p:cNvPr id="16" name="文本框 15"/>
            <p:cNvSpPr txBox="1"/>
            <p:nvPr>
              <p:custDataLst>
                <p:tags r:id="rId6"/>
              </p:custDataLst>
            </p:nvPr>
          </p:nvSpPr>
          <p:spPr>
            <a:xfrm>
              <a:off x="2488701" y="2421223"/>
              <a:ext cx="2813312" cy="253916"/>
            </a:xfrm>
            <a:prstGeom prst="rect">
              <a:avLst/>
            </a:prstGeom>
            <a:noFill/>
          </p:spPr>
          <p:txBody>
            <a:bodyPr wrap="square" rtlCol="0">
              <a:spAutoFit/>
            </a:bodyPr>
            <a:lstStyle/>
            <a:p>
              <a:pPr algn="l"/>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Please</a:t>
              </a:r>
              <a:r>
                <a:rPr kumimoji="1" lang="zh-CN" altLang="en-US"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 </a:t>
              </a:r>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input</a:t>
              </a:r>
              <a:r>
                <a:rPr kumimoji="1" lang="zh-CN" altLang="en-US"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 </a:t>
              </a:r>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subtitle</a:t>
              </a:r>
              <a:r>
                <a:rPr kumimoji="1" lang="zh-CN" altLang="en-US"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 </a:t>
              </a:r>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here</a:t>
              </a:r>
              <a:endPar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24" name="直线连接符 23"/>
            <p:cNvCxnSpPr/>
            <p:nvPr>
              <p:custDataLst>
                <p:tags r:id="rId7"/>
              </p:custDataLst>
            </p:nvPr>
          </p:nvCxnSpPr>
          <p:spPr>
            <a:xfrm>
              <a:off x="2581925" y="2411568"/>
              <a:ext cx="2304256"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1782684" y="1978568"/>
              <a:ext cx="618022" cy="629497"/>
              <a:chOff x="1782684" y="1978568"/>
              <a:chExt cx="618022" cy="629497"/>
            </a:xfrm>
          </p:grpSpPr>
          <p:sp>
            <p:nvSpPr>
              <p:cNvPr id="21" name="圆角矩形 20"/>
              <p:cNvSpPr/>
              <p:nvPr>
                <p:custDataLst>
                  <p:tags r:id="rId8"/>
                </p:custDataLst>
              </p:nvPr>
            </p:nvSpPr>
            <p:spPr>
              <a:xfrm>
                <a:off x="1782684" y="1978568"/>
                <a:ext cx="556618" cy="556618"/>
              </a:xfrm>
              <a:prstGeom prst="roundRect">
                <a:avLst>
                  <a:gd name="adj" fmla="val 16419"/>
                </a:avLst>
              </a:prstGeom>
              <a:gradFill>
                <a:gsLst>
                  <a:gs pos="0">
                    <a:srgbClr val="C00000">
                      <a:alpha val="72000"/>
                    </a:srgbClr>
                  </a:gs>
                  <a:gs pos="100000">
                    <a:srgbClr val="C00000">
                      <a:alpha val="47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微软雅黑" panose="020B0503020204020204" pitchFamily="34" charset="-122"/>
                  <a:cs typeface="Arial" panose="020B0604020202020204" pitchFamily="34" charset="0"/>
                </a:endParaRPr>
              </a:p>
            </p:txBody>
          </p:sp>
          <p:sp>
            <p:nvSpPr>
              <p:cNvPr id="63" name="圆角矩形 62"/>
              <p:cNvSpPr/>
              <p:nvPr>
                <p:custDataLst>
                  <p:tags r:id="rId9"/>
                </p:custDataLst>
              </p:nvPr>
            </p:nvSpPr>
            <p:spPr>
              <a:xfrm>
                <a:off x="1844088" y="2051447"/>
                <a:ext cx="556618" cy="556618"/>
              </a:xfrm>
              <a:prstGeom prst="roundRect">
                <a:avLst>
                  <a:gd name="adj" fmla="val 16419"/>
                </a:avLst>
              </a:prstGeom>
              <a:gradFill>
                <a:gsLst>
                  <a:gs pos="0">
                    <a:srgbClr val="C00000">
                      <a:alpha val="40000"/>
                    </a:srgbClr>
                  </a:gs>
                  <a:gs pos="100000">
                    <a:srgbClr val="C00000">
                      <a:alpha val="1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微软雅黑" panose="020B0503020204020204" pitchFamily="34" charset="-122"/>
                  <a:cs typeface="Arial" panose="020B0604020202020204" pitchFamily="34" charset="0"/>
                </a:endParaRPr>
              </a:p>
            </p:txBody>
          </p:sp>
          <p:sp>
            <p:nvSpPr>
              <p:cNvPr id="17" name="文本框 16"/>
              <p:cNvSpPr txBox="1"/>
              <p:nvPr>
                <p:custDataLst>
                  <p:tags r:id="rId10"/>
                </p:custDataLst>
              </p:nvPr>
            </p:nvSpPr>
            <p:spPr>
              <a:xfrm>
                <a:off x="1800411" y="2020525"/>
                <a:ext cx="527709" cy="461665"/>
              </a:xfrm>
              <a:prstGeom prst="rect">
                <a:avLst/>
              </a:prstGeom>
              <a:noFill/>
            </p:spPr>
            <p:txBody>
              <a:bodyPr wrap="none" rtlCol="0">
                <a:spAutoFit/>
              </a:bodyPr>
              <a:lstStyle/>
              <a:p>
                <a:pPr algn="l"/>
                <a:r>
                  <a:rPr kumimoji="1" lang="en-US" altLang="zh-CN" sz="2400" b="1" dirty="0">
                    <a:solidFill>
                      <a:schemeClr val="bg1"/>
                    </a:solidFill>
                    <a:latin typeface="Arial" panose="020B0604020202020204" pitchFamily="34" charset="0"/>
                    <a:ea typeface="微软雅黑" panose="020B0503020204020204" pitchFamily="34" charset="-122"/>
                    <a:cs typeface="Arial" panose="020B0604020202020204" pitchFamily="34" charset="0"/>
                  </a:rPr>
                  <a:t>01</a:t>
                </a:r>
                <a:endParaRPr kumimoji="1" lang="zh-CN" altLang="en-US" sz="24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4" name="文本框 13"/>
            <p:cNvSpPr txBox="1"/>
            <p:nvPr>
              <p:custDataLst>
                <p:tags r:id="rId11"/>
              </p:custDataLst>
            </p:nvPr>
          </p:nvSpPr>
          <p:spPr>
            <a:xfrm>
              <a:off x="2472988" y="1907512"/>
              <a:ext cx="3040143" cy="521970"/>
            </a:xfrm>
            <a:prstGeom prst="rect">
              <a:avLst/>
            </a:prstGeom>
            <a:noFill/>
          </p:spPr>
          <p:txBody>
            <a:bodyPr wrap="square" rtlCol="0">
              <a:spAutoFit/>
            </a:bodyPr>
            <a:lstStyle/>
            <a:p>
              <a:pPr algn="l"/>
              <a:r>
                <a:rPr kumimoji="1" lang="zh-CN" altLang="en-US" sz="2800" b="1" spc="300" dirty="0">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微软雅黑" panose="020B0503020204020204" pitchFamily="34" charset="-122"/>
                  <a:cs typeface="Arial" panose="020B0604020202020204" pitchFamily="34" charset="0"/>
                </a:rPr>
                <a:t>研究背景</a:t>
              </a:r>
              <a:endParaRPr kumimoji="1" lang="zh-CN" altLang="en-US" sz="2800" b="1" spc="300" dirty="0">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72" name="组合 71"/>
          <p:cNvGrpSpPr/>
          <p:nvPr>
            <p:custDataLst>
              <p:tags r:id="rId12"/>
            </p:custDataLst>
          </p:nvPr>
        </p:nvGrpSpPr>
        <p:grpSpPr>
          <a:xfrm>
            <a:off x="1893837" y="3685693"/>
            <a:ext cx="3519329" cy="767627"/>
            <a:chOff x="1782684" y="1907512"/>
            <a:chExt cx="3519329" cy="767627"/>
          </a:xfrm>
        </p:grpSpPr>
        <p:sp>
          <p:nvSpPr>
            <p:cNvPr id="73" name="文本框 72"/>
            <p:cNvSpPr txBox="1"/>
            <p:nvPr>
              <p:custDataLst>
                <p:tags r:id="rId13"/>
              </p:custDataLst>
            </p:nvPr>
          </p:nvSpPr>
          <p:spPr>
            <a:xfrm>
              <a:off x="2488701" y="2421223"/>
              <a:ext cx="2813312" cy="253916"/>
            </a:xfrm>
            <a:prstGeom prst="rect">
              <a:avLst/>
            </a:prstGeom>
            <a:noFill/>
          </p:spPr>
          <p:txBody>
            <a:bodyPr wrap="square" rtlCol="0">
              <a:spAutoFit/>
            </a:bodyPr>
            <a:lstStyle/>
            <a:p>
              <a:pPr algn="l"/>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Please</a:t>
              </a:r>
              <a:r>
                <a:rPr kumimoji="1" lang="zh-CN" altLang="en-US"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 </a:t>
              </a:r>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input</a:t>
              </a:r>
              <a:r>
                <a:rPr kumimoji="1" lang="zh-CN" altLang="en-US"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 </a:t>
              </a:r>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subtitle</a:t>
              </a:r>
              <a:r>
                <a:rPr kumimoji="1" lang="zh-CN" altLang="en-US"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 </a:t>
              </a:r>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here</a:t>
              </a:r>
              <a:endPar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74" name="直线连接符 73"/>
            <p:cNvCxnSpPr/>
            <p:nvPr>
              <p:custDataLst>
                <p:tags r:id="rId14"/>
              </p:custDataLst>
            </p:nvPr>
          </p:nvCxnSpPr>
          <p:spPr>
            <a:xfrm>
              <a:off x="2581925" y="2411568"/>
              <a:ext cx="2304256"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5" name="组合 74"/>
            <p:cNvGrpSpPr/>
            <p:nvPr/>
          </p:nvGrpSpPr>
          <p:grpSpPr>
            <a:xfrm>
              <a:off x="1782684" y="1978568"/>
              <a:ext cx="618022" cy="629497"/>
              <a:chOff x="1782684" y="1978568"/>
              <a:chExt cx="618022" cy="629497"/>
            </a:xfrm>
          </p:grpSpPr>
          <p:sp>
            <p:nvSpPr>
              <p:cNvPr id="77" name="圆角矩形 76"/>
              <p:cNvSpPr/>
              <p:nvPr>
                <p:custDataLst>
                  <p:tags r:id="rId15"/>
                </p:custDataLst>
              </p:nvPr>
            </p:nvSpPr>
            <p:spPr>
              <a:xfrm>
                <a:off x="1782684" y="1978568"/>
                <a:ext cx="556618" cy="556618"/>
              </a:xfrm>
              <a:prstGeom prst="roundRect">
                <a:avLst>
                  <a:gd name="adj" fmla="val 16419"/>
                </a:avLst>
              </a:prstGeom>
              <a:gradFill>
                <a:gsLst>
                  <a:gs pos="0">
                    <a:srgbClr val="C00000">
                      <a:alpha val="72000"/>
                    </a:srgbClr>
                  </a:gs>
                  <a:gs pos="100000">
                    <a:srgbClr val="C00000">
                      <a:alpha val="47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微软雅黑" panose="020B0503020204020204" pitchFamily="34" charset="-122"/>
                  <a:cs typeface="Arial" panose="020B0604020202020204" pitchFamily="34" charset="0"/>
                </a:endParaRPr>
              </a:p>
            </p:txBody>
          </p:sp>
          <p:sp>
            <p:nvSpPr>
              <p:cNvPr id="78" name="圆角矩形 77"/>
              <p:cNvSpPr/>
              <p:nvPr>
                <p:custDataLst>
                  <p:tags r:id="rId16"/>
                </p:custDataLst>
              </p:nvPr>
            </p:nvSpPr>
            <p:spPr>
              <a:xfrm>
                <a:off x="1844088" y="2051447"/>
                <a:ext cx="556618" cy="556618"/>
              </a:xfrm>
              <a:prstGeom prst="roundRect">
                <a:avLst>
                  <a:gd name="adj" fmla="val 16419"/>
                </a:avLst>
              </a:prstGeom>
              <a:gradFill>
                <a:gsLst>
                  <a:gs pos="0">
                    <a:srgbClr val="C00000">
                      <a:alpha val="40000"/>
                    </a:srgbClr>
                  </a:gs>
                  <a:gs pos="100000">
                    <a:srgbClr val="C00000">
                      <a:alpha val="1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微软雅黑" panose="020B0503020204020204" pitchFamily="34" charset="-122"/>
                  <a:cs typeface="Arial" panose="020B0604020202020204" pitchFamily="34" charset="0"/>
                </a:endParaRPr>
              </a:p>
            </p:txBody>
          </p:sp>
          <p:sp>
            <p:nvSpPr>
              <p:cNvPr id="79" name="文本框 78"/>
              <p:cNvSpPr txBox="1"/>
              <p:nvPr>
                <p:custDataLst>
                  <p:tags r:id="rId17"/>
                </p:custDataLst>
              </p:nvPr>
            </p:nvSpPr>
            <p:spPr>
              <a:xfrm>
                <a:off x="1800411" y="2020525"/>
                <a:ext cx="527709" cy="461665"/>
              </a:xfrm>
              <a:prstGeom prst="rect">
                <a:avLst/>
              </a:prstGeom>
              <a:noFill/>
            </p:spPr>
            <p:txBody>
              <a:bodyPr wrap="none" rtlCol="0">
                <a:spAutoFit/>
              </a:bodyPr>
              <a:lstStyle/>
              <a:p>
                <a:pPr algn="l"/>
                <a:r>
                  <a:rPr kumimoji="1" lang="en-US" altLang="zh-CN" sz="2400" b="1" dirty="0">
                    <a:solidFill>
                      <a:schemeClr val="bg1"/>
                    </a:solidFill>
                    <a:latin typeface="Arial" panose="020B0604020202020204" pitchFamily="34" charset="0"/>
                    <a:ea typeface="微软雅黑" panose="020B0503020204020204" pitchFamily="34" charset="-122"/>
                    <a:cs typeface="Arial" panose="020B0604020202020204" pitchFamily="34" charset="0"/>
                  </a:rPr>
                  <a:t>03</a:t>
                </a:r>
                <a:endParaRPr kumimoji="1" lang="zh-CN" altLang="en-US" sz="24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76" name="文本框 75"/>
            <p:cNvSpPr txBox="1"/>
            <p:nvPr>
              <p:custDataLst>
                <p:tags r:id="rId18"/>
              </p:custDataLst>
            </p:nvPr>
          </p:nvSpPr>
          <p:spPr>
            <a:xfrm>
              <a:off x="2472988" y="1907512"/>
              <a:ext cx="2757015" cy="521970"/>
            </a:xfrm>
            <a:prstGeom prst="rect">
              <a:avLst/>
            </a:prstGeom>
            <a:noFill/>
          </p:spPr>
          <p:txBody>
            <a:bodyPr wrap="square" rtlCol="0">
              <a:spAutoFit/>
            </a:bodyPr>
            <a:lstStyle/>
            <a:p>
              <a:pPr algn="l"/>
              <a:r>
                <a:rPr kumimoji="1" lang="zh-CN" altLang="en-US" sz="2800" b="1" spc="300" dirty="0">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微软雅黑" panose="020B0503020204020204" pitchFamily="34" charset="-122"/>
                  <a:cs typeface="Arial" panose="020B0604020202020204" pitchFamily="34" charset="0"/>
                </a:rPr>
                <a:t>实验与效果</a:t>
              </a:r>
              <a:endParaRPr kumimoji="1" lang="zh-CN" altLang="en-US" sz="2800" b="1" spc="300" dirty="0">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04" name="组合 103"/>
          <p:cNvGrpSpPr/>
          <p:nvPr>
            <p:custDataLst>
              <p:tags r:id="rId19"/>
            </p:custDataLst>
          </p:nvPr>
        </p:nvGrpSpPr>
        <p:grpSpPr>
          <a:xfrm>
            <a:off x="6567717" y="2375159"/>
            <a:ext cx="3832269" cy="767627"/>
            <a:chOff x="1782684" y="1907512"/>
            <a:chExt cx="3832269" cy="767627"/>
          </a:xfrm>
        </p:grpSpPr>
        <p:sp>
          <p:nvSpPr>
            <p:cNvPr id="105" name="文本框 104"/>
            <p:cNvSpPr txBox="1"/>
            <p:nvPr>
              <p:custDataLst>
                <p:tags r:id="rId20"/>
              </p:custDataLst>
            </p:nvPr>
          </p:nvSpPr>
          <p:spPr>
            <a:xfrm>
              <a:off x="2488701" y="2421223"/>
              <a:ext cx="2813312" cy="253916"/>
            </a:xfrm>
            <a:prstGeom prst="rect">
              <a:avLst/>
            </a:prstGeom>
            <a:noFill/>
          </p:spPr>
          <p:txBody>
            <a:bodyPr wrap="square" rtlCol="0">
              <a:spAutoFit/>
            </a:bodyPr>
            <a:lstStyle/>
            <a:p>
              <a:pPr algn="l"/>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Please</a:t>
              </a:r>
              <a:r>
                <a:rPr kumimoji="1" lang="zh-CN" altLang="en-US"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 </a:t>
              </a:r>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input</a:t>
              </a:r>
              <a:r>
                <a:rPr kumimoji="1" lang="zh-CN" altLang="en-US"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 </a:t>
              </a:r>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subtitle</a:t>
              </a:r>
              <a:r>
                <a:rPr kumimoji="1" lang="zh-CN" altLang="en-US"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 </a:t>
              </a:r>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here</a:t>
              </a:r>
              <a:endPar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106" name="直线连接符 105"/>
            <p:cNvCxnSpPr/>
            <p:nvPr>
              <p:custDataLst>
                <p:tags r:id="rId21"/>
              </p:custDataLst>
            </p:nvPr>
          </p:nvCxnSpPr>
          <p:spPr>
            <a:xfrm>
              <a:off x="2581925" y="2411568"/>
              <a:ext cx="2304256"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7" name="组合 106"/>
            <p:cNvGrpSpPr/>
            <p:nvPr/>
          </p:nvGrpSpPr>
          <p:grpSpPr>
            <a:xfrm>
              <a:off x="1782684" y="1978568"/>
              <a:ext cx="618022" cy="629497"/>
              <a:chOff x="1782684" y="1978568"/>
              <a:chExt cx="618022" cy="629497"/>
            </a:xfrm>
          </p:grpSpPr>
          <p:sp>
            <p:nvSpPr>
              <p:cNvPr id="109" name="圆角矩形 108"/>
              <p:cNvSpPr/>
              <p:nvPr>
                <p:custDataLst>
                  <p:tags r:id="rId22"/>
                </p:custDataLst>
              </p:nvPr>
            </p:nvSpPr>
            <p:spPr>
              <a:xfrm>
                <a:off x="1782684" y="1978568"/>
                <a:ext cx="556618" cy="556618"/>
              </a:xfrm>
              <a:prstGeom prst="roundRect">
                <a:avLst>
                  <a:gd name="adj" fmla="val 16419"/>
                </a:avLst>
              </a:prstGeom>
              <a:gradFill>
                <a:gsLst>
                  <a:gs pos="0">
                    <a:srgbClr val="C00000">
                      <a:alpha val="72000"/>
                    </a:srgbClr>
                  </a:gs>
                  <a:gs pos="100000">
                    <a:srgbClr val="C00000">
                      <a:alpha val="47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微软雅黑" panose="020B0503020204020204" pitchFamily="34" charset="-122"/>
                  <a:cs typeface="Arial" panose="020B0604020202020204" pitchFamily="34" charset="0"/>
                </a:endParaRPr>
              </a:p>
            </p:txBody>
          </p:sp>
          <p:sp>
            <p:nvSpPr>
              <p:cNvPr id="110" name="圆角矩形 109"/>
              <p:cNvSpPr/>
              <p:nvPr>
                <p:custDataLst>
                  <p:tags r:id="rId23"/>
                </p:custDataLst>
              </p:nvPr>
            </p:nvSpPr>
            <p:spPr>
              <a:xfrm>
                <a:off x="1844088" y="2051447"/>
                <a:ext cx="556618" cy="556618"/>
              </a:xfrm>
              <a:prstGeom prst="roundRect">
                <a:avLst>
                  <a:gd name="adj" fmla="val 16419"/>
                </a:avLst>
              </a:prstGeom>
              <a:gradFill>
                <a:gsLst>
                  <a:gs pos="0">
                    <a:srgbClr val="C00000">
                      <a:alpha val="40000"/>
                    </a:srgbClr>
                  </a:gs>
                  <a:gs pos="100000">
                    <a:srgbClr val="C00000">
                      <a:alpha val="1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微软雅黑" panose="020B0503020204020204" pitchFamily="34" charset="-122"/>
                  <a:cs typeface="Arial" panose="020B0604020202020204" pitchFamily="34" charset="0"/>
                </a:endParaRPr>
              </a:p>
            </p:txBody>
          </p:sp>
          <p:sp>
            <p:nvSpPr>
              <p:cNvPr id="111" name="文本框 110"/>
              <p:cNvSpPr txBox="1"/>
              <p:nvPr>
                <p:custDataLst>
                  <p:tags r:id="rId24"/>
                </p:custDataLst>
              </p:nvPr>
            </p:nvSpPr>
            <p:spPr>
              <a:xfrm>
                <a:off x="1800411" y="2020525"/>
                <a:ext cx="527709" cy="461665"/>
              </a:xfrm>
              <a:prstGeom prst="rect">
                <a:avLst/>
              </a:prstGeom>
              <a:noFill/>
            </p:spPr>
            <p:txBody>
              <a:bodyPr wrap="none" rtlCol="0">
                <a:spAutoFit/>
              </a:bodyPr>
              <a:lstStyle/>
              <a:p>
                <a:pPr algn="l"/>
                <a:r>
                  <a:rPr kumimoji="1" lang="en-US" altLang="zh-CN" sz="2400" b="1" dirty="0">
                    <a:solidFill>
                      <a:schemeClr val="bg1"/>
                    </a:solidFill>
                    <a:latin typeface="Arial" panose="020B0604020202020204" pitchFamily="34" charset="0"/>
                    <a:ea typeface="微软雅黑" panose="020B0503020204020204" pitchFamily="34" charset="-122"/>
                    <a:cs typeface="Arial" panose="020B0604020202020204" pitchFamily="34" charset="0"/>
                  </a:rPr>
                  <a:t>02</a:t>
                </a:r>
                <a:endParaRPr kumimoji="1" lang="zh-CN" altLang="en-US" sz="24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08" name="文本框 107"/>
            <p:cNvSpPr txBox="1"/>
            <p:nvPr>
              <p:custDataLst>
                <p:tags r:id="rId25"/>
              </p:custDataLst>
            </p:nvPr>
          </p:nvSpPr>
          <p:spPr>
            <a:xfrm>
              <a:off x="2472988" y="1907512"/>
              <a:ext cx="3141965" cy="521970"/>
            </a:xfrm>
            <a:prstGeom prst="rect">
              <a:avLst/>
            </a:prstGeom>
            <a:noFill/>
          </p:spPr>
          <p:txBody>
            <a:bodyPr wrap="square" rtlCol="0">
              <a:spAutoFit/>
            </a:bodyPr>
            <a:lstStyle/>
            <a:p>
              <a:pPr algn="l"/>
              <a:r>
                <a:rPr kumimoji="1" lang="zh-CN" altLang="en-US" sz="2800" b="1" spc="300" dirty="0">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微软雅黑" panose="020B0503020204020204" pitchFamily="34" charset="-122"/>
                  <a:cs typeface="Arial" panose="020B0604020202020204" pitchFamily="34" charset="0"/>
                </a:rPr>
                <a:t>本文工作</a:t>
              </a:r>
              <a:endParaRPr kumimoji="1" lang="en-US" altLang="zh-CN" sz="2800" b="1" spc="300" dirty="0">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12" name="组合 111"/>
          <p:cNvGrpSpPr/>
          <p:nvPr>
            <p:custDataLst>
              <p:tags r:id="rId26"/>
            </p:custDataLst>
          </p:nvPr>
        </p:nvGrpSpPr>
        <p:grpSpPr>
          <a:xfrm>
            <a:off x="6567717" y="3685693"/>
            <a:ext cx="3730446" cy="767627"/>
            <a:chOff x="1782684" y="1907512"/>
            <a:chExt cx="3730446" cy="767627"/>
          </a:xfrm>
        </p:grpSpPr>
        <p:sp>
          <p:nvSpPr>
            <p:cNvPr id="113" name="文本框 112"/>
            <p:cNvSpPr txBox="1"/>
            <p:nvPr>
              <p:custDataLst>
                <p:tags r:id="rId27"/>
              </p:custDataLst>
            </p:nvPr>
          </p:nvSpPr>
          <p:spPr>
            <a:xfrm>
              <a:off x="2488701" y="2421223"/>
              <a:ext cx="2813312" cy="253916"/>
            </a:xfrm>
            <a:prstGeom prst="rect">
              <a:avLst/>
            </a:prstGeom>
            <a:noFill/>
          </p:spPr>
          <p:txBody>
            <a:bodyPr wrap="square" rtlCol="0">
              <a:spAutoFit/>
            </a:bodyPr>
            <a:lstStyle/>
            <a:p>
              <a:pPr algn="l"/>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Please</a:t>
              </a:r>
              <a:r>
                <a:rPr kumimoji="1" lang="zh-CN" altLang="en-US"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 </a:t>
              </a:r>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input</a:t>
              </a:r>
              <a:r>
                <a:rPr kumimoji="1" lang="zh-CN" altLang="en-US"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 </a:t>
              </a:r>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subtitle</a:t>
              </a:r>
              <a:r>
                <a:rPr kumimoji="1" lang="zh-CN" altLang="en-US"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 </a:t>
              </a:r>
              <a:r>
                <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here</a:t>
              </a:r>
              <a:endParaRPr kumimoji="1" lang="en-US" altLang="zh-CN" sz="1050" spc="3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114" name="直线连接符 113"/>
            <p:cNvCxnSpPr/>
            <p:nvPr>
              <p:custDataLst>
                <p:tags r:id="rId28"/>
              </p:custDataLst>
            </p:nvPr>
          </p:nvCxnSpPr>
          <p:spPr>
            <a:xfrm>
              <a:off x="2581925" y="2411568"/>
              <a:ext cx="2304256"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5" name="组合 114"/>
            <p:cNvGrpSpPr/>
            <p:nvPr/>
          </p:nvGrpSpPr>
          <p:grpSpPr>
            <a:xfrm>
              <a:off x="1782684" y="1978568"/>
              <a:ext cx="618022" cy="629497"/>
              <a:chOff x="1782684" y="1978568"/>
              <a:chExt cx="618022" cy="629497"/>
            </a:xfrm>
          </p:grpSpPr>
          <p:sp>
            <p:nvSpPr>
              <p:cNvPr id="117" name="圆角矩形 116"/>
              <p:cNvSpPr/>
              <p:nvPr>
                <p:custDataLst>
                  <p:tags r:id="rId29"/>
                </p:custDataLst>
              </p:nvPr>
            </p:nvSpPr>
            <p:spPr>
              <a:xfrm>
                <a:off x="1782684" y="1978568"/>
                <a:ext cx="556618" cy="556618"/>
              </a:xfrm>
              <a:prstGeom prst="roundRect">
                <a:avLst>
                  <a:gd name="adj" fmla="val 16419"/>
                </a:avLst>
              </a:prstGeom>
              <a:gradFill>
                <a:gsLst>
                  <a:gs pos="0">
                    <a:srgbClr val="C00000">
                      <a:alpha val="72000"/>
                    </a:srgbClr>
                  </a:gs>
                  <a:gs pos="100000">
                    <a:srgbClr val="C00000">
                      <a:alpha val="47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微软雅黑" panose="020B0503020204020204" pitchFamily="34" charset="-122"/>
                  <a:cs typeface="Arial" panose="020B0604020202020204" pitchFamily="34" charset="0"/>
                </a:endParaRPr>
              </a:p>
            </p:txBody>
          </p:sp>
          <p:sp>
            <p:nvSpPr>
              <p:cNvPr id="118" name="圆角矩形 117"/>
              <p:cNvSpPr/>
              <p:nvPr>
                <p:custDataLst>
                  <p:tags r:id="rId30"/>
                </p:custDataLst>
              </p:nvPr>
            </p:nvSpPr>
            <p:spPr>
              <a:xfrm>
                <a:off x="1844088" y="2051447"/>
                <a:ext cx="556618" cy="556618"/>
              </a:xfrm>
              <a:prstGeom prst="roundRect">
                <a:avLst>
                  <a:gd name="adj" fmla="val 16419"/>
                </a:avLst>
              </a:prstGeom>
              <a:gradFill>
                <a:gsLst>
                  <a:gs pos="0">
                    <a:srgbClr val="C00000">
                      <a:alpha val="40000"/>
                    </a:srgbClr>
                  </a:gs>
                  <a:gs pos="100000">
                    <a:srgbClr val="C00000">
                      <a:alpha val="1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微软雅黑" panose="020B0503020204020204" pitchFamily="34" charset="-122"/>
                  <a:cs typeface="Arial" panose="020B0604020202020204" pitchFamily="34" charset="0"/>
                </a:endParaRPr>
              </a:p>
            </p:txBody>
          </p:sp>
          <p:sp>
            <p:nvSpPr>
              <p:cNvPr id="119" name="文本框 118"/>
              <p:cNvSpPr txBox="1"/>
              <p:nvPr>
                <p:custDataLst>
                  <p:tags r:id="rId31"/>
                </p:custDataLst>
              </p:nvPr>
            </p:nvSpPr>
            <p:spPr>
              <a:xfrm>
                <a:off x="1800411" y="2020525"/>
                <a:ext cx="527709" cy="461665"/>
              </a:xfrm>
              <a:prstGeom prst="rect">
                <a:avLst/>
              </a:prstGeom>
              <a:noFill/>
            </p:spPr>
            <p:txBody>
              <a:bodyPr wrap="none" rtlCol="0">
                <a:spAutoFit/>
              </a:bodyPr>
              <a:lstStyle/>
              <a:p>
                <a:pPr algn="l"/>
                <a:r>
                  <a:rPr kumimoji="1" lang="en-US" altLang="zh-CN" sz="2400" b="1" dirty="0">
                    <a:solidFill>
                      <a:schemeClr val="bg1"/>
                    </a:solidFill>
                    <a:latin typeface="Arial" panose="020B0604020202020204" pitchFamily="34" charset="0"/>
                    <a:ea typeface="微软雅黑" panose="020B0503020204020204" pitchFamily="34" charset="-122"/>
                    <a:cs typeface="Arial" panose="020B0604020202020204" pitchFamily="34" charset="0"/>
                  </a:rPr>
                  <a:t>04</a:t>
                </a:r>
                <a:endParaRPr kumimoji="1" lang="zh-CN" altLang="en-US" sz="24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16" name="文本框 115"/>
            <p:cNvSpPr txBox="1"/>
            <p:nvPr>
              <p:custDataLst>
                <p:tags r:id="rId32"/>
              </p:custDataLst>
            </p:nvPr>
          </p:nvSpPr>
          <p:spPr>
            <a:xfrm>
              <a:off x="2472988" y="1907512"/>
              <a:ext cx="3040142" cy="521970"/>
            </a:xfrm>
            <a:prstGeom prst="rect">
              <a:avLst/>
            </a:prstGeom>
            <a:noFill/>
          </p:spPr>
          <p:txBody>
            <a:bodyPr wrap="square" rtlCol="0">
              <a:spAutoFit/>
            </a:bodyPr>
            <a:lstStyle/>
            <a:p>
              <a:pPr algn="l"/>
              <a:r>
                <a:rPr kumimoji="1" lang="zh-CN" altLang="en-US" sz="2800" b="1" spc="300" dirty="0">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微软雅黑" panose="020B0503020204020204" pitchFamily="34" charset="-122"/>
                  <a:cs typeface="Arial" panose="020B0604020202020204" pitchFamily="34" charset="0"/>
                </a:rPr>
                <a:t>总结与展望</a:t>
              </a:r>
              <a:endParaRPr kumimoji="1" lang="zh-CN" altLang="en-US" sz="2800" b="1" spc="300" dirty="0">
                <a:gradFill>
                  <a:gsLst>
                    <a:gs pos="0">
                      <a:schemeClr val="tx1">
                        <a:lumMod val="95000"/>
                        <a:lumOff val="5000"/>
                      </a:schemeClr>
                    </a:gs>
                    <a:gs pos="100000">
                      <a:schemeClr val="tx1">
                        <a:lumMod val="65000"/>
                        <a:lumOff val="35000"/>
                      </a:schemeClr>
                    </a:gs>
                  </a:gsLst>
                  <a:lin ang="5400000" scaled="1"/>
                </a:gradFill>
                <a:latin typeface="Arial" panose="020B0604020202020204" pitchFamily="34" charset="0"/>
                <a:ea typeface="微软雅黑" panose="020B0503020204020204" pitchFamily="34" charset="-122"/>
                <a:cs typeface="Arial" panose="020B0604020202020204" pitchFamily="34"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11" name="文本框 10"/>
          <p:cNvSpPr txBox="1"/>
          <p:nvPr/>
        </p:nvSpPr>
        <p:spPr>
          <a:xfrm>
            <a:off x="4886512" y="1587570"/>
            <a:ext cx="2752677" cy="2862322"/>
          </a:xfrm>
          <a:prstGeom prst="rect">
            <a:avLst/>
          </a:prstGeom>
          <a:noFill/>
        </p:spPr>
        <p:txBody>
          <a:bodyPr wrap="none" rtlCol="0">
            <a:spAutoFit/>
          </a:bodyPr>
          <a:lstStyle/>
          <a:p>
            <a:pPr algn="ctr"/>
            <a:r>
              <a:rPr kumimoji="1" lang="en-US" altLang="zh-CN" sz="18000" b="1" dirty="0">
                <a:ln w="47625" cap="rnd">
                  <a:gradFill>
                    <a:gsLst>
                      <a:gs pos="0">
                        <a:srgbClr val="C00000"/>
                      </a:gs>
                      <a:gs pos="70000">
                        <a:srgbClr val="C00000">
                          <a:alpha val="0"/>
                        </a:srgbClr>
                      </a:gs>
                    </a:gsLst>
                    <a:lin ang="5400000" scaled="1"/>
                  </a:gradFill>
                </a:ln>
                <a:gradFill>
                  <a:gsLst>
                    <a:gs pos="0">
                      <a:srgbClr val="C00000">
                        <a:alpha val="13000"/>
                      </a:srgbClr>
                    </a:gs>
                    <a:gs pos="70000">
                      <a:srgbClr val="C00000">
                        <a:alpha val="0"/>
                      </a:srgbClr>
                    </a:gs>
                  </a:gsLst>
                  <a:lin ang="5400000" scaled="1"/>
                </a:gradFill>
                <a:latin typeface="Arial" panose="020B0604020202020204" pitchFamily="34" charset="0"/>
                <a:ea typeface="ZhenyanGB" panose="02010600030101010101" pitchFamily="2" charset="-122"/>
                <a:cs typeface="Arial" panose="020B0604020202020204" pitchFamily="34" charset="0"/>
              </a:rPr>
              <a:t>01</a:t>
            </a:r>
            <a:endParaRPr kumimoji="1" lang="zh-CN" altLang="en-US" sz="18000" b="1" dirty="0">
              <a:ln w="47625" cap="rnd">
                <a:gradFill>
                  <a:gsLst>
                    <a:gs pos="0">
                      <a:srgbClr val="C00000"/>
                    </a:gs>
                    <a:gs pos="70000">
                      <a:srgbClr val="C00000">
                        <a:alpha val="0"/>
                      </a:srgbClr>
                    </a:gs>
                  </a:gsLst>
                  <a:lin ang="5400000" scaled="1"/>
                </a:gradFill>
              </a:ln>
              <a:gradFill>
                <a:gsLst>
                  <a:gs pos="0">
                    <a:srgbClr val="C00000">
                      <a:alpha val="13000"/>
                    </a:srgbClr>
                  </a:gs>
                  <a:gs pos="70000">
                    <a:srgbClr val="C00000">
                      <a:alpha val="0"/>
                    </a:srgbClr>
                  </a:gs>
                </a:gsLst>
                <a:lin ang="5400000" scaled="1"/>
              </a:gradFill>
              <a:latin typeface="Arial" panose="020B0604020202020204" pitchFamily="34" charset="0"/>
              <a:ea typeface="ZhenyanGB" panose="02010600030101010101" pitchFamily="2" charset="-122"/>
              <a:cs typeface="Arial" panose="020B0604020202020204" pitchFamily="34" charset="0"/>
            </a:endParaRPr>
          </a:p>
        </p:txBody>
      </p:sp>
      <p:sp>
        <p:nvSpPr>
          <p:cNvPr id="14" name="文本框 13"/>
          <p:cNvSpPr txBox="1"/>
          <p:nvPr/>
        </p:nvSpPr>
        <p:spPr>
          <a:xfrm>
            <a:off x="4556760" y="3573006"/>
            <a:ext cx="3078480" cy="1753235"/>
          </a:xfrm>
          <a:prstGeom prst="rect">
            <a:avLst/>
          </a:prstGeom>
          <a:noFill/>
        </p:spPr>
        <p:txBody>
          <a:bodyPr wrap="none" rtlCol="0">
            <a:spAutoFit/>
          </a:bodyPr>
          <a:lstStyle/>
          <a:p>
            <a:pPr algn="l"/>
            <a:r>
              <a:rPr kumimoji="1" lang="zh-CN" altLang="en-US" sz="5400" b="1" spc="300" dirty="0">
                <a:gradFill>
                  <a:gsLst>
                    <a:gs pos="0">
                      <a:srgbClr val="C00000"/>
                    </a:gs>
                    <a:gs pos="100000">
                      <a:srgbClr val="F87768"/>
                    </a:gs>
                  </a:gsLst>
                  <a:lin ang="5400000" scaled="0"/>
                </a:gradFill>
                <a:latin typeface="Arial" panose="020B0604020202020204" pitchFamily="34" charset="0"/>
                <a:ea typeface="微软雅黑" panose="020B0503020204020204" pitchFamily="34" charset="-122"/>
                <a:cs typeface="Arial" panose="020B0604020202020204" pitchFamily="34" charset="0"/>
              </a:rPr>
              <a:t>研究背景</a:t>
            </a:r>
            <a:endParaRPr kumimoji="1" lang="en-US" altLang="zh-CN" sz="5400" b="1" spc="300" dirty="0">
              <a:gradFill>
                <a:gsLst>
                  <a:gs pos="0">
                    <a:srgbClr val="C00000"/>
                  </a:gs>
                  <a:gs pos="100000">
                    <a:srgbClr val="F87768"/>
                  </a:gs>
                </a:gsLst>
                <a:lin ang="5400000" scaled="0"/>
              </a:gradFill>
              <a:latin typeface="Arial" panose="020B0604020202020204" pitchFamily="34" charset="0"/>
              <a:ea typeface="微软雅黑" panose="020B0503020204020204" pitchFamily="34" charset="-122"/>
              <a:cs typeface="Arial" panose="020B0604020202020204" pitchFamily="34" charset="0"/>
            </a:endParaRPr>
          </a:p>
          <a:p>
            <a:pPr algn="l"/>
            <a:endParaRPr kumimoji="1" lang="zh-CN" altLang="en-US" sz="5400" b="1" spc="300" dirty="0">
              <a:gradFill>
                <a:gsLst>
                  <a:gs pos="0">
                    <a:srgbClr val="C00000"/>
                  </a:gs>
                  <a:gs pos="100000">
                    <a:srgbClr val="F87768"/>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0" y="-1"/>
            <a:ext cx="12192000" cy="6858002"/>
            <a:chOff x="0" y="-1"/>
            <a:chExt cx="12192000" cy="6858002"/>
          </a:xfrm>
        </p:grpSpPr>
        <p:sp>
          <p:nvSpPr>
            <p:cNvPr id="17" name="矩形 16"/>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18" name="矩形 17"/>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19" name="矩形 18"/>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20" name="组合 19"/>
          <p:cNvGrpSpPr/>
          <p:nvPr/>
        </p:nvGrpSpPr>
        <p:grpSpPr>
          <a:xfrm>
            <a:off x="133400" y="140547"/>
            <a:ext cx="11901234" cy="6795389"/>
            <a:chOff x="133400" y="140547"/>
            <a:chExt cx="11901234" cy="6795389"/>
          </a:xfrm>
        </p:grpSpPr>
        <p:pic>
          <p:nvPicPr>
            <p:cNvPr id="21" name="图片 20"/>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22" name="图片 21"/>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23" name="图片 22"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01</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5144135" cy="46037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研究背景</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具身视觉导航与</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IIN</a:t>
            </a:r>
            <a:endPar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3" name="文本框 2"/>
          <p:cNvSpPr txBox="1"/>
          <p:nvPr/>
        </p:nvSpPr>
        <p:spPr>
          <a:xfrm>
            <a:off x="1415480" y="1372218"/>
            <a:ext cx="2240280" cy="460375"/>
          </a:xfrm>
          <a:prstGeom prst="rect">
            <a:avLst/>
          </a:prstGeom>
          <a:noFill/>
        </p:spPr>
        <p:txBody>
          <a:bodyPr wrap="none" rtlCol="0">
            <a:spAutoFit/>
          </a:bodyPr>
          <a:lstStyle/>
          <a:p>
            <a:pPr algn="l"/>
            <a:r>
              <a:rPr kumimoji="1" lang="zh-CN" altLang="en-US" sz="2400" b="1" spc="300" dirty="0">
                <a:gradFill>
                  <a:gsLst>
                    <a:gs pos="0">
                      <a:srgbClr val="C00000"/>
                    </a:gs>
                    <a:gs pos="100000">
                      <a:srgbClr val="C00000">
                        <a:lumMod val="59000"/>
                      </a:srgbClr>
                    </a:gs>
                  </a:gsLst>
                  <a:lin ang="5400000" scaled="1"/>
                </a:gradFill>
                <a:latin typeface="Arial" panose="020B0604020202020204" pitchFamily="34" charset="0"/>
                <a:ea typeface="微软雅黑" panose="020B0503020204020204" pitchFamily="34" charset="-122"/>
                <a:cs typeface="Arial" panose="020B0604020202020204" pitchFamily="34" charset="0"/>
              </a:rPr>
              <a:t>具身视觉导航</a:t>
            </a:r>
            <a:endParaRPr kumimoji="1" lang="zh-CN" altLang="en-US" sz="2400" b="1" spc="300" dirty="0">
              <a:gradFill>
                <a:gsLst>
                  <a:gs pos="0">
                    <a:srgbClr val="C00000"/>
                  </a:gs>
                  <a:gs pos="100000">
                    <a:srgbClr val="C00000">
                      <a:lumMod val="59000"/>
                    </a:srgbClr>
                  </a:gs>
                </a:gsLst>
                <a:lin ang="5400000" scaled="1"/>
              </a:gradFill>
              <a:latin typeface="Arial" panose="020B0604020202020204" pitchFamily="34" charset="0"/>
              <a:ea typeface="微软雅黑" panose="020B0503020204020204" pitchFamily="34" charset="-122"/>
              <a:cs typeface="Arial" panose="020B0604020202020204" pitchFamily="34" charset="0"/>
            </a:endParaRPr>
          </a:p>
        </p:txBody>
      </p:sp>
      <p:sp>
        <p:nvSpPr>
          <p:cNvPr id="4" name="圆角矩形 14"/>
          <p:cNvSpPr/>
          <p:nvPr/>
        </p:nvSpPr>
        <p:spPr>
          <a:xfrm>
            <a:off x="1128483" y="1487477"/>
            <a:ext cx="214989" cy="214989"/>
          </a:xfrm>
          <a:prstGeom prst="roundRect">
            <a:avLst/>
          </a:prstGeom>
          <a:gradFill>
            <a:gsLst>
              <a:gs pos="0">
                <a:srgbClr val="C00000"/>
              </a:gs>
              <a:gs pos="100000">
                <a:srgbClr val="C00000">
                  <a:lumMod val="5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pic>
        <p:nvPicPr>
          <p:cNvPr id="8" name="图片 7"/>
          <p:cNvPicPr>
            <a:picLocks noChangeAspect="1"/>
          </p:cNvPicPr>
          <p:nvPr/>
        </p:nvPicPr>
        <p:blipFill>
          <a:blip r:embed="rId4"/>
          <a:stretch>
            <a:fillRect/>
          </a:stretch>
        </p:blipFill>
        <p:spPr>
          <a:xfrm>
            <a:off x="7185025" y="889635"/>
            <a:ext cx="4074160" cy="5514975"/>
          </a:xfrm>
          <a:prstGeom prst="rect">
            <a:avLst/>
          </a:prstGeom>
        </p:spPr>
      </p:pic>
      <p:sp>
        <p:nvSpPr>
          <p:cNvPr id="9" name="文本框 8"/>
          <p:cNvSpPr txBox="1"/>
          <p:nvPr/>
        </p:nvSpPr>
        <p:spPr>
          <a:xfrm>
            <a:off x="1128395" y="1832610"/>
            <a:ext cx="6274435" cy="1697355"/>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kumimoji="1" lang="zh-CN" altLang="en-US" dirty="0">
                <a:latin typeface="黑体" panose="02010609060101010101" charset="-122"/>
                <a:ea typeface="黑体" panose="02010609060101010101" charset="-122"/>
              </a:rPr>
              <a:t>描述目标物体的方法</a:t>
            </a:r>
            <a:r>
              <a:rPr kumimoji="1" lang="en-US" altLang="zh-CN" dirty="0">
                <a:latin typeface="黑体" panose="02010609060101010101" charset="-122"/>
                <a:ea typeface="黑体" panose="02010609060101010101" charset="-122"/>
              </a:rPr>
              <a:t>——</a:t>
            </a:r>
            <a:r>
              <a:rPr kumimoji="1" lang="zh-CN" altLang="en-US" dirty="0">
                <a:latin typeface="黑体" panose="02010609060101010101" charset="-122"/>
                <a:ea typeface="黑体" panose="02010609060101010101" charset="-122"/>
              </a:rPr>
              <a:t>自然语言指令</a:t>
            </a:r>
            <a:endParaRPr kumimoji="1" lang="zh-CN" altLang="en-US" dirty="0">
              <a:latin typeface="黑体" panose="02010609060101010101" charset="-122"/>
              <a:ea typeface="黑体" panose="02010609060101010101" charset="-122"/>
            </a:endParaRPr>
          </a:p>
          <a:p>
            <a:pPr marL="628650" lvl="1" indent="-171450" algn="l">
              <a:lnSpc>
                <a:spcPct val="150000"/>
              </a:lnSpc>
              <a:buFont typeface="Arial" panose="020B0604020202020204" pitchFamily="34" charset="0"/>
              <a:buChar char="•"/>
            </a:pPr>
            <a:r>
              <a:rPr kumimoji="1" lang="zh-CN" altLang="en-US" dirty="0">
                <a:latin typeface="黑体" panose="02010609060101010101" charset="-122"/>
                <a:ea typeface="黑体" panose="02010609060101010101" charset="-122"/>
              </a:rPr>
              <a:t>相同类型物体产生混淆和歧义</a:t>
            </a:r>
            <a:endParaRPr kumimoji="1" lang="zh-CN" altLang="en-US" dirty="0">
              <a:latin typeface="黑体" panose="02010609060101010101" charset="-122"/>
              <a:ea typeface="黑体" panose="02010609060101010101" charset="-122"/>
            </a:endParaRPr>
          </a:p>
          <a:p>
            <a:pPr marL="171450" lvl="0" indent="-171450" algn="l">
              <a:lnSpc>
                <a:spcPct val="150000"/>
              </a:lnSpc>
              <a:buFont typeface="Arial" panose="020B0604020202020204" pitchFamily="34" charset="0"/>
              <a:buChar char="•"/>
            </a:pPr>
            <a:r>
              <a:rPr kumimoji="1" lang="zh-CN" altLang="en-US" dirty="0">
                <a:latin typeface="黑体" panose="02010609060101010101" charset="-122"/>
                <a:ea typeface="黑体" panose="02010609060101010101" charset="-122"/>
              </a:rPr>
              <a:t>提出实例级目标导航</a:t>
            </a:r>
            <a:r>
              <a:rPr kumimoji="1" lang="en-US" altLang="zh-CN" dirty="0">
                <a:latin typeface="黑体" panose="02010609060101010101" charset="-122"/>
                <a:ea typeface="黑体" panose="02010609060101010101" charset="-122"/>
              </a:rPr>
              <a:t>IIN</a:t>
            </a:r>
            <a:endParaRPr kumimoji="1" lang="en-US" altLang="zh-CN" dirty="0">
              <a:latin typeface="黑体" panose="02010609060101010101" charset="-122"/>
              <a:ea typeface="黑体" panose="02010609060101010101" charset="-122"/>
            </a:endParaRPr>
          </a:p>
          <a:p>
            <a:pPr marL="171450" lvl="0" indent="-171450" algn="l">
              <a:lnSpc>
                <a:spcPct val="130000"/>
              </a:lnSpc>
              <a:buFont typeface="Arial" panose="020B0604020202020204" pitchFamily="34" charset="0"/>
              <a:buChar char="•"/>
            </a:pPr>
            <a:endParaRPr kumimoji="1" lang="en-US" altLang="zh-CN" dirty="0">
              <a:latin typeface="黑体" panose="02010609060101010101" charset="-122"/>
              <a:ea typeface="黑体" panose="02010609060101010101" charset="-122"/>
            </a:endParaRPr>
          </a:p>
        </p:txBody>
      </p:sp>
      <p:sp>
        <p:nvSpPr>
          <p:cNvPr id="13" name="文本框 12"/>
          <p:cNvSpPr txBox="1"/>
          <p:nvPr/>
        </p:nvSpPr>
        <p:spPr>
          <a:xfrm>
            <a:off x="1415480" y="3349608"/>
            <a:ext cx="3086735" cy="460375"/>
          </a:xfrm>
          <a:prstGeom prst="rect">
            <a:avLst/>
          </a:prstGeom>
          <a:noFill/>
        </p:spPr>
        <p:txBody>
          <a:bodyPr wrap="none" rtlCol="0">
            <a:spAutoFit/>
          </a:bodyPr>
          <a:lstStyle/>
          <a:p>
            <a:pPr algn="l"/>
            <a:r>
              <a:rPr kumimoji="1" lang="zh-CN" altLang="en-US" sz="2400" b="1" spc="300" dirty="0">
                <a:gradFill>
                  <a:gsLst>
                    <a:gs pos="0">
                      <a:srgbClr val="C00000"/>
                    </a:gs>
                    <a:gs pos="100000">
                      <a:srgbClr val="C00000">
                        <a:lumMod val="59000"/>
                      </a:srgbClr>
                    </a:gs>
                  </a:gsLst>
                  <a:lin ang="5400000" scaled="1"/>
                </a:gradFill>
                <a:latin typeface="Arial" panose="020B0604020202020204" pitchFamily="34" charset="0"/>
                <a:ea typeface="微软雅黑" panose="020B0503020204020204" pitchFamily="34" charset="-122"/>
                <a:cs typeface="Arial" panose="020B0604020202020204" pitchFamily="34" charset="0"/>
              </a:rPr>
              <a:t>实例级目标导航</a:t>
            </a:r>
            <a:r>
              <a:rPr kumimoji="1" lang="en-US" altLang="zh-CN" sz="2400" b="1" spc="300" dirty="0">
                <a:gradFill>
                  <a:gsLst>
                    <a:gs pos="0">
                      <a:srgbClr val="C00000"/>
                    </a:gs>
                    <a:gs pos="100000">
                      <a:srgbClr val="C00000">
                        <a:lumMod val="59000"/>
                      </a:srgbClr>
                    </a:gs>
                  </a:gsLst>
                  <a:lin ang="5400000" scaled="1"/>
                </a:gradFill>
                <a:latin typeface="Arial" panose="020B0604020202020204" pitchFamily="34" charset="0"/>
                <a:ea typeface="微软雅黑" panose="020B0503020204020204" pitchFamily="34" charset="-122"/>
                <a:cs typeface="Arial" panose="020B0604020202020204" pitchFamily="34" charset="0"/>
              </a:rPr>
              <a:t>IIN</a:t>
            </a:r>
            <a:endParaRPr kumimoji="1" lang="en-US" altLang="zh-CN" sz="2400" b="1" spc="300" dirty="0">
              <a:gradFill>
                <a:gsLst>
                  <a:gs pos="0">
                    <a:srgbClr val="C00000"/>
                  </a:gs>
                  <a:gs pos="100000">
                    <a:srgbClr val="C00000">
                      <a:lumMod val="59000"/>
                    </a:srgbClr>
                  </a:gs>
                </a:gsLst>
                <a:lin ang="5400000" scaled="1"/>
              </a:gradFill>
              <a:latin typeface="Arial" panose="020B0604020202020204" pitchFamily="34" charset="0"/>
              <a:ea typeface="微软雅黑" panose="020B0503020204020204" pitchFamily="34" charset="-122"/>
              <a:cs typeface="Arial" panose="020B0604020202020204" pitchFamily="34" charset="0"/>
            </a:endParaRPr>
          </a:p>
        </p:txBody>
      </p:sp>
      <p:sp>
        <p:nvSpPr>
          <p:cNvPr id="14" name="圆角矩形 14"/>
          <p:cNvSpPr/>
          <p:nvPr/>
        </p:nvSpPr>
        <p:spPr>
          <a:xfrm>
            <a:off x="1128483" y="3464867"/>
            <a:ext cx="214989" cy="214989"/>
          </a:xfrm>
          <a:prstGeom prst="roundRect">
            <a:avLst/>
          </a:prstGeom>
          <a:gradFill>
            <a:gsLst>
              <a:gs pos="0">
                <a:srgbClr val="C00000"/>
              </a:gs>
              <a:gs pos="100000">
                <a:srgbClr val="C00000">
                  <a:lumMod val="5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15" name="文本框 14"/>
          <p:cNvSpPr txBox="1"/>
          <p:nvPr/>
        </p:nvSpPr>
        <p:spPr>
          <a:xfrm>
            <a:off x="1008380" y="3810000"/>
            <a:ext cx="6274435" cy="2528570"/>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kumimoji="1" lang="zh-CN" altLang="en-US" dirty="0">
                <a:latin typeface="黑体" panose="02010609060101010101" charset="-122"/>
                <a:ea typeface="黑体" panose="02010609060101010101" charset="-122"/>
              </a:rPr>
              <a:t>智能体接受一张包含特定目标物体图像</a:t>
            </a:r>
            <a:endParaRPr kumimoji="1" lang="zh-CN" altLang="en-US" dirty="0">
              <a:latin typeface="黑体" panose="02010609060101010101" charset="-122"/>
              <a:ea typeface="黑体" panose="02010609060101010101" charset="-122"/>
            </a:endParaRPr>
          </a:p>
          <a:p>
            <a:pPr marL="171450" indent="-171450" algn="l">
              <a:lnSpc>
                <a:spcPct val="150000"/>
              </a:lnSpc>
              <a:buFont typeface="Arial" panose="020B0604020202020204" pitchFamily="34" charset="0"/>
              <a:buChar char="•"/>
            </a:pPr>
            <a:r>
              <a:rPr kumimoji="1" lang="zh-CN" altLang="en-US" dirty="0">
                <a:latin typeface="黑体" panose="02010609060101010101" charset="-122"/>
                <a:ea typeface="黑体" panose="02010609060101010101" charset="-122"/>
              </a:rPr>
              <a:t>在限定时间步内定位这个物体并导航到达物体附近</a:t>
            </a:r>
            <a:endParaRPr kumimoji="1" lang="zh-CN" altLang="en-US" dirty="0">
              <a:latin typeface="黑体" panose="02010609060101010101" charset="-122"/>
              <a:ea typeface="黑体" panose="02010609060101010101" charset="-122"/>
            </a:endParaRPr>
          </a:p>
          <a:p>
            <a:pPr marL="171450" indent="-171450" algn="l">
              <a:lnSpc>
                <a:spcPct val="150000"/>
              </a:lnSpc>
              <a:buFont typeface="Arial" panose="020B0604020202020204" pitchFamily="34" charset="0"/>
              <a:buChar char="•"/>
            </a:pPr>
            <a:r>
              <a:rPr kumimoji="1" lang="zh-CN" altLang="en-US" dirty="0">
                <a:latin typeface="黑体" panose="02010609060101010101" charset="-122"/>
                <a:ea typeface="黑体" panose="02010609060101010101" charset="-122"/>
              </a:rPr>
              <a:t>识别智能体具体类别</a:t>
            </a:r>
            <a:endParaRPr kumimoji="1" lang="zh-CN" altLang="en-US" dirty="0">
              <a:latin typeface="黑体" panose="02010609060101010101" charset="-122"/>
              <a:ea typeface="黑体" panose="02010609060101010101" charset="-122"/>
            </a:endParaRPr>
          </a:p>
          <a:p>
            <a:pPr marL="171450" indent="-171450" algn="l">
              <a:lnSpc>
                <a:spcPct val="150000"/>
              </a:lnSpc>
              <a:buFont typeface="Arial" panose="020B0604020202020204" pitchFamily="34" charset="0"/>
              <a:buChar char="•"/>
            </a:pPr>
            <a:r>
              <a:rPr kumimoji="1" lang="zh-CN" altLang="en-US" dirty="0">
                <a:latin typeface="黑体" panose="02010609060101010101" charset="-122"/>
                <a:ea typeface="黑体" panose="02010609060101010101" charset="-122"/>
              </a:rPr>
              <a:t>不同角度观察</a:t>
            </a:r>
            <a:endParaRPr kumimoji="1" lang="zh-CN" altLang="en-US" dirty="0">
              <a:latin typeface="黑体" panose="02010609060101010101" charset="-122"/>
              <a:ea typeface="黑体" panose="02010609060101010101" charset="-122"/>
            </a:endParaRPr>
          </a:p>
          <a:p>
            <a:pPr marL="171450" indent="-171450" algn="l">
              <a:lnSpc>
                <a:spcPct val="150000"/>
              </a:lnSpc>
              <a:buFont typeface="Arial" panose="020B0604020202020204" pitchFamily="34" charset="0"/>
              <a:buChar char="•"/>
            </a:pPr>
            <a:r>
              <a:rPr kumimoji="1" lang="zh-CN" altLang="en-US" dirty="0">
                <a:latin typeface="黑体" panose="02010609060101010101" charset="-122"/>
                <a:ea typeface="黑体" panose="02010609060101010101" charset="-122"/>
              </a:rPr>
              <a:t>确定目标物体</a:t>
            </a:r>
            <a:r>
              <a:rPr kumimoji="1" lang="en-US" altLang="zh-CN" dirty="0">
                <a:latin typeface="黑体" panose="02010609060101010101" charset="-122"/>
                <a:ea typeface="黑体" panose="02010609060101010101" charset="-122"/>
              </a:rPr>
              <a:t>   </a:t>
            </a:r>
            <a:endParaRPr kumimoji="1" lang="en-US" altLang="zh-CN" dirty="0">
              <a:latin typeface="黑体" panose="02010609060101010101" charset="-122"/>
              <a:ea typeface="黑体" panose="02010609060101010101" charset="-122"/>
            </a:endParaRPr>
          </a:p>
          <a:p>
            <a:pPr marL="171450" lvl="0" indent="-171450" algn="l">
              <a:lnSpc>
                <a:spcPct val="130000"/>
              </a:lnSpc>
              <a:buFont typeface="Arial" panose="020B0604020202020204" pitchFamily="34" charset="0"/>
              <a:buChar char="•"/>
            </a:pPr>
            <a:endParaRPr kumimoji="1" lang="en-US" altLang="zh-CN" dirty="0">
              <a:latin typeface="黑体" panose="02010609060101010101" charset="-122"/>
              <a:ea typeface="黑体"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0"/>
            <a:ext cx="12192000" cy="706120"/>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25" name="矩形 24"/>
          <p:cNvSpPr/>
          <p:nvPr/>
        </p:nvSpPr>
        <p:spPr>
          <a:xfrm>
            <a:off x="0" y="708025"/>
            <a:ext cx="12192000" cy="132080"/>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29" name="矩形 28"/>
          <p:cNvSpPr/>
          <p:nvPr/>
        </p:nvSpPr>
        <p:spPr>
          <a:xfrm>
            <a:off x="0" y="6453505"/>
            <a:ext cx="12192000" cy="40449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nvGrpSpPr>
          <p:cNvPr id="30" name="组合 29"/>
          <p:cNvGrpSpPr/>
          <p:nvPr/>
        </p:nvGrpSpPr>
        <p:grpSpPr>
          <a:xfrm>
            <a:off x="133400" y="140547"/>
            <a:ext cx="11901234" cy="6795389"/>
            <a:chOff x="133400" y="140547"/>
            <a:chExt cx="11901234" cy="6795389"/>
          </a:xfrm>
        </p:grpSpPr>
        <p:pic>
          <p:nvPicPr>
            <p:cNvPr id="31" name="图片 30"/>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2" name="图片 31"/>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3" name="图片 32"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01</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008331" y="124472"/>
            <a:ext cx="3611880" cy="46037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研究背景</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现有问题</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2" name="文本框 1"/>
          <p:cNvSpPr txBox="1"/>
          <p:nvPr/>
        </p:nvSpPr>
        <p:spPr>
          <a:xfrm>
            <a:off x="502985" y="1141713"/>
            <a:ext cx="3600666" cy="461665"/>
          </a:xfrm>
          <a:prstGeom prst="rect">
            <a:avLst/>
          </a:prstGeom>
          <a:noFill/>
        </p:spPr>
        <p:txBody>
          <a:bodyPr wrap="none" rtlCol="0">
            <a:spAutoFit/>
          </a:bodyPr>
          <a:lstStyle/>
          <a:p>
            <a:pPr algn="l"/>
            <a:r>
              <a:rPr kumimoji="1" lang="zh-CN" altLang="en-US" sz="2400" b="1" spc="300" dirty="0">
                <a:gradFill>
                  <a:gsLst>
                    <a:gs pos="0">
                      <a:srgbClr val="C00000"/>
                    </a:gs>
                    <a:gs pos="100000">
                      <a:srgbClr val="C00000">
                        <a:lumMod val="59000"/>
                      </a:srgbClr>
                    </a:gs>
                  </a:gsLst>
                  <a:lin ang="5400000" scaled="1"/>
                </a:gradFill>
                <a:latin typeface="Arial" panose="020B0604020202020204" pitchFamily="34" charset="0"/>
                <a:ea typeface="微软雅黑" panose="020B0503020204020204" pitchFamily="34" charset="-122"/>
                <a:cs typeface="Arial" panose="020B0604020202020204" pitchFamily="34" charset="0"/>
              </a:rPr>
              <a:t>近些年来的</a:t>
            </a:r>
            <a:r>
              <a:rPr kumimoji="1" lang="en-US" altLang="zh-CN" sz="2400" b="1" spc="300" dirty="0">
                <a:gradFill>
                  <a:gsLst>
                    <a:gs pos="0">
                      <a:srgbClr val="C00000"/>
                    </a:gs>
                    <a:gs pos="100000">
                      <a:srgbClr val="C00000">
                        <a:lumMod val="59000"/>
                      </a:srgbClr>
                    </a:gs>
                  </a:gsLst>
                  <a:lin ang="5400000" scaled="1"/>
                </a:gradFill>
                <a:latin typeface="Arial" panose="020B0604020202020204" pitchFamily="34" charset="0"/>
                <a:ea typeface="微软雅黑" panose="020B0503020204020204" pitchFamily="34" charset="-122"/>
                <a:cs typeface="Arial" panose="020B0604020202020204" pitchFamily="34" charset="0"/>
              </a:rPr>
              <a:t>3DGS</a:t>
            </a:r>
            <a:r>
              <a:rPr kumimoji="1" lang="zh-CN" altLang="en-US" sz="2400" b="1" spc="300" dirty="0">
                <a:gradFill>
                  <a:gsLst>
                    <a:gs pos="0">
                      <a:srgbClr val="C00000"/>
                    </a:gs>
                    <a:gs pos="100000">
                      <a:srgbClr val="C00000">
                        <a:lumMod val="59000"/>
                      </a:srgbClr>
                    </a:gs>
                  </a:gsLst>
                  <a:lin ang="5400000" scaled="1"/>
                </a:gradFill>
                <a:latin typeface="Arial" panose="020B0604020202020204" pitchFamily="34" charset="0"/>
                <a:ea typeface="微软雅黑" panose="020B0503020204020204" pitchFamily="34" charset="-122"/>
                <a:cs typeface="Arial" panose="020B0604020202020204" pitchFamily="34" charset="0"/>
              </a:rPr>
              <a:t>发展</a:t>
            </a:r>
            <a:endParaRPr kumimoji="1" lang="zh-CN" altLang="en-US" sz="2400" b="1" spc="300" dirty="0">
              <a:gradFill>
                <a:gsLst>
                  <a:gs pos="0">
                    <a:srgbClr val="C00000"/>
                  </a:gs>
                  <a:gs pos="100000">
                    <a:srgbClr val="C00000">
                      <a:lumMod val="59000"/>
                    </a:srgbClr>
                  </a:gs>
                </a:gsLst>
                <a:lin ang="5400000" scaled="1"/>
              </a:gradFill>
              <a:latin typeface="Arial" panose="020B0604020202020204" pitchFamily="34" charset="0"/>
              <a:ea typeface="微软雅黑" panose="020B0503020204020204" pitchFamily="34" charset="-122"/>
              <a:cs typeface="Arial" panose="020B0604020202020204" pitchFamily="34" charset="0"/>
            </a:endParaRPr>
          </a:p>
        </p:txBody>
      </p:sp>
      <p:sp>
        <p:nvSpPr>
          <p:cNvPr id="3" name="圆角矩形 14"/>
          <p:cNvSpPr/>
          <p:nvPr/>
        </p:nvSpPr>
        <p:spPr>
          <a:xfrm>
            <a:off x="215988" y="1256972"/>
            <a:ext cx="214989" cy="214989"/>
          </a:xfrm>
          <a:prstGeom prst="roundRect">
            <a:avLst/>
          </a:prstGeom>
          <a:gradFill>
            <a:gsLst>
              <a:gs pos="0">
                <a:srgbClr val="C00000"/>
              </a:gs>
              <a:gs pos="100000">
                <a:srgbClr val="C00000">
                  <a:lumMod val="5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5" name="文本框 4"/>
          <p:cNvSpPr txBox="1"/>
          <p:nvPr/>
        </p:nvSpPr>
        <p:spPr>
          <a:xfrm>
            <a:off x="332105" y="1687830"/>
            <a:ext cx="3623310" cy="378460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语义引导的</a:t>
            </a:r>
            <a:r>
              <a:rPr kumimoji="1" lang="en-US" altLang="zh-CN" sz="1600" dirty="0">
                <a:latin typeface="微软雅黑" panose="020B0503020204020204" pitchFamily="34" charset="-122"/>
                <a:ea typeface="微软雅黑" panose="020B0503020204020204" pitchFamily="34" charset="-122"/>
              </a:rPr>
              <a:t>3D</a:t>
            </a:r>
            <a:r>
              <a:rPr kumimoji="1" lang="zh-CN" altLang="en-US" sz="1600" dirty="0">
                <a:latin typeface="微软雅黑" panose="020B0503020204020204" pitchFamily="34" charset="-122"/>
                <a:ea typeface="微软雅黑" panose="020B0503020204020204" pitchFamily="34" charset="-122"/>
              </a:rPr>
              <a:t>高斯</a:t>
            </a:r>
            <a:endParaRPr kumimoji="1" lang="zh-CN" altLang="en-US" sz="16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语义信息作为优化</a:t>
            </a:r>
            <a:r>
              <a:rPr kumimoji="1" lang="en-US" altLang="zh-CN" sz="1600" dirty="0">
                <a:latin typeface="微软雅黑" panose="020B0503020204020204" pitchFamily="34" charset="-122"/>
                <a:ea typeface="微软雅黑" panose="020B0503020204020204" pitchFamily="34" charset="-122"/>
              </a:rPr>
              <a:t>RGB</a:t>
            </a:r>
            <a:r>
              <a:rPr kumimoji="1" lang="zh-CN" altLang="en-US" sz="1600" dirty="0">
                <a:latin typeface="微软雅黑" panose="020B0503020204020204" pitchFamily="34" charset="-122"/>
                <a:ea typeface="微软雅黑" panose="020B0503020204020204" pitchFamily="34" charset="-122"/>
              </a:rPr>
              <a:t>重建信号，并未嵌入高斯本身</a:t>
            </a:r>
            <a:endParaRPr kumimoji="1" lang="en-US" altLang="zh-CN" sz="1600" dirty="0">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特征场引入</a:t>
            </a:r>
            <a:endParaRPr kumimoji="1" lang="zh-CN" altLang="en-US" sz="1600" dirty="0">
              <a:latin typeface="微软雅黑" panose="020B0503020204020204" pitchFamily="34" charset="-122"/>
              <a:ea typeface="微软雅黑" panose="020B0503020204020204" pitchFamily="34" charset="-122"/>
            </a:endParaRPr>
          </a:p>
          <a:p>
            <a:pPr marL="628650" lvl="1" indent="-1714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特征向量是视觉特征，缺乏明确语义，无法用于目标类别过滤</a:t>
            </a:r>
            <a:endParaRPr kumimoji="1" lang="en-US" altLang="zh-CN" sz="1600" dirty="0">
              <a:latin typeface="微软雅黑" panose="020B0503020204020204" pitchFamily="34" charset="-122"/>
              <a:ea typeface="微软雅黑" panose="020B0503020204020204" pitchFamily="34" charset="-122"/>
            </a:endParaRPr>
          </a:p>
          <a:p>
            <a:pPr marL="171450" lvl="0" indent="-1714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可执行、语义对齐、物理对齐</a:t>
            </a:r>
            <a:endParaRPr kumimoji="1" lang="zh-CN" altLang="en-US" sz="1600" dirty="0">
              <a:latin typeface="微软雅黑" panose="020B0503020204020204" pitchFamily="34" charset="-122"/>
              <a:ea typeface="微软雅黑" panose="020B0503020204020204" pitchFamily="34" charset="-122"/>
            </a:endParaRPr>
          </a:p>
          <a:p>
            <a:pPr marL="628650" lvl="1" indent="-1714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依然没有实现语义与几何参数的端到端联合优化</a:t>
            </a:r>
            <a:endParaRPr kumimoji="1" lang="zh-CN" altLang="en-US" sz="1600"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257230" y="1141713"/>
            <a:ext cx="2240280" cy="460375"/>
          </a:xfrm>
          <a:prstGeom prst="rect">
            <a:avLst/>
          </a:prstGeom>
          <a:noFill/>
        </p:spPr>
        <p:txBody>
          <a:bodyPr wrap="none" rtlCol="0">
            <a:spAutoFit/>
          </a:bodyPr>
          <a:lstStyle/>
          <a:p>
            <a:pPr algn="l"/>
            <a:r>
              <a:rPr kumimoji="1" lang="zh-CN" altLang="en-US" sz="2400" b="1" spc="300" dirty="0">
                <a:gradFill>
                  <a:gsLst>
                    <a:gs pos="0">
                      <a:srgbClr val="C00000"/>
                    </a:gs>
                    <a:gs pos="100000">
                      <a:srgbClr val="C00000">
                        <a:lumMod val="59000"/>
                      </a:srgbClr>
                    </a:gs>
                  </a:gsLst>
                  <a:lin ang="5400000" scaled="1"/>
                </a:gradFill>
                <a:latin typeface="Arial" panose="020B0604020202020204" pitchFamily="34" charset="0"/>
                <a:ea typeface="微软雅黑" panose="020B0503020204020204" pitchFamily="34" charset="-122"/>
                <a:cs typeface="Arial" panose="020B0604020202020204" pitchFamily="34" charset="0"/>
              </a:rPr>
              <a:t>相机位姿定位</a:t>
            </a:r>
            <a:endParaRPr kumimoji="1" lang="zh-CN" altLang="en-US" sz="2400" b="1" spc="300" dirty="0">
              <a:gradFill>
                <a:gsLst>
                  <a:gs pos="0">
                    <a:srgbClr val="C00000"/>
                  </a:gs>
                  <a:gs pos="100000">
                    <a:srgbClr val="C00000">
                      <a:lumMod val="59000"/>
                    </a:srgbClr>
                  </a:gs>
                </a:gsLst>
                <a:lin ang="5400000" scaled="1"/>
              </a:gradFill>
              <a:latin typeface="Arial" panose="020B0604020202020204" pitchFamily="34" charset="0"/>
              <a:ea typeface="微软雅黑" panose="020B0503020204020204" pitchFamily="34" charset="-122"/>
              <a:cs typeface="Arial" panose="020B0604020202020204" pitchFamily="34" charset="0"/>
            </a:endParaRPr>
          </a:p>
        </p:txBody>
      </p:sp>
      <p:sp>
        <p:nvSpPr>
          <p:cNvPr id="7" name="圆角矩形 14"/>
          <p:cNvSpPr/>
          <p:nvPr/>
        </p:nvSpPr>
        <p:spPr>
          <a:xfrm>
            <a:off x="4970233" y="1256972"/>
            <a:ext cx="214989" cy="214989"/>
          </a:xfrm>
          <a:prstGeom prst="roundRect">
            <a:avLst/>
          </a:prstGeom>
          <a:gradFill>
            <a:gsLst>
              <a:gs pos="0">
                <a:srgbClr val="C00000"/>
              </a:gs>
              <a:gs pos="100000">
                <a:srgbClr val="C00000">
                  <a:lumMod val="5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10" name="文本框 9"/>
          <p:cNvSpPr txBox="1"/>
          <p:nvPr/>
        </p:nvSpPr>
        <p:spPr>
          <a:xfrm>
            <a:off x="4565650" y="1602105"/>
            <a:ext cx="3623310" cy="378460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图像检索</a:t>
            </a:r>
            <a:endParaRPr kumimoji="1" lang="zh-CN" altLang="en-US" sz="16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效率高，但扩展性较差</a:t>
            </a:r>
            <a:endParaRPr kumimoji="1" lang="en-US" altLang="zh-CN" sz="1600" dirty="0">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运动恢复结构</a:t>
            </a:r>
            <a:r>
              <a:rPr kumimoji="1" lang="en-US" altLang="zh-CN" sz="1600" dirty="0">
                <a:latin typeface="微软雅黑" panose="020B0503020204020204" pitchFamily="34" charset="-122"/>
                <a:ea typeface="微软雅黑" panose="020B0503020204020204" pitchFamily="34" charset="-122"/>
              </a:rPr>
              <a:t>SFM</a:t>
            </a:r>
            <a:endParaRPr kumimoji="1" lang="zh-CN" altLang="en-US" sz="1600" dirty="0">
              <a:latin typeface="微软雅黑" panose="020B0503020204020204" pitchFamily="34" charset="-122"/>
              <a:ea typeface="微软雅黑" panose="020B0503020204020204" pitchFamily="34" charset="-122"/>
            </a:endParaRPr>
          </a:p>
          <a:p>
            <a:pPr marL="628650" lvl="1" indent="-1714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显示的</a:t>
            </a:r>
            <a:r>
              <a:rPr kumimoji="1" lang="en-US" altLang="zh-CN" sz="1600" dirty="0">
                <a:latin typeface="微软雅黑" panose="020B0503020204020204" pitchFamily="34" charset="-122"/>
                <a:ea typeface="微软雅黑" panose="020B0503020204020204" pitchFamily="34" charset="-122"/>
              </a:rPr>
              <a:t>2D-3D</a:t>
            </a:r>
            <a:r>
              <a:rPr kumimoji="1" lang="zh-CN" altLang="en-US" sz="1600" dirty="0">
                <a:latin typeface="微软雅黑" panose="020B0503020204020204" pitchFamily="34" charset="-122"/>
                <a:ea typeface="微软雅黑" panose="020B0503020204020204" pitchFamily="34" charset="-122"/>
              </a:rPr>
              <a:t>对应关系</a:t>
            </a:r>
            <a:endParaRPr kumimoji="1" lang="zh-CN" altLang="en-US" sz="1600" dirty="0">
              <a:latin typeface="微软雅黑" panose="020B0503020204020204" pitchFamily="34" charset="-122"/>
              <a:ea typeface="微软雅黑" panose="020B0503020204020204" pitchFamily="34" charset="-122"/>
            </a:endParaRPr>
          </a:p>
          <a:p>
            <a:pPr marL="628650" lvl="1" indent="-1714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精度高，但是内存开销较大没速度慢</a:t>
            </a:r>
            <a:endParaRPr kumimoji="1" lang="en-US" altLang="zh-CN" sz="1600" dirty="0">
              <a:latin typeface="微软雅黑" panose="020B0503020204020204" pitchFamily="34" charset="-122"/>
              <a:ea typeface="微软雅黑" panose="020B0503020204020204" pitchFamily="34" charset="-122"/>
            </a:endParaRPr>
          </a:p>
          <a:p>
            <a:pPr marL="171450" lvl="0" indent="-1714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rPr>
              <a:t>端到端的神经网络的方法</a:t>
            </a:r>
            <a:endParaRPr kumimoji="1" lang="zh-CN" altLang="en-US" sz="1600" dirty="0">
              <a:latin typeface="微软雅黑" panose="020B0503020204020204" pitchFamily="34" charset="-122"/>
              <a:ea typeface="微软雅黑" panose="020B0503020204020204" pitchFamily="34" charset="-122"/>
            </a:endParaRPr>
          </a:p>
          <a:p>
            <a:pPr marL="628650" lvl="1" indent="-171450">
              <a:lnSpc>
                <a:spcPct val="15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sym typeface="+mn-ea"/>
              </a:rPr>
              <a:t>往往普遍存在推理速度慢、训练时间长以及存储开销大的问题</a:t>
            </a:r>
            <a:endParaRPr kumimoji="1" lang="zh-CN" altLang="en-US" sz="16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8502650" y="2085975"/>
            <a:ext cx="3531870" cy="2477135"/>
          </a:xfrm>
          <a:prstGeom prst="rect">
            <a:avLst/>
          </a:prstGeom>
          <a:noFill/>
        </p:spPr>
        <p:txBody>
          <a:bodyPr wrap="square" rtlCol="0">
            <a:noAutofit/>
          </a:bodyPr>
          <a:lstStyle/>
          <a:p>
            <a:pPr marL="285750" indent="-285750">
              <a:lnSpc>
                <a:spcPct val="130000"/>
              </a:lnSpc>
              <a:buFont typeface="Arial" panose="020B0604020202020204" pitchFamily="34" charset="0"/>
              <a:buChar char="•"/>
            </a:pPr>
            <a:r>
              <a:rPr kumimoji="1" lang="zh-CN" altLang="en-US" sz="2000" b="1" dirty="0">
                <a:solidFill>
                  <a:srgbClr val="FF0000"/>
                </a:solidFill>
                <a:latin typeface="微软雅黑" panose="020B0503020204020204" pitchFamily="34" charset="-122"/>
                <a:ea typeface="微软雅黑" panose="020B0503020204020204" pitchFamily="34" charset="-122"/>
              </a:rPr>
              <a:t>语义表示不充分</a:t>
            </a:r>
            <a:endParaRPr kumimoji="1" lang="en-US" altLang="zh-CN" sz="2000" b="1" dirty="0">
              <a:solidFill>
                <a:srgbClr val="FF0000"/>
              </a:solidFill>
              <a:latin typeface="微软雅黑" panose="020B0503020204020204" pitchFamily="34" charset="-122"/>
              <a:ea typeface="微软雅黑" panose="020B0503020204020204" pitchFamily="34" charset="-122"/>
            </a:endParaRPr>
          </a:p>
          <a:p>
            <a:pPr marL="742950" lvl="1" indent="-285750">
              <a:lnSpc>
                <a:spcPct val="130000"/>
              </a:lnSpc>
              <a:buFont typeface="Arial" panose="020B0604020202020204" pitchFamily="34" charset="0"/>
              <a:buChar char="•"/>
            </a:pPr>
            <a:r>
              <a:rPr kumimoji="1" lang="zh-CN" altLang="en-US" sz="2000" dirty="0">
                <a:latin typeface="微软雅黑" panose="020B0503020204020204" pitchFamily="34" charset="-122"/>
                <a:ea typeface="微软雅黑" panose="020B0503020204020204" pitchFamily="34" charset="-122"/>
              </a:rPr>
              <a:t>大多数仍采用静态标签不参与优化</a:t>
            </a:r>
            <a:endParaRPr kumimoji="1" lang="en-US" altLang="zh-CN" sz="20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kumimoji="1" lang="zh-CN" altLang="en-US" sz="2000" b="1" dirty="0">
                <a:solidFill>
                  <a:srgbClr val="FF0000"/>
                </a:solidFill>
                <a:latin typeface="微软雅黑" panose="020B0503020204020204" pitchFamily="34" charset="-122"/>
                <a:ea typeface="微软雅黑" panose="020B0503020204020204" pitchFamily="34" charset="-122"/>
              </a:rPr>
              <a:t>实例定位精度不足</a:t>
            </a:r>
            <a:endParaRPr kumimoji="1" lang="en-US" altLang="zh-CN" sz="2000" b="1" dirty="0">
              <a:solidFill>
                <a:srgbClr val="FF0000"/>
              </a:solidFill>
              <a:latin typeface="微软雅黑" panose="020B0503020204020204" pitchFamily="34" charset="-122"/>
              <a:ea typeface="微软雅黑" panose="020B0503020204020204" pitchFamily="34" charset="-122"/>
            </a:endParaRPr>
          </a:p>
          <a:p>
            <a:pPr marL="742950" lvl="1" indent="-285750">
              <a:lnSpc>
                <a:spcPct val="130000"/>
              </a:lnSpc>
              <a:buFont typeface="Arial" panose="020B0604020202020204" pitchFamily="34" charset="0"/>
              <a:buChar char="•"/>
            </a:pPr>
            <a:r>
              <a:rPr kumimoji="1" lang="zh-CN" altLang="en-US" sz="2000" dirty="0">
                <a:latin typeface="微软雅黑" panose="020B0503020204020204" pitchFamily="34" charset="-122"/>
                <a:ea typeface="微软雅黑" panose="020B0503020204020204" pitchFamily="34" charset="-122"/>
              </a:rPr>
              <a:t>缺乏对</a:t>
            </a:r>
            <a:r>
              <a:rPr kumimoji="1" lang="en-US" altLang="zh-CN" sz="2000" dirty="0">
                <a:latin typeface="微软雅黑" panose="020B0503020204020204" pitchFamily="34" charset="-122"/>
                <a:ea typeface="微软雅黑" panose="020B0503020204020204" pitchFamily="34" charset="-122"/>
              </a:rPr>
              <a:t>IIN</a:t>
            </a:r>
            <a:r>
              <a:rPr kumimoji="1" lang="zh-CN" altLang="en-US" sz="2000" dirty="0">
                <a:latin typeface="微软雅黑" panose="020B0503020204020204" pitchFamily="34" charset="-122"/>
                <a:ea typeface="微软雅黑" panose="020B0503020204020204" pitchFamily="34" charset="-122"/>
              </a:rPr>
              <a:t>任务的专用位姿精修机制</a:t>
            </a:r>
            <a:endParaRPr kumimoji="1"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4886512" y="1587570"/>
            <a:ext cx="2752677" cy="2862322"/>
          </a:xfrm>
          <a:prstGeom prst="rect">
            <a:avLst/>
          </a:prstGeom>
          <a:noFill/>
        </p:spPr>
        <p:txBody>
          <a:bodyPr wrap="none" rtlCol="0">
            <a:spAutoFit/>
          </a:bodyPr>
          <a:lstStyle/>
          <a:p>
            <a:pPr algn="ctr"/>
            <a:r>
              <a:rPr kumimoji="1" lang="en-US" altLang="zh-CN" sz="18000" b="1" dirty="0">
                <a:ln w="47625" cap="rnd">
                  <a:gradFill>
                    <a:gsLst>
                      <a:gs pos="0">
                        <a:srgbClr val="C00000"/>
                      </a:gs>
                      <a:gs pos="70000">
                        <a:srgbClr val="C00000">
                          <a:alpha val="0"/>
                        </a:srgbClr>
                      </a:gs>
                    </a:gsLst>
                    <a:lin ang="5400000" scaled="1"/>
                  </a:gradFill>
                </a:ln>
                <a:gradFill>
                  <a:gsLst>
                    <a:gs pos="0">
                      <a:srgbClr val="C00000">
                        <a:alpha val="13000"/>
                      </a:srgbClr>
                    </a:gs>
                    <a:gs pos="70000">
                      <a:srgbClr val="C00000">
                        <a:alpha val="0"/>
                      </a:srgbClr>
                    </a:gs>
                  </a:gsLst>
                  <a:lin ang="5400000" scaled="1"/>
                </a:gradFill>
                <a:latin typeface="Arial" panose="020B0604020202020204" pitchFamily="34" charset="0"/>
                <a:ea typeface="ZhenyanGB" panose="02010600030101010101" pitchFamily="2" charset="-122"/>
                <a:cs typeface="Arial" panose="020B0604020202020204" pitchFamily="34" charset="0"/>
              </a:rPr>
              <a:t>02</a:t>
            </a:r>
            <a:endParaRPr kumimoji="1" lang="zh-CN" altLang="en-US" sz="18000" b="1" dirty="0">
              <a:ln w="47625" cap="rnd">
                <a:gradFill>
                  <a:gsLst>
                    <a:gs pos="0">
                      <a:srgbClr val="C00000"/>
                    </a:gs>
                    <a:gs pos="70000">
                      <a:srgbClr val="C00000">
                        <a:alpha val="0"/>
                      </a:srgbClr>
                    </a:gs>
                  </a:gsLst>
                  <a:lin ang="5400000" scaled="1"/>
                </a:gradFill>
              </a:ln>
              <a:gradFill>
                <a:gsLst>
                  <a:gs pos="0">
                    <a:srgbClr val="C00000">
                      <a:alpha val="13000"/>
                    </a:srgbClr>
                  </a:gs>
                  <a:gs pos="70000">
                    <a:srgbClr val="C00000">
                      <a:alpha val="0"/>
                    </a:srgbClr>
                  </a:gs>
                </a:gsLst>
                <a:lin ang="5400000" scaled="1"/>
              </a:gradFill>
              <a:latin typeface="Arial" panose="020B0604020202020204" pitchFamily="34" charset="0"/>
              <a:ea typeface="ZhenyanGB" panose="02010600030101010101" pitchFamily="2" charset="-122"/>
              <a:cs typeface="Arial" panose="020B0604020202020204" pitchFamily="34" charset="0"/>
            </a:endParaRPr>
          </a:p>
        </p:txBody>
      </p:sp>
      <p:sp>
        <p:nvSpPr>
          <p:cNvPr id="14" name="文本框 13"/>
          <p:cNvSpPr txBox="1"/>
          <p:nvPr/>
        </p:nvSpPr>
        <p:spPr>
          <a:xfrm>
            <a:off x="4556760" y="3573006"/>
            <a:ext cx="3078480" cy="1753235"/>
          </a:xfrm>
          <a:prstGeom prst="rect">
            <a:avLst/>
          </a:prstGeom>
          <a:noFill/>
        </p:spPr>
        <p:txBody>
          <a:bodyPr wrap="none" rtlCol="0">
            <a:spAutoFit/>
          </a:bodyPr>
          <a:lstStyle/>
          <a:p>
            <a:pPr algn="l"/>
            <a:r>
              <a:rPr kumimoji="1" lang="zh-CN" altLang="en-US" sz="5400" b="1" spc="300" dirty="0">
                <a:gradFill>
                  <a:gsLst>
                    <a:gs pos="0">
                      <a:srgbClr val="C00000"/>
                    </a:gs>
                    <a:gs pos="100000">
                      <a:srgbClr val="F87768"/>
                    </a:gs>
                  </a:gsLst>
                  <a:lin ang="5400000" scaled="0"/>
                </a:gradFill>
                <a:latin typeface="Arial" panose="020B0604020202020204" pitchFamily="34" charset="0"/>
                <a:ea typeface="微软雅黑" panose="020B0503020204020204" pitchFamily="34" charset="-122"/>
                <a:cs typeface="Arial" panose="020B0604020202020204" pitchFamily="34" charset="0"/>
              </a:rPr>
              <a:t>本文工作</a:t>
            </a:r>
            <a:endParaRPr kumimoji="1" lang="en-US" altLang="zh-CN" sz="5400" b="1" spc="300" dirty="0">
              <a:gradFill>
                <a:gsLst>
                  <a:gs pos="0">
                    <a:srgbClr val="C00000"/>
                  </a:gs>
                  <a:gs pos="100000">
                    <a:srgbClr val="F87768"/>
                  </a:gs>
                </a:gsLst>
                <a:lin ang="5400000" scaled="0"/>
              </a:gradFill>
              <a:latin typeface="Arial" panose="020B0604020202020204" pitchFamily="34" charset="0"/>
              <a:ea typeface="微软雅黑" panose="020B0503020204020204" pitchFamily="34" charset="-122"/>
              <a:cs typeface="Arial" panose="020B0604020202020204" pitchFamily="34" charset="0"/>
            </a:endParaRPr>
          </a:p>
          <a:p>
            <a:pPr algn="l"/>
            <a:endParaRPr kumimoji="1" lang="zh-CN" altLang="en-US" sz="5400" b="1" spc="300" dirty="0">
              <a:gradFill>
                <a:gsLst>
                  <a:gs pos="0">
                    <a:srgbClr val="C00000"/>
                  </a:gs>
                  <a:gs pos="100000">
                    <a:srgbClr val="F87768"/>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2"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3"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4"/>
            <a:stretch>
              <a:fillRect/>
            </a:stretch>
          </p:blipFill>
          <p:spPr>
            <a:xfrm>
              <a:off x="133400" y="6453336"/>
              <a:ext cx="2362200" cy="482600"/>
            </a:xfrm>
            <a:prstGeom prst="rect">
              <a:avLst/>
            </a:prstGeom>
          </p:spPr>
        </p:pic>
      </p:grpSp>
      <p:sp>
        <p:nvSpPr>
          <p:cNvPr id="26" name="文本框 25"/>
          <p:cNvSpPr txBox="1"/>
          <p:nvPr/>
        </p:nvSpPr>
        <p:spPr>
          <a:xfrm>
            <a:off x="175107" y="116852"/>
            <a:ext cx="607060" cy="46037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02</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3647152"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本文工作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主要贡献</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9" name="组合 8"/>
          <p:cNvGrpSpPr/>
          <p:nvPr/>
        </p:nvGrpSpPr>
        <p:grpSpPr>
          <a:xfrm>
            <a:off x="1733354" y="1257607"/>
            <a:ext cx="8107062" cy="3847936"/>
            <a:chOff x="839416" y="4170998"/>
            <a:chExt cx="6051535" cy="2162602"/>
          </a:xfrm>
        </p:grpSpPr>
        <p:sp>
          <p:nvSpPr>
            <p:cNvPr id="15" name="矩形 14"/>
            <p:cNvSpPr/>
            <p:nvPr/>
          </p:nvSpPr>
          <p:spPr>
            <a:xfrm>
              <a:off x="839416" y="4663758"/>
              <a:ext cx="6051535" cy="1669842"/>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r>
                <a:rPr kumimoji="1" lang="zh-CN" altLang="en-US"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rPr>
                <a:t>高斯语义信息融合与监督优化</a:t>
              </a:r>
              <a:endParaRPr kumimoji="1" lang="en-US" altLang="zh-CN"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引入</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Yolo26</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语义分割模型输出的物体实例语义，为高斯新增语义标签并实现语义标签的监督优化</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30000"/>
                </a:lnSpc>
                <a:buFont typeface="Arial" panose="020B0604020202020204" pitchFamily="34" charset="0"/>
                <a:buChar char="•"/>
              </a:pPr>
              <a:r>
                <a:rPr kumimoji="1" lang="zh-CN" altLang="en-US"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rPr>
                <a:t>对齐目标图像的具体位姿</a:t>
              </a:r>
              <a:endParaRPr kumimoji="1" lang="en-US" altLang="zh-CN"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在</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GaussNav</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框架中融合</a:t>
              </a:r>
              <a:r>
                <a:rPr kumimoji="1" lang="en-US" altLang="zh-CN" sz="1600" spc="300" dirty="0" err="1">
                  <a:latin typeface="Arial" panose="020B0604020202020204" pitchFamily="34" charset="0"/>
                  <a:ea typeface="微软雅黑" panose="020B0503020204020204" pitchFamily="34" charset="-122"/>
                  <a:cs typeface="Arial" panose="020B0604020202020204" pitchFamily="34" charset="0"/>
                </a:rPr>
                <a:t>GSplatLoc</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提供的基于高斯渲染优化后的图像扭曲技术，实现渲染视角向目标视角的对齐</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目标导航</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利用优化后的语义高斯表示，结合基于</a:t>
              </a:r>
              <a:r>
                <a:rPr kumimoji="1" lang="en-US" altLang="zh-CN" sz="1600" spc="300" dirty="0" err="1">
                  <a:latin typeface="Arial" panose="020B0604020202020204" pitchFamily="34" charset="0"/>
                  <a:ea typeface="微软雅黑" panose="020B0503020204020204" pitchFamily="34" charset="-122"/>
                  <a:cs typeface="Arial" panose="020B0604020202020204" pitchFamily="34" charset="0"/>
                </a:rPr>
                <a:t>LightGlue+Disk</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的特征提取与匹配方案的目标位姿估计，实现目标导航</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18" name="圆角矩形 17"/>
            <p:cNvSpPr/>
            <p:nvPr/>
          </p:nvSpPr>
          <p:spPr>
            <a:xfrm>
              <a:off x="941260" y="442513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19" name="文本框 18"/>
            <p:cNvSpPr txBox="1"/>
            <p:nvPr/>
          </p:nvSpPr>
          <p:spPr>
            <a:xfrm>
              <a:off x="839416" y="4170998"/>
              <a:ext cx="5887045" cy="224121"/>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基于语义增强</a:t>
              </a:r>
              <a:r>
                <a:rPr kumimoji="1" lang="en-US" altLang="zh-CN"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3D</a:t>
              </a:r>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高斯泼溅的模块化视觉导航框架</a:t>
              </a:r>
              <a:r>
                <a:rPr kumimoji="1" lang="en-US" altLang="zh-CN" sz="2000" b="1" spc="300" dirty="0" err="1">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GSGuide</a:t>
              </a:r>
              <a:r>
                <a:rPr kumimoji="1" lang="en-US" altLang="zh-CN"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 </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607060" cy="46037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02</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4339650"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本文工作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任务总体概览</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pic>
        <p:nvPicPr>
          <p:cNvPr id="3" name="图片 2"/>
          <p:cNvPicPr>
            <a:picLocks noChangeAspect="1"/>
          </p:cNvPicPr>
          <p:nvPr/>
        </p:nvPicPr>
        <p:blipFill>
          <a:blip r:embed="rId4"/>
          <a:stretch>
            <a:fillRect/>
          </a:stretch>
        </p:blipFill>
        <p:spPr>
          <a:xfrm>
            <a:off x="236067" y="959991"/>
            <a:ext cx="11911404" cy="50571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2"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3"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4"/>
            <a:stretch>
              <a:fillRect/>
            </a:stretch>
          </p:blipFill>
          <p:spPr>
            <a:xfrm>
              <a:off x="133400" y="6453336"/>
              <a:ext cx="2362200" cy="482600"/>
            </a:xfrm>
            <a:prstGeom prst="rect">
              <a:avLst/>
            </a:prstGeom>
          </p:spPr>
        </p:pic>
      </p:grpSp>
      <p:sp>
        <p:nvSpPr>
          <p:cNvPr id="26" name="文本框 25"/>
          <p:cNvSpPr txBox="1"/>
          <p:nvPr/>
        </p:nvSpPr>
        <p:spPr>
          <a:xfrm>
            <a:off x="175107" y="116852"/>
            <a:ext cx="607060" cy="46037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02</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6012180" cy="46037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本人工作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环境探索与语义高斯构建</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9" name="组合 8"/>
          <p:cNvGrpSpPr/>
          <p:nvPr/>
        </p:nvGrpSpPr>
        <p:grpSpPr>
          <a:xfrm>
            <a:off x="581796" y="1477401"/>
            <a:ext cx="5366149" cy="4338958"/>
            <a:chOff x="839416" y="4170998"/>
            <a:chExt cx="5248573" cy="2822726"/>
          </a:xfrm>
        </p:grpSpPr>
        <p:sp>
          <p:nvSpPr>
            <p:cNvPr id="15" name="矩形 14"/>
            <p:cNvSpPr/>
            <p:nvPr/>
          </p:nvSpPr>
          <p:spPr>
            <a:xfrm>
              <a:off x="839416" y="4663644"/>
              <a:ext cx="5248573" cy="233008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保留了原始</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3D</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高斯的基元表核心与可微分渲染能力</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30000"/>
                </a:lnSpc>
                <a:buFont typeface="Arial" panose="020B0604020202020204" pitchFamily="34" charset="0"/>
                <a:buChar char="•"/>
              </a:pPr>
              <a:r>
                <a:rPr kumimoji="1" lang="zh-CN" altLang="en-US" sz="1600" b="1" spc="300" dirty="0">
                  <a:latin typeface="Arial" panose="020B0604020202020204" pitchFamily="34" charset="0"/>
                  <a:ea typeface="微软雅黑" panose="020B0503020204020204" pitchFamily="34" charset="-122"/>
                  <a:cs typeface="Arial" panose="020B0604020202020204" pitchFamily="34" charset="0"/>
                </a:rPr>
                <a:t>本文提出的高斯核心参数表示为：</a:t>
              </a:r>
              <a:endParaRPr kumimoji="1" lang="en-US" altLang="zh-CN" sz="1600" b="1"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30000"/>
                </a:lnSpc>
                <a:buFont typeface="Arial" panose="020B0604020202020204" pitchFamily="34" charset="0"/>
                <a:buChar char="•"/>
              </a:pP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30000"/>
                </a:lnSpc>
                <a:buFont typeface="Arial" panose="020B0604020202020204" pitchFamily="34" charset="0"/>
                <a:buChar char="•"/>
              </a:pP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30000"/>
                </a:lnSpc>
                <a:buFont typeface="Arial" panose="020B0604020202020204" pitchFamily="34" charset="0"/>
                <a:buChar char="•"/>
              </a:pP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物体的整体颜色和纹理特征已经足够支撑实例级匹配需求</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实验用到的</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Habitat-sim</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模拟器提供的场景本身不存在基于球谐函数的不同角度的颜色表示方式</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18" name="圆角矩形 17"/>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19" name="文本框 18"/>
            <p:cNvSpPr txBox="1"/>
            <p:nvPr/>
          </p:nvSpPr>
          <p:spPr>
            <a:xfrm>
              <a:off x="839416" y="4170998"/>
              <a:ext cx="2949846"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简化后的</a:t>
              </a:r>
              <a:r>
                <a:rPr kumimoji="1" lang="en-US" altLang="zh-CN"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3D</a:t>
              </a:r>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高斯表示</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pic>
        <p:nvPicPr>
          <p:cNvPr id="7" name="图片 6"/>
          <p:cNvPicPr>
            <a:picLocks noChangeAspect="1"/>
          </p:cNvPicPr>
          <p:nvPr/>
        </p:nvPicPr>
        <p:blipFill>
          <a:blip r:embed="rId5"/>
          <a:stretch>
            <a:fillRect/>
          </a:stretch>
        </p:blipFill>
        <p:spPr>
          <a:xfrm>
            <a:off x="1218528" y="3219058"/>
            <a:ext cx="4542503" cy="806458"/>
          </a:xfrm>
          <a:prstGeom prst="rect">
            <a:avLst/>
          </a:prstGeom>
        </p:spPr>
      </p:pic>
      <p:sp>
        <p:nvSpPr>
          <p:cNvPr id="13" name="矩形 12"/>
          <p:cNvSpPr/>
          <p:nvPr/>
        </p:nvSpPr>
        <p:spPr>
          <a:xfrm>
            <a:off x="6442455" y="2234673"/>
            <a:ext cx="5063624" cy="166116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r>
              <a:rPr kumimoji="1" lang="zh-CN" altLang="en-US" sz="1600" b="1" spc="300" dirty="0">
                <a:latin typeface="Arial" panose="020B0604020202020204" pitchFamily="34" charset="0"/>
                <a:ea typeface="微软雅黑" panose="020B0503020204020204" pitchFamily="34" charset="-122"/>
                <a:cs typeface="Arial" panose="020B0604020202020204" pitchFamily="34" charset="0"/>
              </a:rPr>
              <a:t>进一步将所有高斯约束为各向同性使其退化为一个球体</a:t>
            </a:r>
            <a:endParaRPr kumimoji="1" lang="en-US" altLang="zh-CN" sz="1600" b="1"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不需要毫米级别的精度</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球形高斯已经能够足够表示场景的整体结构与物体实例形状</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607060" cy="46037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02</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6012180" cy="46037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本人工作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环境探索与语义高斯构建</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317273" y="951777"/>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1954381"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语义高斯构建</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8" name="矩形 7"/>
          <p:cNvSpPr/>
          <p:nvPr/>
        </p:nvSpPr>
        <p:spPr>
          <a:xfrm>
            <a:off x="317273" y="1597921"/>
            <a:ext cx="2956095" cy="3930650"/>
          </a:xfrm>
          <a:prstGeom prst="rect">
            <a:avLst/>
          </a:prstGeom>
        </p:spPr>
        <p:txBody>
          <a:bodyPr wrap="square">
            <a:spAutoFit/>
          </a:bodyPr>
          <a:lstStyle/>
          <a:p>
            <a:pPr marL="285750" lvl="0" indent="-285750" algn="just"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将原始</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GaussNav</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静态语义标签抓变为</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7</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维语义向量</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lvl="0" indent="-285750" algn="just"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自适应通道渲染</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复用</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RGB</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渲染方法，调整为自适应通道数，能够适配语义渲染和</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RGB</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渲染</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选取贡献度最大的高斯所带有的语义标签作为该像素的语义内容</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多种语义损失共同监督</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pic>
        <p:nvPicPr>
          <p:cNvPr id="3" name="图片 2"/>
          <p:cNvPicPr>
            <a:picLocks noChangeAspect="1"/>
          </p:cNvPicPr>
          <p:nvPr/>
        </p:nvPicPr>
        <p:blipFill>
          <a:blip r:embed="rId4"/>
          <a:stretch>
            <a:fillRect/>
          </a:stretch>
        </p:blipFill>
        <p:spPr>
          <a:xfrm>
            <a:off x="3542447" y="1178932"/>
            <a:ext cx="8230436" cy="492194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grpSp>
        <p:nvGrpSpPr>
          <p:cNvPr id="23" name="组合 22"/>
          <p:cNvGrpSpPr/>
          <p:nvPr/>
        </p:nvGrpSpPr>
        <p:grpSpPr>
          <a:xfrm>
            <a:off x="0" y="-1"/>
            <a:ext cx="12192000" cy="6858002"/>
            <a:chOff x="0" y="-1"/>
            <a:chExt cx="12192000" cy="6858002"/>
          </a:xfrm>
        </p:grpSpPr>
        <p:sp>
          <p:nvSpPr>
            <p:cNvPr id="24" name="矩形 23"/>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25" name="矩形 24"/>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29" name="矩形 28"/>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0" name="组合 29"/>
          <p:cNvGrpSpPr/>
          <p:nvPr/>
        </p:nvGrpSpPr>
        <p:grpSpPr>
          <a:xfrm>
            <a:off x="133400" y="140547"/>
            <a:ext cx="11901234" cy="6795389"/>
            <a:chOff x="133400" y="140547"/>
            <a:chExt cx="11901234" cy="6795389"/>
          </a:xfrm>
        </p:grpSpPr>
        <p:pic>
          <p:nvPicPr>
            <p:cNvPr id="31" name="图片 30"/>
            <p:cNvPicPr>
              <a:picLocks noChangeAspect="1"/>
            </p:cNvPicPr>
            <p:nvPr/>
          </p:nvPicPr>
          <p:blipFill>
            <a:blip r:embed="rId2" cstate="screen">
              <a:alphaModFix amt="70000"/>
            </a:blip>
            <a:stretch>
              <a:fillRect/>
            </a:stretch>
          </p:blipFill>
          <p:spPr>
            <a:xfrm>
              <a:off x="9840416" y="140547"/>
              <a:ext cx="2031325" cy="403124"/>
            </a:xfrm>
            <a:prstGeom prst="rect">
              <a:avLst/>
            </a:prstGeom>
          </p:spPr>
        </p:pic>
        <p:pic>
          <p:nvPicPr>
            <p:cNvPr id="32" name="图片 31"/>
            <p:cNvPicPr>
              <a:picLocks noChangeAspect="1"/>
            </p:cNvPicPr>
            <p:nvPr/>
          </p:nvPicPr>
          <p:blipFill>
            <a:blip r:embed="rId3" cstate="screen">
              <a:alphaModFix amt="50000"/>
            </a:blip>
            <a:stretch>
              <a:fillRect/>
            </a:stretch>
          </p:blipFill>
          <p:spPr>
            <a:xfrm>
              <a:off x="8996245" y="6572902"/>
              <a:ext cx="3038389" cy="185483"/>
            </a:xfrm>
            <a:prstGeom prst="rect">
              <a:avLst/>
            </a:prstGeom>
          </p:spPr>
        </p:pic>
        <p:pic>
          <p:nvPicPr>
            <p:cNvPr id="33" name="图片 32" descr="图片包含 游戏机, 画, 钟表&#10;&#10;描述已自动生成"/>
            <p:cNvPicPr>
              <a:picLocks noChangeAspect="1"/>
            </p:cNvPicPr>
            <p:nvPr/>
          </p:nvPicPr>
          <p:blipFill>
            <a:blip r:embed="rId4"/>
            <a:stretch>
              <a:fillRect/>
            </a:stretch>
          </p:blipFill>
          <p:spPr>
            <a:xfrm>
              <a:off x="133400" y="6453336"/>
              <a:ext cx="2362200" cy="482600"/>
            </a:xfrm>
            <a:prstGeom prst="rect">
              <a:avLst/>
            </a:prstGeom>
          </p:spPr>
        </p:pic>
      </p:grpSp>
      <p:sp>
        <p:nvSpPr>
          <p:cNvPr id="26" name="文本框 25"/>
          <p:cNvSpPr txBox="1"/>
          <p:nvPr/>
        </p:nvSpPr>
        <p:spPr>
          <a:xfrm>
            <a:off x="175107" y="116852"/>
            <a:ext cx="607060" cy="46037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02</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6070893"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本文工作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目标定位与相机位姿估计</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pic>
        <p:nvPicPr>
          <p:cNvPr id="12" name="图片 11"/>
          <p:cNvPicPr>
            <a:picLocks noChangeAspect="1"/>
          </p:cNvPicPr>
          <p:nvPr/>
        </p:nvPicPr>
        <p:blipFill>
          <a:blip r:embed="rId5"/>
          <a:srcRect l="848" r="848"/>
          <a:stretch>
            <a:fillRect/>
          </a:stretch>
        </p:blipFill>
        <p:spPr>
          <a:xfrm>
            <a:off x="317273" y="1592200"/>
            <a:ext cx="11608596" cy="4215514"/>
          </a:xfrm>
          <a:prstGeom prst="rect">
            <a:avLst/>
          </a:prstGeom>
        </p:spPr>
      </p:pic>
      <p:grpSp>
        <p:nvGrpSpPr>
          <p:cNvPr id="14" name="组合 13"/>
          <p:cNvGrpSpPr/>
          <p:nvPr/>
        </p:nvGrpSpPr>
        <p:grpSpPr>
          <a:xfrm>
            <a:off x="317273" y="951777"/>
            <a:ext cx="5248573" cy="873456"/>
            <a:chOff x="839416" y="4170998"/>
            <a:chExt cx="5248573" cy="873456"/>
          </a:xfrm>
        </p:grpSpPr>
        <p:sp>
          <p:nvSpPr>
            <p:cNvPr id="15" name="矩形 14"/>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16"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17" name="文本框 16"/>
            <p:cNvSpPr txBox="1"/>
            <p:nvPr/>
          </p:nvSpPr>
          <p:spPr>
            <a:xfrm>
              <a:off x="839416" y="4170998"/>
              <a:ext cx="1364476"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算法流程</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607060" cy="46037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02</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6012180" cy="46037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本文工作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目标定位与相机位姿估计</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602409" y="1232917"/>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1069524"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分类器</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8" name="矩形 7"/>
          <p:cNvSpPr/>
          <p:nvPr/>
        </p:nvSpPr>
        <p:spPr>
          <a:xfrm>
            <a:off x="317273" y="1751164"/>
            <a:ext cx="5454262" cy="3538220"/>
          </a:xfrm>
          <a:prstGeom prst="rect">
            <a:avLst/>
          </a:prstGeom>
        </p:spPr>
        <p:txBody>
          <a:bodyPr wrap="square">
            <a:spAutoFit/>
          </a:bodyPr>
          <a:lstStyle/>
          <a:p>
            <a:pPr marL="285750" indent="-285750" algn="just" hangingPunct="0">
              <a:lnSpc>
                <a:spcPct val="20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直接将目标图像与场景中所有物体实例进行比对容易引起搜索空间过大</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20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使用</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Yolo</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团队官方提供的预训练好的</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Yolo26</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模型作为分类器，通过分类器预测目标图像中的物体语义类别</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20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在语义高斯场景中提取相应的物体实例并加载对应的相机拍摄视角</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p:cNvPicPr>
            <a:picLocks noChangeAspect="1"/>
          </p:cNvPicPr>
          <p:nvPr/>
        </p:nvPicPr>
        <p:blipFill>
          <a:blip r:embed="rId4"/>
          <a:stretch>
            <a:fillRect/>
          </a:stretch>
        </p:blipFill>
        <p:spPr>
          <a:xfrm>
            <a:off x="6023638" y="1154114"/>
            <a:ext cx="4762349" cy="50024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607060" cy="46037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02</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6012180" cy="46037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本文工作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目标定位与相机位姿估计</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744582" y="1010209"/>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1659429"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匹配与定位</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8" name="矩形 7"/>
          <p:cNvSpPr/>
          <p:nvPr/>
        </p:nvSpPr>
        <p:spPr>
          <a:xfrm>
            <a:off x="641738" y="1550405"/>
            <a:ext cx="5454262" cy="3415030"/>
          </a:xfrm>
          <a:prstGeom prst="rect">
            <a:avLst/>
          </a:prstGeom>
        </p:spPr>
        <p:txBody>
          <a:bodyPr wrap="square">
            <a:spAutoFit/>
          </a:bodyPr>
          <a:lstStyle/>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根据分类器预测的目标类别，提取语义高斯地图中包含所有该类别的物体实例与相应的相机位姿</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相机坐标系到世界坐标系的转换</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针对候选图像，使用</a:t>
            </a:r>
            <a:r>
              <a:rPr kumimoji="1" lang="en-US" altLang="zh-CN" sz="1600" spc="300" dirty="0" err="1">
                <a:latin typeface="Arial" panose="020B0604020202020204" pitchFamily="34" charset="0"/>
                <a:ea typeface="微软雅黑" panose="020B0503020204020204" pitchFamily="34" charset="-122"/>
                <a:cs typeface="Arial" panose="020B0604020202020204" pitchFamily="34" charset="0"/>
              </a:rPr>
              <a:t>LightGlue+DISK</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进行特征点提取与匹配作为初始位姿估计</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使用</a:t>
            </a:r>
            <a:r>
              <a:rPr kumimoji="1" lang="en-US" altLang="zh-CN" sz="1600" spc="300" dirty="0" err="1">
                <a:latin typeface="Arial" panose="020B0604020202020204" pitchFamily="34" charset="0"/>
                <a:ea typeface="微软雅黑" panose="020B0503020204020204" pitchFamily="34" charset="-122"/>
                <a:cs typeface="Arial" panose="020B0604020202020204" pitchFamily="34" charset="0"/>
              </a:rPr>
              <a:t>GSplatLoc</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中提出的单次渲染的</a:t>
            </a:r>
            <a:r>
              <a:rPr kumimoji="1" lang="en-US" altLang="zh-CN" sz="1600" b="1" spc="300" dirty="0">
                <a:latin typeface="Arial" panose="020B0604020202020204" pitchFamily="34" charset="0"/>
                <a:ea typeface="微软雅黑" panose="020B0503020204020204" pitchFamily="34" charset="-122"/>
                <a:cs typeface="Arial" panose="020B0604020202020204" pitchFamily="34" charset="0"/>
              </a:rPr>
              <a:t>Warping Loss</a:t>
            </a:r>
            <a:r>
              <a:rPr kumimoji="1" lang="zh-CN" altLang="en-US" sz="1600" b="1" spc="300" dirty="0">
                <a:latin typeface="Arial" panose="020B0604020202020204" pitchFamily="34" charset="0"/>
                <a:ea typeface="微软雅黑" panose="020B0503020204020204" pitchFamily="34" charset="-122"/>
                <a:cs typeface="Arial" panose="020B0604020202020204" pitchFamily="34" charset="0"/>
              </a:rPr>
              <a:t>图像扭曲技术</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最小化扭曲损失函数值以实现基于粗位姿对齐</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p:txBody>
      </p:sp>
      <p:pic>
        <p:nvPicPr>
          <p:cNvPr id="3" name="图片 2"/>
          <p:cNvPicPr>
            <a:picLocks noChangeAspect="1"/>
          </p:cNvPicPr>
          <p:nvPr/>
        </p:nvPicPr>
        <p:blipFill>
          <a:blip r:embed="rId4"/>
          <a:srcRect t="944" b="944"/>
          <a:stretch>
            <a:fillRect/>
          </a:stretch>
        </p:blipFill>
        <p:spPr>
          <a:xfrm>
            <a:off x="7264652" y="1031903"/>
            <a:ext cx="3591426" cy="5229955"/>
          </a:xfrm>
          <a:prstGeom prst="rect">
            <a:avLst/>
          </a:prstGeom>
        </p:spPr>
      </p:pic>
      <p:pic>
        <p:nvPicPr>
          <p:cNvPr id="2" name="图片 1"/>
          <p:cNvPicPr>
            <a:picLocks noChangeAspect="1"/>
          </p:cNvPicPr>
          <p:nvPr/>
        </p:nvPicPr>
        <p:blipFill>
          <a:blip r:embed="rId5"/>
          <a:stretch>
            <a:fillRect/>
          </a:stretch>
        </p:blipFill>
        <p:spPr>
          <a:xfrm>
            <a:off x="923290" y="5005070"/>
            <a:ext cx="5181600" cy="404495"/>
          </a:xfrm>
          <a:prstGeom prst="rect">
            <a:avLst/>
          </a:prstGeom>
        </p:spPr>
      </p:pic>
      <p:pic>
        <p:nvPicPr>
          <p:cNvPr id="4" name="图片 3"/>
          <p:cNvPicPr>
            <a:picLocks noChangeAspect="1"/>
          </p:cNvPicPr>
          <p:nvPr/>
        </p:nvPicPr>
        <p:blipFill>
          <a:blip r:embed="rId6"/>
          <a:stretch>
            <a:fillRect/>
          </a:stretch>
        </p:blipFill>
        <p:spPr>
          <a:xfrm>
            <a:off x="332740" y="5599430"/>
            <a:ext cx="6687820" cy="3568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521970" cy="46037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02</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6012180" cy="46037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本文工作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目标定位与相机位姿估计</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0" y="910400"/>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2227580" cy="39878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位姿精修可视化</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9" name="组合 8"/>
          <p:cNvGrpSpPr/>
          <p:nvPr/>
        </p:nvGrpSpPr>
        <p:grpSpPr>
          <a:xfrm>
            <a:off x="1440180" y="1568450"/>
            <a:ext cx="9372600" cy="3513455"/>
            <a:chOff x="2683" y="2324"/>
            <a:chExt cx="14760" cy="5533"/>
          </a:xfrm>
        </p:grpSpPr>
        <p:grpSp>
          <p:nvGrpSpPr>
            <p:cNvPr id="4" name="组合 3"/>
            <p:cNvGrpSpPr/>
            <p:nvPr/>
          </p:nvGrpSpPr>
          <p:grpSpPr>
            <a:xfrm>
              <a:off x="2683" y="2809"/>
              <a:ext cx="14761" cy="5048"/>
              <a:chOff x="1729" y="3106"/>
              <a:chExt cx="17071" cy="5768"/>
            </a:xfrm>
          </p:grpSpPr>
          <p:pic>
            <p:nvPicPr>
              <p:cNvPr id="2" name="图片 1" descr="正确识别为沙发的图片"/>
              <p:cNvPicPr>
                <a:picLocks noChangeAspect="1"/>
              </p:cNvPicPr>
              <p:nvPr/>
            </p:nvPicPr>
            <p:blipFill>
              <a:blip r:embed="rId4"/>
              <a:stretch>
                <a:fillRect/>
              </a:stretch>
            </p:blipFill>
            <p:spPr>
              <a:xfrm>
                <a:off x="1729" y="3106"/>
                <a:ext cx="5457" cy="5769"/>
              </a:xfrm>
              <a:prstGeom prst="rect">
                <a:avLst/>
              </a:prstGeom>
            </p:spPr>
          </p:pic>
          <p:pic>
            <p:nvPicPr>
              <p:cNvPr id="3" name="图片 2" descr="正确的优化"/>
              <p:cNvPicPr>
                <a:picLocks noChangeAspect="1"/>
              </p:cNvPicPr>
              <p:nvPr/>
            </p:nvPicPr>
            <p:blipFill>
              <a:blip r:embed="rId5"/>
              <a:stretch>
                <a:fillRect/>
              </a:stretch>
            </p:blipFill>
            <p:spPr>
              <a:xfrm>
                <a:off x="7206" y="3106"/>
                <a:ext cx="11594" cy="5769"/>
              </a:xfrm>
              <a:prstGeom prst="rect">
                <a:avLst/>
              </a:prstGeom>
            </p:spPr>
          </p:pic>
        </p:grpSp>
        <p:grpSp>
          <p:nvGrpSpPr>
            <p:cNvPr id="8" name="组合 7"/>
            <p:cNvGrpSpPr/>
            <p:nvPr/>
          </p:nvGrpSpPr>
          <p:grpSpPr>
            <a:xfrm>
              <a:off x="2683" y="2324"/>
              <a:ext cx="14757" cy="422"/>
              <a:chOff x="2683" y="2386"/>
              <a:chExt cx="14757" cy="422"/>
            </a:xfrm>
          </p:grpSpPr>
          <p:sp>
            <p:nvSpPr>
              <p:cNvPr id="5" name="同侧圆角矩形 4"/>
              <p:cNvSpPr/>
              <p:nvPr/>
            </p:nvSpPr>
            <p:spPr>
              <a:xfrm>
                <a:off x="2683" y="2386"/>
                <a:ext cx="4720" cy="423"/>
              </a:xfrm>
              <a:prstGeom prst="round2SameRect">
                <a:avLst/>
              </a:prstGeom>
              <a:solidFill>
                <a:srgbClr val="DF7E7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tx1"/>
                    </a:solidFill>
                    <a:latin typeface="宋体" panose="02010600030101010101" pitchFamily="2" charset="-122"/>
                    <a:ea typeface="宋体" panose="02010600030101010101" pitchFamily="2" charset="-122"/>
                  </a:rPr>
                  <a:t>目标图像</a:t>
                </a:r>
                <a:endParaRPr lang="zh-CN" altLang="en-US" sz="1400">
                  <a:solidFill>
                    <a:schemeClr val="tx1"/>
                  </a:solidFill>
                  <a:latin typeface="宋体" panose="02010600030101010101" pitchFamily="2" charset="-122"/>
                  <a:ea typeface="宋体" panose="02010600030101010101" pitchFamily="2" charset="-122"/>
                </a:endParaRPr>
              </a:p>
            </p:txBody>
          </p:sp>
          <p:sp>
            <p:nvSpPr>
              <p:cNvPr id="6" name="同侧圆角矩形 5"/>
              <p:cNvSpPr/>
              <p:nvPr/>
            </p:nvSpPr>
            <p:spPr>
              <a:xfrm>
                <a:off x="7419" y="2386"/>
                <a:ext cx="5011" cy="423"/>
              </a:xfrm>
              <a:prstGeom prst="round2SameRect">
                <a:avLst/>
              </a:prstGeom>
              <a:solidFill>
                <a:srgbClr val="DF7E7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tx1"/>
                    </a:solidFill>
                    <a:latin typeface="宋体" panose="02010600030101010101" pitchFamily="2" charset="-122"/>
                    <a:ea typeface="宋体" panose="02010600030101010101" pitchFamily="2" charset="-122"/>
                  </a:rPr>
                  <a:t>初始位姿渲染图像</a:t>
                </a:r>
                <a:endParaRPr lang="zh-CN" altLang="en-US" sz="1400">
                  <a:solidFill>
                    <a:schemeClr val="tx1"/>
                  </a:solidFill>
                  <a:latin typeface="宋体" panose="02010600030101010101" pitchFamily="2" charset="-122"/>
                  <a:ea typeface="宋体" panose="02010600030101010101" pitchFamily="2" charset="-122"/>
                </a:endParaRPr>
              </a:p>
            </p:txBody>
          </p:sp>
          <p:sp>
            <p:nvSpPr>
              <p:cNvPr id="7" name="同侧圆角矩形 6"/>
              <p:cNvSpPr/>
              <p:nvPr/>
            </p:nvSpPr>
            <p:spPr>
              <a:xfrm>
                <a:off x="12472" y="2386"/>
                <a:ext cx="4968" cy="423"/>
              </a:xfrm>
              <a:prstGeom prst="round2SameRect">
                <a:avLst/>
              </a:prstGeom>
              <a:solidFill>
                <a:srgbClr val="DF7E7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tx1"/>
                    </a:solidFill>
                    <a:latin typeface="宋体" panose="02010600030101010101" pitchFamily="2" charset="-122"/>
                    <a:ea typeface="宋体" panose="02010600030101010101" pitchFamily="2" charset="-122"/>
                  </a:rPr>
                  <a:t>位姿精修后渲染图像</a:t>
                </a:r>
                <a:endParaRPr lang="zh-CN" altLang="en-US" sz="1400">
                  <a:solidFill>
                    <a:schemeClr val="tx1"/>
                  </a:solidFill>
                  <a:latin typeface="宋体" panose="02010600030101010101" pitchFamily="2" charset="-122"/>
                  <a:ea typeface="宋体" panose="02010600030101010101" pitchFamily="2" charset="-122"/>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607060" cy="46037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02</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3954780" cy="46037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本文工作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智能体导航</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744582" y="1513764"/>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1659429"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智能体导航</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8" name="矩形 7"/>
          <p:cNvSpPr/>
          <p:nvPr/>
        </p:nvSpPr>
        <p:spPr>
          <a:xfrm>
            <a:off x="641738" y="2053960"/>
            <a:ext cx="5454262" cy="3739998"/>
          </a:xfrm>
          <a:prstGeom prst="rect">
            <a:avLst/>
          </a:prstGeom>
        </p:spPr>
        <p:txBody>
          <a:bodyPr wrap="square">
            <a:spAutoFit/>
          </a:bodyPr>
          <a:lstStyle/>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语义高斯并非为路径规划而设计</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将优化后的位姿观察所得到的高斯转换为点云，将其体素化为体素网格</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M3D</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后投影为</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2D</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网格</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BEV</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地图</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给定</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2DBEV</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网格地图</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M2D</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和智能体起始位置以及预测的目标位置，使用快速进行法</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FMM</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生成最短距离场</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智能体根据当前状态与导航点角度与距离，计算并执行相应的动作</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迭代直至到达目标位置</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p:cNvPicPr>
            <a:picLocks noChangeAspect="1"/>
          </p:cNvPicPr>
          <p:nvPr/>
        </p:nvPicPr>
        <p:blipFill>
          <a:blip r:embed="rId4"/>
          <a:stretch>
            <a:fillRect/>
          </a:stretch>
        </p:blipFill>
        <p:spPr>
          <a:xfrm>
            <a:off x="6707707" y="954019"/>
            <a:ext cx="5029902" cy="543953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0" y="-1"/>
            <a:ext cx="12192000" cy="6858002"/>
            <a:chOff x="0" y="-1"/>
            <a:chExt cx="12192000" cy="6858002"/>
          </a:xfrm>
        </p:grpSpPr>
        <p:sp>
          <p:nvSpPr>
            <p:cNvPr id="24" name="矩形 23"/>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25" name="矩形 24"/>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29" name="矩形 28"/>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0" name="组合 29"/>
          <p:cNvGrpSpPr/>
          <p:nvPr/>
        </p:nvGrpSpPr>
        <p:grpSpPr>
          <a:xfrm>
            <a:off x="133400" y="140547"/>
            <a:ext cx="11901234" cy="6795389"/>
            <a:chOff x="133400" y="140547"/>
            <a:chExt cx="11901234" cy="6795389"/>
          </a:xfrm>
        </p:grpSpPr>
        <p:pic>
          <p:nvPicPr>
            <p:cNvPr id="31" name="图片 30"/>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2" name="图片 31"/>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3" name="图片 32"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607060" cy="46037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02</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3993401"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本文工作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智能体导航</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p:cNvPicPr>
            <a:picLocks noChangeAspect="1"/>
          </p:cNvPicPr>
          <p:nvPr/>
        </p:nvPicPr>
        <p:blipFill>
          <a:blip r:embed="rId4"/>
          <a:stretch>
            <a:fillRect/>
          </a:stretch>
        </p:blipFill>
        <p:spPr>
          <a:xfrm>
            <a:off x="1038098" y="1916067"/>
            <a:ext cx="10115803" cy="32846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4719662" y="1587570"/>
            <a:ext cx="2752677" cy="2862322"/>
          </a:xfrm>
          <a:prstGeom prst="rect">
            <a:avLst/>
          </a:prstGeom>
          <a:noFill/>
        </p:spPr>
        <p:txBody>
          <a:bodyPr wrap="none" rtlCol="0">
            <a:spAutoFit/>
          </a:bodyPr>
          <a:lstStyle/>
          <a:p>
            <a:pPr algn="ctr"/>
            <a:r>
              <a:rPr kumimoji="1" lang="en-US" altLang="zh-CN" sz="18000" b="1" dirty="0">
                <a:ln w="47625" cap="rnd">
                  <a:gradFill>
                    <a:gsLst>
                      <a:gs pos="0">
                        <a:srgbClr val="C00000"/>
                      </a:gs>
                      <a:gs pos="70000">
                        <a:srgbClr val="C00000">
                          <a:alpha val="0"/>
                        </a:srgbClr>
                      </a:gs>
                    </a:gsLst>
                    <a:lin ang="5400000" scaled="1"/>
                  </a:gradFill>
                </a:ln>
                <a:gradFill>
                  <a:gsLst>
                    <a:gs pos="0">
                      <a:srgbClr val="C00000">
                        <a:alpha val="13000"/>
                      </a:srgbClr>
                    </a:gs>
                    <a:gs pos="70000">
                      <a:srgbClr val="C00000">
                        <a:alpha val="0"/>
                      </a:srgbClr>
                    </a:gs>
                  </a:gsLst>
                  <a:lin ang="5400000" scaled="1"/>
                </a:gradFill>
                <a:latin typeface="Arial" panose="020B0604020202020204" pitchFamily="34" charset="0"/>
                <a:ea typeface="ZhenyanGB" panose="02010600030101010101" pitchFamily="2" charset="-122"/>
                <a:cs typeface="Arial" panose="020B0604020202020204" pitchFamily="34" charset="0"/>
              </a:rPr>
              <a:t>03</a:t>
            </a:r>
            <a:endParaRPr kumimoji="1" lang="zh-CN" altLang="en-US" sz="18000" b="1" dirty="0">
              <a:ln w="47625" cap="rnd">
                <a:gradFill>
                  <a:gsLst>
                    <a:gs pos="0">
                      <a:srgbClr val="C00000"/>
                    </a:gs>
                    <a:gs pos="70000">
                      <a:srgbClr val="C00000">
                        <a:alpha val="0"/>
                      </a:srgbClr>
                    </a:gs>
                  </a:gsLst>
                  <a:lin ang="5400000" scaled="1"/>
                </a:gradFill>
              </a:ln>
              <a:gradFill>
                <a:gsLst>
                  <a:gs pos="0">
                    <a:srgbClr val="C00000">
                      <a:alpha val="13000"/>
                    </a:srgbClr>
                  </a:gs>
                  <a:gs pos="70000">
                    <a:srgbClr val="C00000">
                      <a:alpha val="0"/>
                    </a:srgbClr>
                  </a:gs>
                </a:gsLst>
                <a:lin ang="5400000" scaled="1"/>
              </a:gradFill>
              <a:latin typeface="Arial" panose="020B0604020202020204" pitchFamily="34" charset="0"/>
              <a:ea typeface="ZhenyanGB" panose="02010600030101010101" pitchFamily="2" charset="-122"/>
              <a:cs typeface="Arial" panose="020B0604020202020204" pitchFamily="34" charset="0"/>
            </a:endParaRPr>
          </a:p>
        </p:txBody>
      </p:sp>
      <p:sp>
        <p:nvSpPr>
          <p:cNvPr id="14" name="文本框 13"/>
          <p:cNvSpPr txBox="1"/>
          <p:nvPr/>
        </p:nvSpPr>
        <p:spPr>
          <a:xfrm>
            <a:off x="4194810" y="3573006"/>
            <a:ext cx="3802380" cy="1753235"/>
          </a:xfrm>
          <a:prstGeom prst="rect">
            <a:avLst/>
          </a:prstGeom>
          <a:noFill/>
        </p:spPr>
        <p:txBody>
          <a:bodyPr wrap="none" rtlCol="0">
            <a:spAutoFit/>
          </a:bodyPr>
          <a:lstStyle/>
          <a:p>
            <a:pPr algn="l"/>
            <a:r>
              <a:rPr kumimoji="1" lang="zh-CN" altLang="en-US" sz="5400" b="1" spc="300" dirty="0">
                <a:gradFill>
                  <a:gsLst>
                    <a:gs pos="0">
                      <a:srgbClr val="C00000"/>
                    </a:gs>
                    <a:gs pos="100000">
                      <a:srgbClr val="F87768"/>
                    </a:gs>
                  </a:gsLst>
                  <a:lin ang="5400000" scaled="0"/>
                </a:gradFill>
                <a:latin typeface="Arial" panose="020B0604020202020204" pitchFamily="34" charset="0"/>
                <a:ea typeface="微软雅黑" panose="020B0503020204020204" pitchFamily="34" charset="-122"/>
                <a:cs typeface="Arial" panose="020B0604020202020204" pitchFamily="34" charset="0"/>
              </a:rPr>
              <a:t>实验与效果</a:t>
            </a:r>
            <a:endParaRPr kumimoji="1" lang="en-US" altLang="zh-CN" sz="5400" b="1" spc="300" dirty="0">
              <a:gradFill>
                <a:gsLst>
                  <a:gs pos="0">
                    <a:srgbClr val="C00000"/>
                  </a:gs>
                  <a:gs pos="100000">
                    <a:srgbClr val="F87768"/>
                  </a:gs>
                </a:gsLst>
                <a:lin ang="5400000" scaled="0"/>
              </a:gradFill>
              <a:latin typeface="Arial" panose="020B0604020202020204" pitchFamily="34" charset="0"/>
              <a:ea typeface="微软雅黑" panose="020B0503020204020204" pitchFamily="34" charset="-122"/>
              <a:cs typeface="Arial" panose="020B0604020202020204" pitchFamily="34" charset="0"/>
            </a:endParaRPr>
          </a:p>
          <a:p>
            <a:pPr algn="l"/>
            <a:endParaRPr kumimoji="1" lang="zh-CN" altLang="en-US" sz="5400" b="1" spc="300" dirty="0">
              <a:gradFill>
                <a:gsLst>
                  <a:gs pos="0">
                    <a:srgbClr val="C00000"/>
                  </a:gs>
                  <a:gs pos="100000">
                    <a:srgbClr val="F87768"/>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3993401"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实验与效果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实验设置</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744582" y="1513764"/>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1364476"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实验环境</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8" name="矩形 7"/>
          <p:cNvSpPr/>
          <p:nvPr/>
        </p:nvSpPr>
        <p:spPr>
          <a:xfrm>
            <a:off x="641738" y="2160197"/>
            <a:ext cx="5454262" cy="3046095"/>
          </a:xfrm>
          <a:prstGeom prst="rect">
            <a:avLst/>
          </a:prstGeom>
        </p:spPr>
        <p:txBody>
          <a:bodyPr wrap="square">
            <a:spAutoFit/>
          </a:bodyPr>
          <a:lstStyle/>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服务器训练测试</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处理器</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i7-14700k</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内存：</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32GB</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显卡：</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4090</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lvl="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核心软件环境</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python</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3.9.16</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pytorch</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2.1.1</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Habitat-sim</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0.1.0</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p:txBody>
      </p:sp>
      <p:grpSp>
        <p:nvGrpSpPr>
          <p:cNvPr id="2" name="组合 1"/>
          <p:cNvGrpSpPr/>
          <p:nvPr/>
        </p:nvGrpSpPr>
        <p:grpSpPr>
          <a:xfrm>
            <a:off x="6301689" y="1477146"/>
            <a:ext cx="5248573" cy="873456"/>
            <a:chOff x="839416" y="4170998"/>
            <a:chExt cx="5248573" cy="873456"/>
          </a:xfrm>
        </p:grpSpPr>
        <p:sp>
          <p:nvSpPr>
            <p:cNvPr id="3" name="矩形 2"/>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5"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p:cNvSpPr txBox="1"/>
            <p:nvPr/>
          </p:nvSpPr>
          <p:spPr>
            <a:xfrm>
              <a:off x="839416" y="4170998"/>
              <a:ext cx="1954381"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实验用数据集</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7" name="矩形 6"/>
          <p:cNvSpPr/>
          <p:nvPr/>
        </p:nvSpPr>
        <p:spPr>
          <a:xfrm>
            <a:off x="6403533" y="2141730"/>
            <a:ext cx="5454262" cy="2306955"/>
          </a:xfrm>
          <a:prstGeom prst="rect">
            <a:avLst/>
          </a:prstGeom>
        </p:spPr>
        <p:txBody>
          <a:bodyPr wrap="square">
            <a:spAutoFit/>
          </a:bodyPr>
          <a:lstStyle/>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遵从</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GaussNav</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论文，使用</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Habitat</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仿真器</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使用</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Habitat-Matterport3D</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数据集</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真实环境的</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3D</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重建场景构成</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目标图所包含的物体实类别属于</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COCO</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数据类别中的</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6</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个：</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lvl="1" indent="0" algn="just" hangingPunct="0">
              <a:lnSpc>
                <a:spcPct val="150000"/>
              </a:lnSpc>
              <a:buFont typeface="Arial" panose="020B0604020202020204" pitchFamily="34" charset="0"/>
              <a:buNone/>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p:cNvPicPr>
            <a:picLocks noChangeAspect="1"/>
          </p:cNvPicPr>
          <p:nvPr/>
        </p:nvPicPr>
        <p:blipFill>
          <a:blip r:embed="rId4"/>
          <a:stretch>
            <a:fillRect/>
          </a:stretch>
        </p:blipFill>
        <p:spPr>
          <a:xfrm>
            <a:off x="5693410" y="4071620"/>
            <a:ext cx="6000750" cy="12858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3993401"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实验与效果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实验设置</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744582" y="1513764"/>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3134191"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智能体配置与动作空间</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8" name="矩形 7"/>
          <p:cNvSpPr/>
          <p:nvPr/>
        </p:nvSpPr>
        <p:spPr>
          <a:xfrm>
            <a:off x="641738" y="2160197"/>
            <a:ext cx="5454262" cy="4154170"/>
          </a:xfrm>
          <a:prstGeom prst="rect">
            <a:avLst/>
          </a:prstGeom>
        </p:spPr>
        <p:txBody>
          <a:bodyPr wrap="square">
            <a:spAutoFit/>
          </a:bodyPr>
          <a:lstStyle/>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遵循</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GaussNav</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论文，采用</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Hello Robot Stretch</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平台实体化参数</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高度</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1.41</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米，半径</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0.17</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米</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离地高度</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1.31</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米装有一个</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RGB-D</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相机</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智能体相机使用标准针孔相机模型，水平视场角定义为</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90</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度，水平焦距</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fx</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计算为：</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5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5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智能体采用离散动作空间</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STOP</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FORWARD</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TURN_RIGHT</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TURN_LEFT</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p:txBody>
      </p:sp>
      <p:grpSp>
        <p:nvGrpSpPr>
          <p:cNvPr id="2" name="组合 1"/>
          <p:cNvGrpSpPr/>
          <p:nvPr/>
        </p:nvGrpSpPr>
        <p:grpSpPr>
          <a:xfrm>
            <a:off x="6301689" y="1477146"/>
            <a:ext cx="5248573" cy="873456"/>
            <a:chOff x="839416" y="4170998"/>
            <a:chExt cx="5248573" cy="873456"/>
          </a:xfrm>
        </p:grpSpPr>
        <p:sp>
          <p:nvSpPr>
            <p:cNvPr id="3" name="矩形 2"/>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5"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p:cNvSpPr txBox="1"/>
            <p:nvPr/>
          </p:nvSpPr>
          <p:spPr>
            <a:xfrm>
              <a:off x="839416" y="4170998"/>
              <a:ext cx="1364476"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评估指标</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7" name="矩形 6"/>
          <p:cNvSpPr/>
          <p:nvPr/>
        </p:nvSpPr>
        <p:spPr>
          <a:xfrm>
            <a:off x="6403533" y="2141730"/>
            <a:ext cx="5454262" cy="2676525"/>
          </a:xfrm>
          <a:prstGeom prst="rect">
            <a:avLst/>
          </a:prstGeom>
        </p:spPr>
        <p:txBody>
          <a:bodyPr wrap="square">
            <a:spAutoFit/>
          </a:bodyPr>
          <a:lstStyle/>
          <a:p>
            <a:pPr marL="28575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高斯渲染阶段</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原始</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3DGS</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评估使用的</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SSIM</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PSNR</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RMSE</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L1</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LPIPS</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lvl="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语义阶段</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DICE</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系数、</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Focal IoU</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系数、交叉熵损失</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lvl="0"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导航阶段</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Success</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SPL</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p:cNvPicPr>
            <a:picLocks noChangeAspect="1"/>
          </p:cNvPicPr>
          <p:nvPr/>
        </p:nvPicPr>
        <p:blipFill>
          <a:blip r:embed="rId4"/>
          <a:stretch>
            <a:fillRect/>
          </a:stretch>
        </p:blipFill>
        <p:spPr>
          <a:xfrm>
            <a:off x="2425065" y="4467225"/>
            <a:ext cx="1695450" cy="629920"/>
          </a:xfrm>
          <a:prstGeom prst="rect">
            <a:avLst/>
          </a:prstGeom>
        </p:spPr>
      </p:pic>
      <p:pic>
        <p:nvPicPr>
          <p:cNvPr id="9" name="图片 8"/>
          <p:cNvPicPr>
            <a:picLocks noChangeAspect="1"/>
          </p:cNvPicPr>
          <p:nvPr/>
        </p:nvPicPr>
        <p:blipFill>
          <a:blip r:embed="rId5"/>
          <a:stretch>
            <a:fillRect/>
          </a:stretch>
        </p:blipFill>
        <p:spPr>
          <a:xfrm>
            <a:off x="7666355" y="4982210"/>
            <a:ext cx="2479040" cy="69659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5032147"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实验与效果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与现有方案对比</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453752" y="1132764"/>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2249334"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与现有方案对比</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8" name="矩形 7"/>
          <p:cNvSpPr/>
          <p:nvPr/>
        </p:nvSpPr>
        <p:spPr>
          <a:xfrm>
            <a:off x="350908" y="1959537"/>
            <a:ext cx="5454262" cy="3784600"/>
          </a:xfrm>
          <a:prstGeom prst="rect">
            <a:avLst/>
          </a:prstGeom>
        </p:spPr>
        <p:txBody>
          <a:bodyPr wrap="square">
            <a:spAutoFit/>
          </a:bodyPr>
          <a:lstStyle/>
          <a:p>
            <a:pPr marL="285750" indent="-285750" algn="just" hangingPunct="0">
              <a:lnSpc>
                <a:spcPct val="150000"/>
              </a:lnSpc>
              <a:buFont typeface="Arial" panose="020B0604020202020204" pitchFamily="34" charset="0"/>
              <a:buChar char="•"/>
            </a:pPr>
            <a:r>
              <a:rPr kumimoji="1" lang="zh-CN" altLang="en-US" sz="1600" b="1" spc="300" dirty="0">
                <a:latin typeface="Arial" panose="020B0604020202020204" pitchFamily="34" charset="0"/>
                <a:ea typeface="微软雅黑" panose="020B0503020204020204" pitchFamily="34" charset="-122"/>
                <a:cs typeface="Arial" panose="020B0604020202020204" pitchFamily="34" charset="0"/>
              </a:rPr>
              <a:t>端到端</a:t>
            </a:r>
            <a:r>
              <a:rPr kumimoji="1" lang="en-US" altLang="zh-CN" sz="1600" b="1" spc="300" dirty="0">
                <a:latin typeface="Arial" panose="020B0604020202020204" pitchFamily="34" charset="0"/>
                <a:ea typeface="微软雅黑" panose="020B0503020204020204" pitchFamily="34" charset="-122"/>
                <a:cs typeface="Arial" panose="020B0604020202020204" pitchFamily="34" charset="0"/>
              </a:rPr>
              <a:t> RLBaseline</a:t>
            </a:r>
            <a:r>
              <a:rPr kumimoji="1" lang="zh-CN" altLang="en-US" sz="1600" b="1" spc="300" dirty="0">
                <a:latin typeface="Arial" panose="020B0604020202020204" pitchFamily="34" charset="0"/>
                <a:ea typeface="微软雅黑" panose="020B0503020204020204" pitchFamily="34" charset="-122"/>
                <a:cs typeface="Arial" panose="020B0604020202020204" pitchFamily="34" charset="0"/>
              </a:rPr>
              <a:t>：</a:t>
            </a:r>
            <a:endParaRPr kumimoji="1" lang="en-US" altLang="zh-CN" sz="1600" b="1"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端到端强化学习网路；</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成功率：</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0.083</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SPL</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0.035</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lvl="0" indent="-285750" algn="just" hangingPunct="0">
              <a:lnSpc>
                <a:spcPct val="150000"/>
              </a:lnSpc>
              <a:buFont typeface="Arial" panose="020B0604020202020204" pitchFamily="34" charset="0"/>
              <a:buChar char="•"/>
            </a:pPr>
            <a:r>
              <a:rPr kumimoji="1" lang="en-US" altLang="zh-CN" sz="1600" b="1" spc="300" dirty="0">
                <a:latin typeface="Arial" panose="020B0604020202020204" pitchFamily="34" charset="0"/>
                <a:ea typeface="微软雅黑" panose="020B0503020204020204" pitchFamily="34" charset="-122"/>
                <a:cs typeface="Arial" panose="020B0604020202020204" pitchFamily="34" charset="0"/>
              </a:rPr>
              <a:t>OVRL-v2</a:t>
            </a:r>
            <a:endParaRPr kumimoji="1" lang="en-US" altLang="zh-CN" sz="1600" b="1"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自监督预训练学习通用的视觉表示</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成功率仅为</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0.006 SPL</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为</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0.002</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场景数据集不匹配、机器人本体平台不一样、任务目标前后不一致</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端到端方法在处理需要精细实例区分和空间推理的</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IIN</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任务存在固有局限性</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pic>
        <p:nvPicPr>
          <p:cNvPr id="2" name="图片 1"/>
          <p:cNvPicPr>
            <a:picLocks noChangeAspect="1"/>
          </p:cNvPicPr>
          <p:nvPr/>
        </p:nvPicPr>
        <p:blipFill>
          <a:blip r:embed="rId4"/>
          <a:srcRect t="4469" b="4469"/>
          <a:stretch>
            <a:fillRect/>
          </a:stretch>
        </p:blipFill>
        <p:spPr>
          <a:xfrm>
            <a:off x="6504940" y="1849120"/>
            <a:ext cx="4674870" cy="35966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5032147"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实验与效果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与现有方案对比</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453752" y="1132764"/>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2249334"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与现有方案对比</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8" name="矩形 7"/>
          <p:cNvSpPr/>
          <p:nvPr/>
        </p:nvSpPr>
        <p:spPr>
          <a:xfrm>
            <a:off x="350908" y="1664897"/>
            <a:ext cx="5454262" cy="2553335"/>
          </a:xfrm>
          <a:prstGeom prst="rect">
            <a:avLst/>
          </a:prstGeom>
        </p:spPr>
        <p:txBody>
          <a:bodyPr wrap="square">
            <a:spAutoFit/>
          </a:bodyPr>
          <a:lstStyle/>
          <a:p>
            <a:pPr marL="285750" indent="-285750" algn="just" hangingPunct="0">
              <a:lnSpc>
                <a:spcPct val="100000"/>
              </a:lnSpc>
              <a:buFont typeface="Arial" panose="020B0604020202020204" pitchFamily="34" charset="0"/>
              <a:buChar char="•"/>
            </a:pPr>
            <a:r>
              <a:rPr kumimoji="1" lang="en-US" altLang="zh-CN" sz="1600" b="1" spc="300" dirty="0">
                <a:latin typeface="Arial" panose="020B0604020202020204" pitchFamily="34" charset="0"/>
                <a:ea typeface="微软雅黑" panose="020B0503020204020204" pitchFamily="34" charset="-122"/>
                <a:cs typeface="Arial" panose="020B0604020202020204" pitchFamily="34" charset="0"/>
              </a:rPr>
              <a:t>Mod-II</a:t>
            </a:r>
            <a:r>
              <a:rPr kumimoji="1" lang="zh-CN" altLang="en-US" sz="1600" b="1" spc="300" dirty="0">
                <a:latin typeface="Arial" panose="020B0604020202020204" pitchFamily="34" charset="0"/>
                <a:ea typeface="微软雅黑" panose="020B0503020204020204" pitchFamily="34" charset="-122"/>
                <a:cs typeface="Arial" panose="020B0604020202020204" pitchFamily="34" charset="0"/>
              </a:rPr>
              <a:t>：</a:t>
            </a:r>
            <a:endParaRPr kumimoji="1" lang="en-US" altLang="zh-CN" sz="1600" b="1"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0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是一个系统性解决</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 IIN </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任务的模块化方法</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0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成功率：</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0.561</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提升至</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0.573</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00000"/>
              </a:lnSpc>
              <a:buFont typeface="Arial" panose="020B0604020202020204" pitchFamily="34" charset="0"/>
              <a:buChar char="•"/>
            </a:pP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SPL</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0.233</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提升至</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0.313</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a:p>
            <a:pPr marL="285750" lvl="0" indent="-285750" algn="just" hangingPunct="0">
              <a:lnSpc>
                <a:spcPct val="100000"/>
              </a:lnSpc>
              <a:buFont typeface="Arial" panose="020B0604020202020204" pitchFamily="34" charset="0"/>
              <a:buChar char="•"/>
            </a:pPr>
            <a:r>
              <a:rPr kumimoji="1" lang="en-US" altLang="zh-CN" sz="1600" b="1" spc="300" dirty="0">
                <a:latin typeface="Arial" panose="020B0604020202020204" pitchFamily="34" charset="0"/>
                <a:ea typeface="微软雅黑" panose="020B0503020204020204" pitchFamily="34" charset="-122"/>
                <a:cs typeface="Arial" panose="020B0604020202020204" pitchFamily="34" charset="0"/>
              </a:rPr>
              <a:t>GuasNav</a:t>
            </a:r>
            <a:r>
              <a:rPr kumimoji="1" lang="zh-CN" altLang="en-US" sz="1600" b="1" spc="300" dirty="0">
                <a:latin typeface="Arial" panose="020B0604020202020204" pitchFamily="34" charset="0"/>
                <a:ea typeface="微软雅黑" panose="020B0503020204020204" pitchFamily="34" charset="-122"/>
                <a:cs typeface="Arial" panose="020B0604020202020204" pitchFamily="34" charset="0"/>
              </a:rPr>
              <a:t>：</a:t>
            </a:r>
            <a:endParaRPr kumimoji="1" lang="zh-CN" altLang="en-US" sz="1600" b="1"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0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引入</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3D</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高斯泼溅技术构建语义地图，显著提升</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IIN</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性能，无需像传统</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BEV</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地图方法那样对潜在候选对象进行额外的近距离验证</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0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成功率：</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0.725 SPL</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0.578</a:t>
            </a:r>
            <a:endParaRPr kumimoji="1" lang="zh-CN" altLang="en-US"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pic>
        <p:nvPicPr>
          <p:cNvPr id="2" name="图片 1"/>
          <p:cNvPicPr>
            <a:picLocks noChangeAspect="1"/>
          </p:cNvPicPr>
          <p:nvPr/>
        </p:nvPicPr>
        <p:blipFill>
          <a:blip r:embed="rId4"/>
          <a:srcRect t="4469" b="4469"/>
          <a:stretch>
            <a:fillRect/>
          </a:stretch>
        </p:blipFill>
        <p:spPr>
          <a:xfrm>
            <a:off x="6504940" y="901700"/>
            <a:ext cx="4674870" cy="3596640"/>
          </a:xfrm>
          <a:prstGeom prst="rect">
            <a:avLst/>
          </a:prstGeom>
        </p:spPr>
      </p:pic>
      <p:sp>
        <p:nvSpPr>
          <p:cNvPr id="3" name="文本框 2"/>
          <p:cNvSpPr txBox="1"/>
          <p:nvPr/>
        </p:nvSpPr>
        <p:spPr>
          <a:xfrm>
            <a:off x="5937885" y="4629785"/>
            <a:ext cx="4843145" cy="1768475"/>
          </a:xfrm>
          <a:prstGeom prst="rect">
            <a:avLst/>
          </a:prstGeom>
          <a:noFill/>
        </p:spPr>
        <p:txBody>
          <a:bodyPr wrap="square" rtlCol="0">
            <a:spAutoFit/>
          </a:bodyPr>
          <a:p>
            <a:pPr marL="171450" indent="-171450" algn="l">
              <a:lnSpc>
                <a:spcPct val="130000"/>
              </a:lnSpc>
              <a:buFont typeface="Arial" panose="020B0604020202020204" pitchFamily="34" charset="0"/>
              <a:buChar char="•"/>
            </a:pPr>
            <a:r>
              <a:rPr kumimoji="1" lang="zh-CN" altLang="en-US" sz="1400" b="1" dirty="0">
                <a:solidFill>
                  <a:srgbClr val="FF0000"/>
                </a:solidFill>
                <a:latin typeface="微软雅黑" panose="020B0503020204020204" pitchFamily="34" charset="-122"/>
                <a:ea typeface="微软雅黑" panose="020B0503020204020204" pitchFamily="34" charset="-122"/>
              </a:rPr>
              <a:t>语义渲染监督机制</a:t>
            </a:r>
            <a:endParaRPr kumimoji="1" lang="zh-CN" altLang="en-US" sz="1400" b="1" dirty="0">
              <a:solidFill>
                <a:srgbClr val="FF0000"/>
              </a:solidFill>
              <a:latin typeface="微软雅黑" panose="020B0503020204020204" pitchFamily="34" charset="-122"/>
              <a:ea typeface="微软雅黑" panose="020B0503020204020204" pitchFamily="34" charset="-122"/>
            </a:endParaRPr>
          </a:p>
          <a:p>
            <a:pPr marL="628650" lvl="1" indent="-171450" algn="l">
              <a:lnSpc>
                <a:spcPct val="130000"/>
              </a:lnSpc>
              <a:buFont typeface="Arial" panose="020B0604020202020204" pitchFamily="34" charset="0"/>
              <a:buChar char="•"/>
            </a:pPr>
            <a:r>
              <a:rPr kumimoji="1" lang="zh-CN" altLang="en-US" sz="1400" dirty="0">
                <a:latin typeface="微软雅黑" panose="020B0503020204020204" pitchFamily="34" charset="-122"/>
                <a:ea typeface="微软雅黑" panose="020B0503020204020204" pitchFamily="34" charset="-122"/>
              </a:rPr>
              <a:t>解决了原始</a:t>
            </a:r>
            <a:r>
              <a:rPr kumimoji="1" lang="en-US" altLang="zh-CN" sz="1400" dirty="0">
                <a:latin typeface="微软雅黑" panose="020B0503020204020204" pitchFamily="34" charset="-122"/>
                <a:ea typeface="微软雅黑" panose="020B0503020204020204" pitchFamily="34" charset="-122"/>
              </a:rPr>
              <a:t>GaussNav</a:t>
            </a:r>
            <a:r>
              <a:rPr kumimoji="1" lang="zh-CN" altLang="en-US" sz="1400" dirty="0">
                <a:latin typeface="微软雅黑" panose="020B0503020204020204" pitchFamily="34" charset="-122"/>
                <a:ea typeface="微软雅黑" panose="020B0503020204020204" pitchFamily="34" charset="-122"/>
              </a:rPr>
              <a:t>中语义标签与几何纹理参数脱节问题，提升了实例级目标识别的可靠性</a:t>
            </a:r>
            <a:endParaRPr kumimoji="1" lang="zh-CN" altLang="en-US" sz="1400" dirty="0">
              <a:latin typeface="微软雅黑" panose="020B0503020204020204" pitchFamily="34" charset="-122"/>
              <a:ea typeface="微软雅黑" panose="020B0503020204020204" pitchFamily="34" charset="-122"/>
            </a:endParaRPr>
          </a:p>
          <a:p>
            <a:pPr marL="171450" lvl="0" indent="-171450" algn="l">
              <a:lnSpc>
                <a:spcPct val="130000"/>
              </a:lnSpc>
              <a:buFont typeface="Arial" panose="020B0604020202020204" pitchFamily="34" charset="0"/>
              <a:buChar char="•"/>
            </a:pPr>
            <a:r>
              <a:rPr kumimoji="1" lang="zh-CN" altLang="en-US" sz="1400" b="1" dirty="0">
                <a:solidFill>
                  <a:srgbClr val="FF0000"/>
                </a:solidFill>
                <a:latin typeface="微软雅黑" panose="020B0503020204020204" pitchFamily="34" charset="-122"/>
                <a:ea typeface="微软雅黑" panose="020B0503020204020204" pitchFamily="34" charset="-122"/>
              </a:rPr>
              <a:t>位姿精修</a:t>
            </a:r>
            <a:r>
              <a:rPr kumimoji="1" lang="en-US" altLang="zh-CN" sz="1400" b="1" dirty="0">
                <a:solidFill>
                  <a:srgbClr val="FF0000"/>
                </a:solidFill>
                <a:latin typeface="微软雅黑" panose="020B0503020204020204" pitchFamily="34" charset="-122"/>
                <a:ea typeface="微软雅黑" panose="020B0503020204020204" pitchFamily="34" charset="-122"/>
              </a:rPr>
              <a:t>Warping Loss</a:t>
            </a:r>
            <a:endParaRPr kumimoji="1" lang="en-US" altLang="zh-CN" sz="1400" b="1" dirty="0">
              <a:solidFill>
                <a:srgbClr val="FF0000"/>
              </a:solidFill>
              <a:latin typeface="微软雅黑" panose="020B0503020204020204" pitchFamily="34" charset="-122"/>
              <a:ea typeface="微软雅黑" panose="020B0503020204020204" pitchFamily="34" charset="-122"/>
            </a:endParaRPr>
          </a:p>
          <a:p>
            <a:pPr marL="628650" lvl="1" indent="-171450" algn="l">
              <a:lnSpc>
                <a:spcPct val="130000"/>
              </a:lnSpc>
              <a:buFont typeface="Arial" panose="020B0604020202020204" pitchFamily="34" charset="0"/>
              <a:buChar char="•"/>
            </a:pPr>
            <a:r>
              <a:rPr kumimoji="1" lang="zh-CN" altLang="en-US" sz="1400" dirty="0">
                <a:latin typeface="微软雅黑" panose="020B0503020204020204" pitchFamily="34" charset="-122"/>
                <a:ea typeface="微软雅黑" panose="020B0503020204020204" pitchFamily="34" charset="-122"/>
              </a:rPr>
              <a:t>实现了亚像素级别的位姿优化，有效修正基于特征匹配的初始位姿的偏差</a:t>
            </a:r>
            <a:endParaRPr kumimoji="1" lang="zh-CN" altLang="en-US" sz="1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492885" y="4763770"/>
            <a:ext cx="4064000" cy="1198880"/>
          </a:xfrm>
          <a:prstGeom prst="rect">
            <a:avLst/>
          </a:prstGeom>
          <a:noFill/>
        </p:spPr>
        <p:txBody>
          <a:bodyPr wrap="square" rtlCol="0">
            <a:spAutoFit/>
          </a:bodyPr>
          <a:p>
            <a:pPr marL="285750" lvl="0" indent="-285750" algn="just" hangingPunct="0">
              <a:lnSpc>
                <a:spcPct val="150000"/>
              </a:lnSpc>
              <a:buFont typeface="Arial" panose="020B0604020202020204" pitchFamily="34" charset="0"/>
              <a:buChar char="•"/>
            </a:pPr>
            <a:r>
              <a:rPr kumimoji="1" lang="en-US" altLang="zh-CN"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sym typeface="+mn-ea"/>
              </a:rPr>
              <a:t>GSGuide</a:t>
            </a:r>
            <a:r>
              <a:rPr kumimoji="1" lang="zh-CN" altLang="en-US"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sym typeface="+mn-ea"/>
              </a:rPr>
              <a:t>（</a:t>
            </a:r>
            <a:r>
              <a:rPr kumimoji="1" lang="en-US" altLang="zh-CN"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sym typeface="+mn-ea"/>
              </a:rPr>
              <a:t>ours</a:t>
            </a:r>
            <a:r>
              <a:rPr kumimoji="1" lang="zh-CN" altLang="en-US"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sym typeface="+mn-ea"/>
              </a:rPr>
              <a:t>）：</a:t>
            </a:r>
            <a:endParaRPr kumimoji="1" lang="zh-CN" altLang="en-US"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zh-CN" altLang="en-US"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sym typeface="+mn-ea"/>
              </a:rPr>
              <a:t>成功率：</a:t>
            </a:r>
            <a:r>
              <a:rPr kumimoji="1" lang="en-US" altLang="zh-CN"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sym typeface="+mn-ea"/>
              </a:rPr>
              <a:t>0.778</a:t>
            </a:r>
            <a:endParaRPr kumimoji="1" lang="en-US" altLang="zh-CN"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a:p>
            <a:pPr marL="742950" lvl="1" indent="-285750" algn="just" hangingPunct="0">
              <a:lnSpc>
                <a:spcPct val="150000"/>
              </a:lnSpc>
              <a:buFont typeface="Arial" panose="020B0604020202020204" pitchFamily="34" charset="0"/>
              <a:buChar char="•"/>
            </a:pPr>
            <a:r>
              <a:rPr kumimoji="1" lang="en-US" altLang="zh-CN"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sym typeface="+mn-ea"/>
              </a:rPr>
              <a:t>SPL</a:t>
            </a:r>
            <a:r>
              <a:rPr kumimoji="1" lang="zh-CN" altLang="en-US"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sym typeface="+mn-ea"/>
              </a:rPr>
              <a:t>：</a:t>
            </a:r>
            <a:r>
              <a:rPr kumimoji="1" lang="en-US" altLang="zh-CN"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sym typeface="+mn-ea"/>
              </a:rPr>
              <a:t>0.585</a:t>
            </a:r>
            <a:endParaRPr kumimoji="1" lang="zh-CN" altLang="en-US" sz="1600" b="1" spc="300"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5" name="右箭头 4"/>
          <p:cNvSpPr/>
          <p:nvPr/>
        </p:nvSpPr>
        <p:spPr>
          <a:xfrm>
            <a:off x="4723130" y="5120640"/>
            <a:ext cx="979170" cy="4857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3993401"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实验与效果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消融实验</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380727" y="1180389"/>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2839239"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语义渲染监督有效性</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3" name="文本框 2"/>
          <p:cNvSpPr txBox="1"/>
          <p:nvPr/>
        </p:nvSpPr>
        <p:spPr>
          <a:xfrm>
            <a:off x="381000" y="1673225"/>
            <a:ext cx="4064000" cy="2607310"/>
          </a:xfrm>
          <a:prstGeom prst="rect">
            <a:avLst/>
          </a:prstGeom>
          <a:noFill/>
        </p:spPr>
        <p:txBody>
          <a:bodyPr wrap="square" rtlCol="0">
            <a:spAutoFit/>
          </a:bodyPr>
          <a:p>
            <a:pPr marL="171450" lvl="0" indent="-171450" algn="l">
              <a:lnSpc>
                <a:spcPct val="130000"/>
              </a:lnSpc>
              <a:buFont typeface="Arial" panose="020B0604020202020204" pitchFamily="34" charset="0"/>
              <a:buChar char="•"/>
            </a:pP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移除语义渲染监督机制，完全遵从</a:t>
            </a:r>
            <a:r>
              <a:rPr kumimoji="1" lang="en-US" altLang="zh-CN" sz="1400" dirty="0">
                <a:latin typeface="微软雅黑" panose="020B0503020204020204" pitchFamily="34" charset="-122"/>
                <a:ea typeface="微软雅黑" panose="020B0503020204020204" pitchFamily="34" charset="-122"/>
                <a:cs typeface="微软雅黑" panose="020B0503020204020204" pitchFamily="34" charset="-122"/>
              </a:rPr>
              <a:t>GaussNav</a:t>
            </a: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论对于语义的处理流程</a:t>
            </a:r>
            <a:endPar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endPar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成功率：</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0.778</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下降到</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0.723</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7.07%</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endPar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SPL</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0.585</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下降至</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0.577</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1.37%</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endPar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endPar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交叉熵损失：</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1.501</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上升至</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1.801</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20%</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endPar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Dice</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损失：</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0.867</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上升至</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0.891</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2.8%</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endPar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FocalIoU</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0.915</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上升至</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0.971</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6.1%</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endPar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p:cNvPicPr>
            <a:picLocks noChangeAspect="1"/>
          </p:cNvPicPr>
          <p:nvPr/>
        </p:nvPicPr>
        <p:blipFill>
          <a:blip r:embed="rId4"/>
          <a:stretch>
            <a:fillRect/>
          </a:stretch>
        </p:blipFill>
        <p:spPr>
          <a:xfrm>
            <a:off x="5073015" y="1519555"/>
            <a:ext cx="7031990" cy="1976755"/>
          </a:xfrm>
          <a:prstGeom prst="rect">
            <a:avLst/>
          </a:prstGeom>
        </p:spPr>
      </p:pic>
      <p:sp>
        <p:nvSpPr>
          <p:cNvPr id="5" name="文本框 4"/>
          <p:cNvSpPr txBox="1"/>
          <p:nvPr/>
        </p:nvSpPr>
        <p:spPr>
          <a:xfrm>
            <a:off x="381000" y="4373245"/>
            <a:ext cx="4582795" cy="1691005"/>
          </a:xfrm>
          <a:prstGeom prst="rect">
            <a:avLst/>
          </a:prstGeom>
          <a:noFill/>
        </p:spPr>
        <p:txBody>
          <a:bodyPr wrap="square" rtlCol="0">
            <a:spAutoFit/>
          </a:bodyPr>
          <a:p>
            <a:pPr marL="171450" lvl="0" indent="-171450" algn="l">
              <a:lnSpc>
                <a:spcPct val="130000"/>
              </a:lnSpc>
              <a:buFont typeface="Arial" panose="020B0604020202020204" pitchFamily="34" charset="0"/>
              <a:buChar char="•"/>
            </a:pPr>
            <a:r>
              <a:rPr kumimoji="1"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语义错位问题</a:t>
            </a:r>
            <a:r>
              <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rPr>
              <a:t>：静态语言标签并不会跟随高斯参数同步更新</a:t>
            </a:r>
            <a:endPar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r>
              <a:rPr kumimoji="1"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误差传递：</a:t>
            </a:r>
            <a:r>
              <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rPr>
              <a:t>语义误差会传递到后续匹配阶段</a:t>
            </a:r>
            <a:endPar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r>
              <a:rPr kumimoji="1"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对</a:t>
            </a:r>
            <a:r>
              <a:rPr kumimoji="1"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SPL</a:t>
            </a:r>
            <a:r>
              <a:rPr kumimoji="1"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影响有限：</a:t>
            </a:r>
            <a:r>
              <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rPr>
              <a:t>语义监督主要影响目标识别，对于已确定的目标实例，路径规划影响较小</a:t>
            </a:r>
            <a:endPar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5"/>
          <a:stretch>
            <a:fillRect/>
          </a:stretch>
        </p:blipFill>
        <p:spPr>
          <a:xfrm>
            <a:off x="5073015" y="3700780"/>
            <a:ext cx="7011670" cy="17684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3993401"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实验与效果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消融实验</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175107" y="1060924"/>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2839239"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语义渲染监督有效性</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pic>
        <p:nvPicPr>
          <p:cNvPr id="3" name="图片 2"/>
          <p:cNvPicPr>
            <a:picLocks noChangeAspect="1"/>
          </p:cNvPicPr>
          <p:nvPr/>
        </p:nvPicPr>
        <p:blipFill>
          <a:blip r:embed="rId4"/>
          <a:stretch>
            <a:fillRect/>
          </a:stretch>
        </p:blipFill>
        <p:spPr>
          <a:xfrm>
            <a:off x="839416" y="1461034"/>
            <a:ext cx="10638971" cy="478212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3993401"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实验与效果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消融实验</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174987" y="1055967"/>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2249334"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位姿精修有效性</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pic>
        <p:nvPicPr>
          <p:cNvPr id="4" name="图片 3"/>
          <p:cNvPicPr>
            <a:picLocks noChangeAspect="1"/>
          </p:cNvPicPr>
          <p:nvPr/>
        </p:nvPicPr>
        <p:blipFill>
          <a:blip r:embed="rId4"/>
          <a:stretch>
            <a:fillRect/>
          </a:stretch>
        </p:blipFill>
        <p:spPr>
          <a:xfrm>
            <a:off x="5073015" y="1519555"/>
            <a:ext cx="7031990" cy="1976755"/>
          </a:xfrm>
          <a:prstGeom prst="rect">
            <a:avLst/>
          </a:prstGeom>
        </p:spPr>
      </p:pic>
      <p:sp>
        <p:nvSpPr>
          <p:cNvPr id="3" name="文本框 2"/>
          <p:cNvSpPr txBox="1"/>
          <p:nvPr/>
        </p:nvSpPr>
        <p:spPr>
          <a:xfrm>
            <a:off x="381000" y="1671320"/>
            <a:ext cx="4064000" cy="3166745"/>
          </a:xfrm>
          <a:prstGeom prst="rect">
            <a:avLst/>
          </a:prstGeom>
          <a:noFill/>
        </p:spPr>
        <p:txBody>
          <a:bodyPr wrap="square" rtlCol="0">
            <a:spAutoFit/>
          </a:bodyPr>
          <a:p>
            <a:pPr marL="171450" lvl="0" indent="-171450" algn="l">
              <a:lnSpc>
                <a:spcPct val="130000"/>
              </a:lnSpc>
              <a:buFont typeface="Arial" panose="020B0604020202020204" pitchFamily="34" charset="0"/>
              <a:buChar char="•"/>
            </a:pP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移除</a:t>
            </a:r>
            <a:r>
              <a:rPr kumimoji="1" lang="en-US" altLang="zh-CN" sz="1400" dirty="0">
                <a:latin typeface="微软雅黑" panose="020B0503020204020204" pitchFamily="34" charset="-122"/>
                <a:ea typeface="微软雅黑" panose="020B0503020204020204" pitchFamily="34" charset="-122"/>
                <a:cs typeface="微软雅黑" panose="020B0503020204020204" pitchFamily="34" charset="-122"/>
              </a:rPr>
              <a:t>Warping Loss</a:t>
            </a: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位姿精修模块，不在通过光度对齐损失对目标位姿进行优化</a:t>
            </a:r>
            <a:endPar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在目标匹配阶段直接使用</a:t>
            </a:r>
            <a:r>
              <a:rPr kumimoji="1" lang="en-US" altLang="zh-CN" sz="1400" dirty="0">
                <a:latin typeface="微软雅黑" panose="020B0503020204020204" pitchFamily="34" charset="-122"/>
                <a:ea typeface="微软雅黑" panose="020B0503020204020204" pitchFamily="34" charset="-122"/>
                <a:cs typeface="微软雅黑" panose="020B0503020204020204" pitchFamily="34" charset="-122"/>
              </a:rPr>
              <a:t>DISK+LightGlue</a:t>
            </a: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的特征匹配结果估算目标</a:t>
            </a:r>
            <a:r>
              <a:rPr kumimoji="1" lang="en-US" altLang="zh-CN" sz="1400" dirty="0">
                <a:latin typeface="微软雅黑" panose="020B0503020204020204" pitchFamily="34" charset="-122"/>
                <a:ea typeface="微软雅黑" panose="020B0503020204020204" pitchFamily="34" charset="-122"/>
                <a:cs typeface="微软雅黑" panose="020B0503020204020204" pitchFamily="34" charset="-122"/>
              </a:rPr>
              <a:t>3D</a:t>
            </a: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位置</a:t>
            </a:r>
            <a:endPar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endPar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成功率：</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0.778</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下降至</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0.748</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3.86%</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endPar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SPL</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0.585</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下降至</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0.582</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0.51%</a:t>
            </a:r>
            <a:r>
              <a:rPr kumimoji="1"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a:t>
            </a:r>
            <a:endPar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endPar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语义损失保持不变：因为位姿精修模块与语义优化在流程上处于前后两个阶段，是完全独立的两个环节</a:t>
            </a:r>
            <a:endPar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5"/>
          <a:stretch>
            <a:fillRect/>
          </a:stretch>
        </p:blipFill>
        <p:spPr>
          <a:xfrm>
            <a:off x="5073015" y="3832225"/>
            <a:ext cx="7016750" cy="1769745"/>
          </a:xfrm>
          <a:prstGeom prst="rect">
            <a:avLst/>
          </a:prstGeom>
        </p:spPr>
      </p:pic>
      <p:sp>
        <p:nvSpPr>
          <p:cNvPr id="6" name="文本框 5"/>
          <p:cNvSpPr txBox="1"/>
          <p:nvPr/>
        </p:nvSpPr>
        <p:spPr>
          <a:xfrm>
            <a:off x="381000" y="5122545"/>
            <a:ext cx="4582795" cy="1050925"/>
          </a:xfrm>
          <a:prstGeom prst="rect">
            <a:avLst/>
          </a:prstGeom>
          <a:noFill/>
        </p:spPr>
        <p:txBody>
          <a:bodyPr wrap="square" rtlCol="0">
            <a:spAutoFit/>
          </a:bodyPr>
          <a:p>
            <a:pPr marL="171450" lvl="0" indent="-171450" algn="l">
              <a:lnSpc>
                <a:spcPct val="130000"/>
              </a:lnSpc>
              <a:buFont typeface="Arial" panose="020B0604020202020204" pitchFamily="34" charset="0"/>
              <a:buChar char="•"/>
            </a:pPr>
            <a:r>
              <a:rPr kumimoji="1"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特征匹配局限性</a:t>
            </a:r>
            <a:r>
              <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rPr>
              <a:t>：局部特征匹配误差过大</a:t>
            </a:r>
            <a:endPar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171450" lvl="0" indent="-171450" algn="l">
              <a:lnSpc>
                <a:spcPct val="130000"/>
              </a:lnSpc>
              <a:buFont typeface="Arial" panose="020B0604020202020204" pitchFamily="34" charset="0"/>
              <a:buChar char="•"/>
            </a:pPr>
            <a:r>
              <a:rPr kumimoji="1"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光度对齐优势：</a:t>
            </a:r>
            <a:r>
              <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rPr>
              <a:t>优化初始位姿到目标拍摄位姿</a:t>
            </a:r>
            <a:endPar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lvl="0" indent="0" algn="l">
              <a:lnSpc>
                <a:spcPct val="130000"/>
              </a:lnSpc>
              <a:buFont typeface="Arial" panose="020B0604020202020204" pitchFamily="34" charset="0"/>
              <a:buNone/>
            </a:pPr>
            <a:endPar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3993401"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实验与效果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消融实验</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839341" y="1217024"/>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1954381"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消融实验结论</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2" name="文本框 1"/>
          <p:cNvSpPr txBox="1"/>
          <p:nvPr/>
        </p:nvSpPr>
        <p:spPr>
          <a:xfrm>
            <a:off x="2908300" y="1715770"/>
            <a:ext cx="6709410" cy="3784600"/>
          </a:xfrm>
          <a:prstGeom prst="rect">
            <a:avLst/>
          </a:prstGeom>
          <a:noFill/>
        </p:spPr>
        <p:txBody>
          <a:bodyPr wrap="square" rtlCol="0">
            <a:spAutoFit/>
          </a:bodyPr>
          <a:p>
            <a:pPr marL="171450" indent="-171450" algn="l">
              <a:lnSpc>
                <a:spcPct val="150000"/>
              </a:lnSpc>
              <a:buFont typeface="Arial" panose="020B0604020202020204" pitchFamily="34" charset="0"/>
              <a:buChar char="•"/>
            </a:pPr>
            <a:r>
              <a:rPr kumimoji="1"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语义渲染监督</a:t>
            </a:r>
            <a:endParaRPr kumimoji="1"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a:p>
            <a:pPr marL="628650" lvl="1" indent="-171450" algn="l">
              <a:lnSpc>
                <a:spcPct val="150000"/>
              </a:lnSpc>
              <a:buFont typeface="Arial" panose="020B0604020202020204" pitchFamily="34" charset="0"/>
              <a:buChar char="•"/>
            </a:pP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贡献的主要来源</a:t>
            </a:r>
            <a:endPar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628650" lvl="1" indent="-171450" algn="l">
              <a:lnSpc>
                <a:spcPct val="150000"/>
              </a:lnSpc>
              <a:buFont typeface="Arial" panose="020B0604020202020204" pitchFamily="34" charset="0"/>
              <a:buChar char="•"/>
            </a:pP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解决了</a:t>
            </a:r>
            <a:r>
              <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rPr>
              <a:t>GaussNav</a:t>
            </a: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中语义标签与几何纹理参数脱节的问题</a:t>
            </a:r>
            <a:endPar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gn="l">
              <a:lnSpc>
                <a:spcPct val="150000"/>
              </a:lnSpc>
              <a:buFont typeface="Arial" panose="020B0604020202020204" pitchFamily="34" charset="0"/>
              <a:buChar char="•"/>
            </a:pPr>
            <a:r>
              <a:rPr kumimoji="1"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Warping Loss</a:t>
            </a:r>
            <a:r>
              <a:rPr kumimoji="1"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位姿精修</a:t>
            </a:r>
            <a:endParaRPr kumimoji="1"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a:p>
            <a:pPr marL="628650" lvl="1" indent="-171450" algn="l">
              <a:lnSpc>
                <a:spcPct val="150000"/>
              </a:lnSpc>
              <a:buFont typeface="Arial" panose="020B0604020202020204" pitchFamily="34" charset="0"/>
              <a:buChar char="•"/>
            </a:pP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贡献</a:t>
            </a:r>
            <a:r>
              <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rPr>
              <a:t>3.86%</a:t>
            </a: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的成功率提升</a:t>
            </a:r>
            <a:endPar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628650" lvl="1" indent="-171450" algn="l">
              <a:lnSpc>
                <a:spcPct val="150000"/>
              </a:lnSpc>
              <a:buFont typeface="Arial" panose="020B0604020202020204" pitchFamily="34" charset="0"/>
              <a:buChar char="•"/>
            </a:pP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进一步优化了目标定位精度</a:t>
            </a:r>
            <a:endPar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628650" lvl="1" indent="-171450" algn="l">
              <a:lnSpc>
                <a:spcPct val="150000"/>
              </a:lnSpc>
              <a:buFont typeface="Arial" panose="020B0604020202020204" pitchFamily="34" charset="0"/>
              <a:buChar char="•"/>
            </a:pP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对语义渲染质量没有影响</a:t>
            </a:r>
            <a:endPar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3993401"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实验与效果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误差分析</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304671" y="962389"/>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1954381" cy="40011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语义错误识别</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6" name="文本框 5"/>
          <p:cNvSpPr txBox="1"/>
          <p:nvPr/>
        </p:nvSpPr>
        <p:spPr>
          <a:xfrm>
            <a:off x="2087880" y="4660265"/>
            <a:ext cx="8117840" cy="1465580"/>
          </a:xfrm>
          <a:prstGeom prst="rect">
            <a:avLst/>
          </a:prstGeom>
          <a:noFill/>
        </p:spPr>
        <p:txBody>
          <a:bodyPr wrap="square" rtlCol="0">
            <a:noAutofit/>
          </a:bodyPr>
          <a:p>
            <a:pPr marL="171450" indent="-171450" algn="l">
              <a:lnSpc>
                <a:spcPct val="130000"/>
              </a:lnSpc>
              <a:buFont typeface="Arial" panose="020B0604020202020204" pitchFamily="34" charset="0"/>
              <a:buChar char="•"/>
            </a:pP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Yolo26</a:t>
            </a:r>
            <a:r>
              <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rPr>
              <a:t>语义分割模型在某些场景中会将一个物体归类为错误的实例类别</a:t>
            </a:r>
            <a:endPar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gn="l">
              <a:lnSpc>
                <a:spcPct val="130000"/>
              </a:lnSpc>
              <a:buFont typeface="Arial" panose="020B0604020202020204" pitchFamily="34" charset="0"/>
              <a:buChar char="•"/>
            </a:pPr>
            <a:endPar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gn="l">
              <a:lnSpc>
                <a:spcPct val="130000"/>
              </a:lnSpc>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rPr>
              <a:t>将</a:t>
            </a: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GT</a:t>
            </a:r>
            <a:r>
              <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rPr>
              <a:t>规定为椅子</a:t>
            </a: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56</a:t>
            </a:r>
            <a:r>
              <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rPr>
              <a:t>的实例错误识别为床</a:t>
            </a:r>
            <a:r>
              <a:rPr kumimoji="1" lang="en-US" altLang="zh-CN" sz="1600" dirty="0">
                <a:latin typeface="微软雅黑" panose="020B0503020204020204" pitchFamily="34" charset="-122"/>
                <a:ea typeface="微软雅黑" panose="020B0503020204020204" pitchFamily="34" charset="-122"/>
                <a:cs typeface="微软雅黑" panose="020B0503020204020204" pitchFamily="34" charset="-122"/>
              </a:rPr>
              <a:t>59</a:t>
            </a:r>
            <a:r>
              <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rPr>
              <a:t>导致初始位姿估计出现严重偏差，位姿精修也出现严重偏差</a:t>
            </a:r>
            <a:endPar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图片 6"/>
          <p:cNvPicPr>
            <a:picLocks noChangeAspect="1"/>
          </p:cNvPicPr>
          <p:nvPr/>
        </p:nvPicPr>
        <p:blipFill>
          <a:blip r:embed="rId4"/>
          <a:stretch>
            <a:fillRect/>
          </a:stretch>
        </p:blipFill>
        <p:spPr>
          <a:xfrm>
            <a:off x="2044065" y="1341755"/>
            <a:ext cx="8103235" cy="299148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0" y="-1"/>
            <a:ext cx="12192000" cy="6858002"/>
            <a:chOff x="0" y="-1"/>
            <a:chExt cx="12192000" cy="6858002"/>
          </a:xfrm>
        </p:grpSpPr>
        <p:sp>
          <p:nvSpPr>
            <p:cNvPr id="33" name="矩形 32"/>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4" name="矩形 33"/>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35" name="矩形 34"/>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36" name="组合 35"/>
          <p:cNvGrpSpPr/>
          <p:nvPr/>
        </p:nvGrpSpPr>
        <p:grpSpPr>
          <a:xfrm>
            <a:off x="133400" y="140547"/>
            <a:ext cx="11901234" cy="6795389"/>
            <a:chOff x="133400" y="140547"/>
            <a:chExt cx="11901234" cy="6795389"/>
          </a:xfrm>
        </p:grpSpPr>
        <p:pic>
          <p:nvPicPr>
            <p:cNvPr id="37" name="图片 36"/>
            <p:cNvPicPr>
              <a:picLocks noChangeAspect="1"/>
            </p:cNvPicPr>
            <p:nvPr/>
          </p:nvPicPr>
          <p:blipFill>
            <a:blip r:embed="rId1" cstate="screen">
              <a:alphaModFix amt="70000"/>
            </a:blip>
            <a:stretch>
              <a:fillRect/>
            </a:stretch>
          </p:blipFill>
          <p:spPr>
            <a:xfrm>
              <a:off x="9840416" y="140547"/>
              <a:ext cx="2031325" cy="403124"/>
            </a:xfrm>
            <a:prstGeom prst="rect">
              <a:avLst/>
            </a:prstGeom>
          </p:spPr>
        </p:pic>
        <p:pic>
          <p:nvPicPr>
            <p:cNvPr id="38" name="图片 37"/>
            <p:cNvPicPr>
              <a:picLocks noChangeAspect="1"/>
            </p:cNvPicPr>
            <p:nvPr/>
          </p:nvPicPr>
          <p:blipFill>
            <a:blip r:embed="rId2" cstate="screen">
              <a:alphaModFix amt="50000"/>
            </a:blip>
            <a:stretch>
              <a:fillRect/>
            </a:stretch>
          </p:blipFill>
          <p:spPr>
            <a:xfrm>
              <a:off x="8996245" y="6572902"/>
              <a:ext cx="3038389" cy="185483"/>
            </a:xfrm>
            <a:prstGeom prst="rect">
              <a:avLst/>
            </a:prstGeom>
          </p:spPr>
        </p:pic>
        <p:pic>
          <p:nvPicPr>
            <p:cNvPr id="39" name="图片 38" descr="图片包含 游戏机, 画, 钟表&#10;&#10;描述已自动生成"/>
            <p:cNvPicPr>
              <a:picLocks noChangeAspect="1"/>
            </p:cNvPicPr>
            <p:nvPr/>
          </p:nvPicPr>
          <p:blipFill>
            <a:blip r:embed="rId3"/>
            <a:stretch>
              <a:fillRect/>
            </a:stretch>
          </p:blipFill>
          <p:spPr>
            <a:xfrm>
              <a:off x="133400" y="6453336"/>
              <a:ext cx="2362200" cy="482600"/>
            </a:xfrm>
            <a:prstGeom prst="rect">
              <a:avLst/>
            </a:prstGeom>
          </p:spPr>
        </p:pic>
      </p:grpSp>
      <p:sp>
        <p:nvSpPr>
          <p:cNvPr id="26" name="文本框 25"/>
          <p:cNvSpPr txBox="1"/>
          <p:nvPr/>
        </p:nvSpPr>
        <p:spPr>
          <a:xfrm>
            <a:off x="175107" y="116852"/>
            <a:ext cx="527709" cy="46166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03</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3993401"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实验与效果</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误差分析</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25" name="组合 24"/>
          <p:cNvGrpSpPr/>
          <p:nvPr/>
        </p:nvGrpSpPr>
        <p:grpSpPr>
          <a:xfrm>
            <a:off x="304671" y="962389"/>
            <a:ext cx="5248573" cy="873456"/>
            <a:chOff x="839416" y="4170998"/>
            <a:chExt cx="5248573" cy="873456"/>
          </a:xfrm>
        </p:grpSpPr>
        <p:sp>
          <p:nvSpPr>
            <p:cNvPr id="29" name="矩形 28"/>
            <p:cNvSpPr/>
            <p:nvPr/>
          </p:nvSpPr>
          <p:spPr>
            <a:xfrm>
              <a:off x="839416" y="4663644"/>
              <a:ext cx="5248573" cy="380810"/>
            </a:xfrm>
            <a:prstGeom prst="rect">
              <a:avLst/>
            </a:prstGeom>
          </p:spPr>
          <p:txBody>
            <a:bodyPr wrap="square">
              <a:spAutoFit/>
            </a:bodyPr>
            <a:lstStyle/>
            <a:p>
              <a:pPr marL="285750" indent="-285750" algn="just" hangingPunct="0">
                <a:lnSpc>
                  <a:spcPct val="130000"/>
                </a:lnSpc>
                <a:buFont typeface="Arial" panose="020B0604020202020204" pitchFamily="34" charset="0"/>
                <a:buChar char="•"/>
              </a:pP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30" name="圆角矩形 29"/>
            <p:cNvSpPr/>
            <p:nvPr/>
          </p:nvSpPr>
          <p:spPr>
            <a:xfrm>
              <a:off x="941260" y="4601999"/>
              <a:ext cx="407290" cy="69782"/>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latin typeface="Arial" panose="020B0604020202020204" pitchFamily="34" charset="0"/>
                <a:ea typeface="微软雅黑" panose="020B0503020204020204" pitchFamily="34" charset="-122"/>
                <a:cs typeface="Arial" panose="020B0604020202020204" pitchFamily="34" charset="0"/>
              </a:endParaRPr>
            </a:p>
          </p:txBody>
        </p:sp>
        <p:sp>
          <p:nvSpPr>
            <p:cNvPr id="31" name="文本框 30"/>
            <p:cNvSpPr txBox="1"/>
            <p:nvPr/>
          </p:nvSpPr>
          <p:spPr>
            <a:xfrm>
              <a:off x="839416" y="4170998"/>
              <a:ext cx="2811780" cy="398780"/>
            </a:xfrm>
            <a:prstGeom prst="rect">
              <a:avLst/>
            </a:prstGeom>
            <a:noFill/>
          </p:spPr>
          <p:txBody>
            <a:bodyPr wrap="none" rtlCol="0">
              <a:spAutoFit/>
            </a:bodyPr>
            <a:lstStyle/>
            <a:p>
              <a:pPr algn="l"/>
              <a:r>
                <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rPr>
                <a:t>场景质量建立不完善</a:t>
              </a:r>
              <a:endParaRPr kumimoji="1" lang="zh-CN" altLang="en-US" sz="2000" b="1" spc="300" dirty="0">
                <a:gradFill>
                  <a:gsLst>
                    <a:gs pos="0">
                      <a:schemeClr val="tx1"/>
                    </a:gs>
                    <a:gs pos="100000">
                      <a:schemeClr val="tx1">
                        <a:lumMod val="65000"/>
                        <a:lumOff val="35000"/>
                      </a:scheme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sp>
        <p:nvSpPr>
          <p:cNvPr id="6" name="文本框 5"/>
          <p:cNvSpPr txBox="1"/>
          <p:nvPr/>
        </p:nvSpPr>
        <p:spPr>
          <a:xfrm>
            <a:off x="406400" y="4855210"/>
            <a:ext cx="6743065" cy="1536700"/>
          </a:xfrm>
          <a:prstGeom prst="rect">
            <a:avLst/>
          </a:prstGeom>
          <a:noFill/>
        </p:spPr>
        <p:txBody>
          <a:bodyPr wrap="square" rtlCol="0">
            <a:noAutofit/>
          </a:bodyPr>
          <a:p>
            <a:pPr marL="171450" indent="-171450" algn="l">
              <a:lnSpc>
                <a:spcPct val="130000"/>
              </a:lnSpc>
              <a:buFont typeface="Arial" panose="020B0604020202020204" pitchFamily="34" charset="0"/>
              <a:buChar char="•"/>
            </a:pPr>
            <a:endParaRPr kumimoji="1"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4"/>
          <a:stretch>
            <a:fillRect/>
          </a:stretch>
        </p:blipFill>
        <p:spPr>
          <a:xfrm>
            <a:off x="406400" y="2957195"/>
            <a:ext cx="6743700" cy="2771775"/>
          </a:xfrm>
          <a:prstGeom prst="rect">
            <a:avLst/>
          </a:prstGeom>
        </p:spPr>
      </p:pic>
      <p:pic>
        <p:nvPicPr>
          <p:cNvPr id="3" name="图片 2"/>
          <p:cNvPicPr>
            <a:picLocks noChangeAspect="1"/>
          </p:cNvPicPr>
          <p:nvPr/>
        </p:nvPicPr>
        <p:blipFill>
          <a:blip r:embed="rId5"/>
          <a:stretch>
            <a:fillRect/>
          </a:stretch>
        </p:blipFill>
        <p:spPr>
          <a:xfrm>
            <a:off x="7578725" y="1393190"/>
            <a:ext cx="4375150" cy="4803140"/>
          </a:xfrm>
          <a:prstGeom prst="rect">
            <a:avLst/>
          </a:prstGeom>
        </p:spPr>
      </p:pic>
      <p:pic>
        <p:nvPicPr>
          <p:cNvPr id="4" name="图片 3"/>
          <p:cNvPicPr>
            <a:picLocks noChangeAspect="1"/>
          </p:cNvPicPr>
          <p:nvPr/>
        </p:nvPicPr>
        <p:blipFill>
          <a:blip r:embed="rId6"/>
          <a:stretch>
            <a:fillRect/>
          </a:stretch>
        </p:blipFill>
        <p:spPr>
          <a:xfrm>
            <a:off x="580390" y="1609725"/>
            <a:ext cx="6395720" cy="109918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4719662" y="1587570"/>
            <a:ext cx="2752677" cy="2862322"/>
          </a:xfrm>
          <a:prstGeom prst="rect">
            <a:avLst/>
          </a:prstGeom>
          <a:noFill/>
        </p:spPr>
        <p:txBody>
          <a:bodyPr wrap="none" rtlCol="0">
            <a:spAutoFit/>
          </a:bodyPr>
          <a:lstStyle/>
          <a:p>
            <a:pPr algn="ctr"/>
            <a:r>
              <a:rPr kumimoji="1" lang="en-US" altLang="zh-CN" sz="18000" b="1" dirty="0">
                <a:ln w="47625" cap="rnd">
                  <a:gradFill>
                    <a:gsLst>
                      <a:gs pos="0">
                        <a:srgbClr val="C00000"/>
                      </a:gs>
                      <a:gs pos="70000">
                        <a:srgbClr val="C00000">
                          <a:alpha val="0"/>
                        </a:srgbClr>
                      </a:gs>
                    </a:gsLst>
                    <a:lin ang="5400000" scaled="1"/>
                  </a:gradFill>
                </a:ln>
                <a:gradFill>
                  <a:gsLst>
                    <a:gs pos="0">
                      <a:srgbClr val="C00000">
                        <a:alpha val="13000"/>
                      </a:srgbClr>
                    </a:gs>
                    <a:gs pos="70000">
                      <a:srgbClr val="C00000">
                        <a:alpha val="0"/>
                      </a:srgbClr>
                    </a:gs>
                  </a:gsLst>
                  <a:lin ang="5400000" scaled="1"/>
                </a:gradFill>
                <a:latin typeface="Arial" panose="020B0604020202020204" pitchFamily="34" charset="0"/>
                <a:ea typeface="ZhenyanGB" panose="02010600030101010101" pitchFamily="2" charset="-122"/>
                <a:cs typeface="Arial" panose="020B0604020202020204" pitchFamily="34" charset="0"/>
              </a:rPr>
              <a:t>04</a:t>
            </a:r>
            <a:endParaRPr kumimoji="1" lang="zh-CN" altLang="en-US" sz="18000" b="1" dirty="0">
              <a:ln w="47625" cap="rnd">
                <a:gradFill>
                  <a:gsLst>
                    <a:gs pos="0">
                      <a:srgbClr val="C00000"/>
                    </a:gs>
                    <a:gs pos="70000">
                      <a:srgbClr val="C00000">
                        <a:alpha val="0"/>
                      </a:srgbClr>
                    </a:gs>
                  </a:gsLst>
                  <a:lin ang="5400000" scaled="1"/>
                </a:gradFill>
              </a:ln>
              <a:gradFill>
                <a:gsLst>
                  <a:gs pos="0">
                    <a:srgbClr val="C00000">
                      <a:alpha val="13000"/>
                    </a:srgbClr>
                  </a:gs>
                  <a:gs pos="70000">
                    <a:srgbClr val="C00000">
                      <a:alpha val="0"/>
                    </a:srgbClr>
                  </a:gs>
                </a:gsLst>
                <a:lin ang="5400000" scaled="1"/>
              </a:gradFill>
              <a:latin typeface="Arial" panose="020B0604020202020204" pitchFamily="34" charset="0"/>
              <a:ea typeface="ZhenyanGB" panose="02010600030101010101" pitchFamily="2" charset="-122"/>
              <a:cs typeface="Arial" panose="020B0604020202020204" pitchFamily="34" charset="0"/>
            </a:endParaRPr>
          </a:p>
        </p:txBody>
      </p:sp>
      <p:sp>
        <p:nvSpPr>
          <p:cNvPr id="14" name="文本框 13"/>
          <p:cNvSpPr txBox="1"/>
          <p:nvPr/>
        </p:nvSpPr>
        <p:spPr>
          <a:xfrm>
            <a:off x="4176244" y="3573006"/>
            <a:ext cx="3839513" cy="2585323"/>
          </a:xfrm>
          <a:prstGeom prst="rect">
            <a:avLst/>
          </a:prstGeom>
          <a:noFill/>
        </p:spPr>
        <p:txBody>
          <a:bodyPr wrap="none" rtlCol="0">
            <a:spAutoFit/>
          </a:bodyPr>
          <a:lstStyle/>
          <a:p>
            <a:pPr algn="l"/>
            <a:r>
              <a:rPr kumimoji="1" lang="zh-CN" altLang="en-US" sz="5400" b="1" spc="300" dirty="0">
                <a:gradFill>
                  <a:gsLst>
                    <a:gs pos="0">
                      <a:srgbClr val="C00000"/>
                    </a:gs>
                    <a:gs pos="100000">
                      <a:srgbClr val="F87768"/>
                    </a:gs>
                  </a:gsLst>
                  <a:lin ang="5400000" scaled="0"/>
                </a:gradFill>
                <a:latin typeface="Arial" panose="020B0604020202020204" pitchFamily="34" charset="0"/>
                <a:ea typeface="微软雅黑" panose="020B0503020204020204" pitchFamily="34" charset="-122"/>
                <a:cs typeface="Arial" panose="020B0604020202020204" pitchFamily="34" charset="0"/>
              </a:rPr>
              <a:t>总结与展望</a:t>
            </a:r>
            <a:endParaRPr kumimoji="1" lang="zh-CN" altLang="en-US" sz="5400" b="1" spc="300" dirty="0">
              <a:gradFill>
                <a:gsLst>
                  <a:gs pos="0">
                    <a:srgbClr val="C00000"/>
                  </a:gs>
                  <a:gs pos="100000">
                    <a:srgbClr val="F87768"/>
                  </a:gs>
                </a:gsLst>
                <a:lin ang="5400000" scaled="0"/>
              </a:gradFill>
              <a:latin typeface="Arial" panose="020B0604020202020204" pitchFamily="34" charset="0"/>
              <a:ea typeface="微软雅黑" panose="020B0503020204020204" pitchFamily="34" charset="-122"/>
              <a:cs typeface="Arial" panose="020B0604020202020204" pitchFamily="34" charset="0"/>
            </a:endParaRPr>
          </a:p>
          <a:p>
            <a:pPr algn="ctr"/>
            <a:endParaRPr kumimoji="1" lang="en-US" altLang="zh-CN" sz="5400" b="1" spc="300" dirty="0">
              <a:gradFill>
                <a:gsLst>
                  <a:gs pos="0">
                    <a:srgbClr val="C00000"/>
                  </a:gs>
                  <a:gs pos="100000">
                    <a:srgbClr val="F87768"/>
                  </a:gs>
                </a:gsLst>
                <a:lin ang="5400000" scaled="0"/>
              </a:gradFill>
              <a:latin typeface="Arial" panose="020B0604020202020204" pitchFamily="34" charset="0"/>
              <a:ea typeface="微软雅黑" panose="020B0503020204020204" pitchFamily="34" charset="-122"/>
              <a:cs typeface="Arial" panose="020B0604020202020204" pitchFamily="34" charset="0"/>
            </a:endParaRPr>
          </a:p>
          <a:p>
            <a:pPr algn="l"/>
            <a:endParaRPr kumimoji="1" lang="zh-CN" altLang="en-US" sz="5400" b="1" spc="300" dirty="0">
              <a:gradFill>
                <a:gsLst>
                  <a:gs pos="0">
                    <a:srgbClr val="C00000"/>
                  </a:gs>
                  <a:gs pos="100000">
                    <a:srgbClr val="F87768"/>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grpSp>
        <p:nvGrpSpPr>
          <p:cNvPr id="40" name="组合 39"/>
          <p:cNvGrpSpPr/>
          <p:nvPr/>
        </p:nvGrpSpPr>
        <p:grpSpPr>
          <a:xfrm>
            <a:off x="0" y="-1"/>
            <a:ext cx="12192000" cy="6858002"/>
            <a:chOff x="0" y="-1"/>
            <a:chExt cx="12192000" cy="6858002"/>
          </a:xfrm>
        </p:grpSpPr>
        <p:sp>
          <p:nvSpPr>
            <p:cNvPr id="41" name="矩形 40"/>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2" name="矩形 41"/>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3" name="矩形 42"/>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44" name="组合 43"/>
          <p:cNvGrpSpPr/>
          <p:nvPr/>
        </p:nvGrpSpPr>
        <p:grpSpPr>
          <a:xfrm>
            <a:off x="133400" y="140547"/>
            <a:ext cx="11901234" cy="6795389"/>
            <a:chOff x="133400" y="140547"/>
            <a:chExt cx="11901234" cy="6795389"/>
          </a:xfrm>
        </p:grpSpPr>
        <p:pic>
          <p:nvPicPr>
            <p:cNvPr id="45" name="图片 44"/>
            <p:cNvPicPr>
              <a:picLocks noChangeAspect="1"/>
            </p:cNvPicPr>
            <p:nvPr/>
          </p:nvPicPr>
          <p:blipFill>
            <a:blip r:embed="rId2" cstate="screen">
              <a:alphaModFix amt="70000"/>
            </a:blip>
            <a:stretch>
              <a:fillRect/>
            </a:stretch>
          </p:blipFill>
          <p:spPr>
            <a:xfrm>
              <a:off x="9840416" y="140547"/>
              <a:ext cx="2031325" cy="403124"/>
            </a:xfrm>
            <a:prstGeom prst="rect">
              <a:avLst/>
            </a:prstGeom>
          </p:spPr>
        </p:pic>
        <p:pic>
          <p:nvPicPr>
            <p:cNvPr id="46" name="图片 45"/>
            <p:cNvPicPr>
              <a:picLocks noChangeAspect="1"/>
            </p:cNvPicPr>
            <p:nvPr/>
          </p:nvPicPr>
          <p:blipFill>
            <a:blip r:embed="rId3" cstate="screen">
              <a:alphaModFix amt="50000"/>
            </a:blip>
            <a:stretch>
              <a:fillRect/>
            </a:stretch>
          </p:blipFill>
          <p:spPr>
            <a:xfrm>
              <a:off x="8996245" y="6572902"/>
              <a:ext cx="3038389" cy="185483"/>
            </a:xfrm>
            <a:prstGeom prst="rect">
              <a:avLst/>
            </a:prstGeom>
          </p:spPr>
        </p:pic>
        <p:pic>
          <p:nvPicPr>
            <p:cNvPr id="47" name="图片 46" descr="图片包含 游戏机, 画, 钟表&#10;&#10;描述已自动生成"/>
            <p:cNvPicPr>
              <a:picLocks noChangeAspect="1"/>
            </p:cNvPicPr>
            <p:nvPr/>
          </p:nvPicPr>
          <p:blipFill>
            <a:blip r:embed="rId4"/>
            <a:stretch>
              <a:fillRect/>
            </a:stretch>
          </p:blipFill>
          <p:spPr>
            <a:xfrm>
              <a:off x="133400" y="6453336"/>
              <a:ext cx="2362200" cy="482600"/>
            </a:xfrm>
            <a:prstGeom prst="rect">
              <a:avLst/>
            </a:prstGeom>
          </p:spPr>
        </p:pic>
      </p:grpSp>
      <p:sp>
        <p:nvSpPr>
          <p:cNvPr id="26" name="文本框 25"/>
          <p:cNvSpPr txBox="1"/>
          <p:nvPr/>
        </p:nvSpPr>
        <p:spPr>
          <a:xfrm>
            <a:off x="175107" y="116852"/>
            <a:ext cx="607060" cy="46037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04</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5724644" cy="46166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总结与展望</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本文取得的主要成果</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8" name="组合 7"/>
          <p:cNvGrpSpPr/>
          <p:nvPr>
            <p:custDataLst>
              <p:tags r:id="rId5"/>
            </p:custDataLst>
          </p:nvPr>
        </p:nvGrpSpPr>
        <p:grpSpPr>
          <a:xfrm>
            <a:off x="1008271" y="1171547"/>
            <a:ext cx="10229924" cy="1551191"/>
            <a:chOff x="1038116" y="1230602"/>
            <a:chExt cx="10229924" cy="1551191"/>
          </a:xfrm>
        </p:grpSpPr>
        <p:sp>
          <p:nvSpPr>
            <p:cNvPr id="13" name="文本框 12"/>
            <p:cNvSpPr txBox="1"/>
            <p:nvPr>
              <p:custDataLst>
                <p:tags r:id="rId6"/>
              </p:custDataLst>
            </p:nvPr>
          </p:nvSpPr>
          <p:spPr>
            <a:xfrm>
              <a:off x="1038116" y="1230602"/>
              <a:ext cx="755335" cy="707886"/>
            </a:xfrm>
            <a:prstGeom prst="rect">
              <a:avLst/>
            </a:prstGeom>
            <a:noFill/>
          </p:spPr>
          <p:txBody>
            <a:bodyPr wrap="none" rtlCol="0">
              <a:spAutoFit/>
            </a:bodyPr>
            <a:lstStyle/>
            <a:p>
              <a:pPr algn="l"/>
              <a:r>
                <a:rPr kumimoji="1" lang="en-US" altLang="zh-CN" sz="4000" b="1" dirty="0">
                  <a:gradFill>
                    <a:gsLst>
                      <a:gs pos="0">
                        <a:srgbClr val="C00000">
                          <a:alpha val="73000"/>
                        </a:srgbClr>
                      </a:gs>
                      <a:gs pos="100000">
                        <a:srgbClr val="C00000">
                          <a:alpha val="91000"/>
                        </a:srgbClr>
                      </a:gs>
                    </a:gsLst>
                    <a:lin ang="5400000" scaled="0"/>
                  </a:gradFill>
                  <a:latin typeface="Arial" panose="020B0604020202020204" pitchFamily="34" charset="0"/>
                  <a:ea typeface="微软雅黑" panose="020B0503020204020204" pitchFamily="34" charset="-122"/>
                  <a:cs typeface="Arial" panose="020B0604020202020204" pitchFamily="34" charset="0"/>
                </a:rPr>
                <a:t>01</a:t>
              </a:r>
              <a:endParaRPr kumimoji="1" lang="zh-CN" altLang="en-US" sz="4000" b="1" dirty="0">
                <a:gradFill>
                  <a:gsLst>
                    <a:gs pos="0">
                      <a:srgbClr val="C00000">
                        <a:alpha val="73000"/>
                      </a:srgbClr>
                    </a:gs>
                    <a:gs pos="100000">
                      <a:srgbClr val="C00000">
                        <a:alpha val="91000"/>
                      </a:srgb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
          <p:nvSpPr>
            <p:cNvPr id="14" name="文本框 13"/>
            <p:cNvSpPr txBox="1"/>
            <p:nvPr>
              <p:custDataLst>
                <p:tags r:id="rId7"/>
              </p:custDataLst>
            </p:nvPr>
          </p:nvSpPr>
          <p:spPr>
            <a:xfrm>
              <a:off x="1745304" y="1331333"/>
              <a:ext cx="5440680" cy="398780"/>
            </a:xfrm>
            <a:prstGeom prst="rect">
              <a:avLst/>
            </a:prstGeom>
            <a:noFill/>
          </p:spPr>
          <p:txBody>
            <a:bodyPr wrap="none" rtlCol="0">
              <a:spAutoFit/>
            </a:bodyPr>
            <a:lstStyle/>
            <a:p>
              <a:pPr algn="l"/>
              <a:r>
                <a:rPr kumimoji="1" lang="zh-CN" altLang="en-US" sz="2000" b="1" spc="300" dirty="0">
                  <a:gradFill>
                    <a:gsLst>
                      <a:gs pos="0">
                        <a:srgbClr val="C00000"/>
                      </a:gs>
                      <a:gs pos="100000">
                        <a:srgbClr val="770504"/>
                      </a:gs>
                    </a:gsLst>
                    <a:lin ang="5400000" scaled="0"/>
                  </a:gradFill>
                  <a:latin typeface="Arial" panose="020B0604020202020204" pitchFamily="34" charset="0"/>
                  <a:ea typeface="微软雅黑" panose="020B0503020204020204" pitchFamily="34" charset="-122"/>
                  <a:cs typeface="Arial" panose="020B0604020202020204" pitchFamily="34" charset="0"/>
                </a:rPr>
                <a:t>语义增强的高斯地图表示与联合优化机制</a:t>
              </a:r>
              <a:endParaRPr kumimoji="1" lang="zh-CN" altLang="en-US" sz="2000" b="1" spc="300" dirty="0">
                <a:gradFill>
                  <a:gsLst>
                    <a:gs pos="0">
                      <a:srgbClr val="C00000"/>
                    </a:gs>
                    <a:gs pos="100000">
                      <a:srgbClr val="770504"/>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
          <p:nvSpPr>
            <p:cNvPr id="15" name="文本框 14"/>
            <p:cNvSpPr txBox="1"/>
            <p:nvPr>
              <p:custDataLst>
                <p:tags r:id="rId8"/>
              </p:custDataLst>
            </p:nvPr>
          </p:nvSpPr>
          <p:spPr>
            <a:xfrm>
              <a:off x="1745304" y="1730868"/>
              <a:ext cx="9522736" cy="1050925"/>
            </a:xfrm>
            <a:prstGeom prst="rect">
              <a:avLst/>
            </a:prstGeom>
            <a:noFill/>
          </p:spPr>
          <p:txBody>
            <a:bodyPr wrap="square" rtlCol="0">
              <a:spAutoFit/>
            </a:bodyPr>
            <a:lstStyle/>
            <a:p>
              <a:pPr marL="285750" indent="-285750"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新增语义渲染通道在高斯初始化与致密化全流程中为每个高斯赋予多维语义向量</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将语义损失与</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RGB</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、深度等损失共同纳入该参数的监督优化过程</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实现了几何、纹理与语义信息的端到端联合学习优化</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grpSp>
      <p:cxnSp>
        <p:nvCxnSpPr>
          <p:cNvPr id="16" name="直线连接符 15"/>
          <p:cNvCxnSpPr/>
          <p:nvPr>
            <p:custDataLst>
              <p:tags r:id="rId9"/>
            </p:custDataLst>
          </p:nvPr>
        </p:nvCxnSpPr>
        <p:spPr>
          <a:xfrm>
            <a:off x="1715459" y="2807098"/>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直线连接符 33"/>
          <p:cNvCxnSpPr/>
          <p:nvPr>
            <p:custDataLst>
              <p:tags r:id="rId10"/>
            </p:custDataLst>
          </p:nvPr>
        </p:nvCxnSpPr>
        <p:spPr>
          <a:xfrm>
            <a:off x="1715459" y="4485389"/>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p:custDataLst>
              <p:tags r:id="rId11"/>
            </p:custDataLst>
          </p:nvPr>
        </p:nvGrpSpPr>
        <p:grpSpPr>
          <a:xfrm>
            <a:off x="1029292" y="2833981"/>
            <a:ext cx="10208903" cy="1567048"/>
            <a:chOff x="1059137" y="2893036"/>
            <a:chExt cx="10208903" cy="1567048"/>
          </a:xfrm>
        </p:grpSpPr>
        <p:sp>
          <p:nvSpPr>
            <p:cNvPr id="32" name="文本框 31"/>
            <p:cNvSpPr txBox="1"/>
            <p:nvPr>
              <p:custDataLst>
                <p:tags r:id="rId12"/>
              </p:custDataLst>
            </p:nvPr>
          </p:nvSpPr>
          <p:spPr>
            <a:xfrm>
              <a:off x="1745304" y="3009624"/>
              <a:ext cx="3395980" cy="398780"/>
            </a:xfrm>
            <a:prstGeom prst="rect">
              <a:avLst/>
            </a:prstGeom>
            <a:noFill/>
          </p:spPr>
          <p:txBody>
            <a:bodyPr wrap="none" rtlCol="0">
              <a:spAutoFit/>
            </a:bodyPr>
            <a:lstStyle/>
            <a:p>
              <a:pPr algn="l"/>
              <a:r>
                <a:rPr kumimoji="1" lang="zh-CN" altLang="en-US" sz="2000" b="1" spc="300" dirty="0">
                  <a:gradFill>
                    <a:gsLst>
                      <a:gs pos="0">
                        <a:srgbClr val="C00000"/>
                      </a:gs>
                      <a:gs pos="100000">
                        <a:srgbClr val="770504"/>
                      </a:gs>
                    </a:gsLst>
                    <a:lin ang="5400000" scaled="0"/>
                  </a:gradFill>
                  <a:latin typeface="Arial" panose="020B0604020202020204" pitchFamily="34" charset="0"/>
                  <a:ea typeface="微软雅黑" panose="020B0503020204020204" pitchFamily="34" charset="-122"/>
                  <a:cs typeface="Arial" panose="020B0604020202020204" pitchFamily="34" charset="0"/>
                </a:rPr>
                <a:t>两阶段目标位姿精修策略</a:t>
              </a:r>
              <a:endParaRPr kumimoji="1" lang="zh-CN" altLang="en-US" sz="2000" b="1" spc="300" dirty="0">
                <a:gradFill>
                  <a:gsLst>
                    <a:gs pos="0">
                      <a:srgbClr val="C00000"/>
                    </a:gs>
                    <a:gs pos="100000">
                      <a:srgbClr val="770504"/>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
          <p:nvSpPr>
            <p:cNvPr id="33" name="文本框 32"/>
            <p:cNvSpPr txBox="1"/>
            <p:nvPr>
              <p:custDataLst>
                <p:tags r:id="rId13"/>
              </p:custDataLst>
            </p:nvPr>
          </p:nvSpPr>
          <p:spPr>
            <a:xfrm>
              <a:off x="1745304" y="3409159"/>
              <a:ext cx="9522736" cy="1050925"/>
            </a:xfrm>
            <a:prstGeom prst="rect">
              <a:avLst/>
            </a:prstGeom>
            <a:noFill/>
          </p:spPr>
          <p:txBody>
            <a:bodyPr wrap="square" rtlCol="0">
              <a:spAutoFit/>
            </a:bodyPr>
            <a:lstStyle/>
            <a:p>
              <a:pPr marL="285750" indent="-285750"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基于融合</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GSplatLoc</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提供的可微分渲染位姿精修方案，提出</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初始粗位姿</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渲染精修</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两阶段位姿精修散发</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仅需单次前向渲染即可完成梯度计算与参数更新，降低内存开销与计算延迟</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50" name="文本框 49"/>
            <p:cNvSpPr txBox="1"/>
            <p:nvPr>
              <p:custDataLst>
                <p:tags r:id="rId14"/>
              </p:custDataLst>
            </p:nvPr>
          </p:nvSpPr>
          <p:spPr>
            <a:xfrm>
              <a:off x="1059137" y="2893036"/>
              <a:ext cx="755335" cy="707886"/>
            </a:xfrm>
            <a:prstGeom prst="rect">
              <a:avLst/>
            </a:prstGeom>
            <a:noFill/>
          </p:spPr>
          <p:txBody>
            <a:bodyPr wrap="none" rtlCol="0">
              <a:spAutoFit/>
            </a:bodyPr>
            <a:lstStyle/>
            <a:p>
              <a:pPr algn="l"/>
              <a:r>
                <a:rPr kumimoji="1" lang="en-US" altLang="zh-CN" sz="4000" b="1" dirty="0">
                  <a:gradFill>
                    <a:gsLst>
                      <a:gs pos="0">
                        <a:srgbClr val="C00000">
                          <a:alpha val="73000"/>
                        </a:srgbClr>
                      </a:gs>
                      <a:gs pos="100000">
                        <a:srgbClr val="C00000">
                          <a:alpha val="91000"/>
                        </a:srgbClr>
                      </a:gs>
                    </a:gsLst>
                    <a:lin ang="5400000" scaled="0"/>
                  </a:gradFill>
                  <a:latin typeface="Arial" panose="020B0604020202020204" pitchFamily="34" charset="0"/>
                  <a:ea typeface="微软雅黑" panose="020B0503020204020204" pitchFamily="34" charset="-122"/>
                  <a:cs typeface="Arial" panose="020B0604020202020204" pitchFamily="34" charset="0"/>
                </a:rPr>
                <a:t>02</a:t>
              </a:r>
              <a:endParaRPr kumimoji="1" lang="zh-CN" altLang="en-US" sz="4000" b="1" dirty="0">
                <a:gradFill>
                  <a:gsLst>
                    <a:gs pos="0">
                      <a:srgbClr val="C00000">
                        <a:alpha val="73000"/>
                      </a:srgbClr>
                    </a:gs>
                    <a:gs pos="100000">
                      <a:srgbClr val="C00000">
                        <a:alpha val="91000"/>
                      </a:srgb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2" name="组合 1"/>
          <p:cNvGrpSpPr/>
          <p:nvPr>
            <p:custDataLst>
              <p:tags r:id="rId15"/>
            </p:custDataLst>
          </p:nvPr>
        </p:nvGrpSpPr>
        <p:grpSpPr>
          <a:xfrm>
            <a:off x="1008271" y="4401792"/>
            <a:ext cx="10229924" cy="1231151"/>
            <a:chOff x="1038116" y="1230602"/>
            <a:chExt cx="10229924" cy="1231151"/>
          </a:xfrm>
        </p:grpSpPr>
        <p:sp>
          <p:nvSpPr>
            <p:cNvPr id="3" name="文本框 2"/>
            <p:cNvSpPr txBox="1"/>
            <p:nvPr>
              <p:custDataLst>
                <p:tags r:id="rId16"/>
              </p:custDataLst>
            </p:nvPr>
          </p:nvSpPr>
          <p:spPr>
            <a:xfrm>
              <a:off x="1038116" y="1230602"/>
              <a:ext cx="748030" cy="706755"/>
            </a:xfrm>
            <a:prstGeom prst="rect">
              <a:avLst/>
            </a:prstGeom>
            <a:noFill/>
          </p:spPr>
          <p:txBody>
            <a:bodyPr wrap="none" rtlCol="0">
              <a:spAutoFit/>
            </a:bodyPr>
            <a:lstStyle/>
            <a:p>
              <a:pPr algn="l"/>
              <a:r>
                <a:rPr kumimoji="1" lang="en-US" altLang="zh-CN" sz="4000" b="1" dirty="0">
                  <a:gradFill>
                    <a:gsLst>
                      <a:gs pos="0">
                        <a:srgbClr val="C00000">
                          <a:alpha val="73000"/>
                        </a:srgbClr>
                      </a:gs>
                      <a:gs pos="100000">
                        <a:srgbClr val="C00000">
                          <a:alpha val="91000"/>
                        </a:srgbClr>
                      </a:gs>
                    </a:gsLst>
                    <a:lin ang="5400000" scaled="0"/>
                  </a:gradFill>
                  <a:latin typeface="Arial" panose="020B0604020202020204" pitchFamily="34" charset="0"/>
                  <a:ea typeface="微软雅黑" panose="020B0503020204020204" pitchFamily="34" charset="-122"/>
                  <a:cs typeface="Arial" panose="020B0604020202020204" pitchFamily="34" charset="0"/>
                </a:rPr>
                <a:t>03</a:t>
              </a:r>
              <a:endParaRPr kumimoji="1" lang="zh-CN" altLang="en-US" sz="4000" b="1" dirty="0">
                <a:gradFill>
                  <a:gsLst>
                    <a:gs pos="0">
                      <a:srgbClr val="C00000">
                        <a:alpha val="73000"/>
                      </a:srgbClr>
                    </a:gs>
                    <a:gs pos="100000">
                      <a:srgbClr val="C00000">
                        <a:alpha val="91000"/>
                      </a:srgb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
          <p:nvSpPr>
            <p:cNvPr id="4" name="文本框 3"/>
            <p:cNvSpPr txBox="1"/>
            <p:nvPr>
              <p:custDataLst>
                <p:tags r:id="rId17"/>
              </p:custDataLst>
            </p:nvPr>
          </p:nvSpPr>
          <p:spPr>
            <a:xfrm>
              <a:off x="1745304" y="1331333"/>
              <a:ext cx="1351280" cy="398780"/>
            </a:xfrm>
            <a:prstGeom prst="rect">
              <a:avLst/>
            </a:prstGeom>
            <a:noFill/>
          </p:spPr>
          <p:txBody>
            <a:bodyPr wrap="none" rtlCol="0">
              <a:spAutoFit/>
            </a:bodyPr>
            <a:lstStyle/>
            <a:p>
              <a:pPr algn="l"/>
              <a:r>
                <a:rPr kumimoji="1" lang="zh-CN" altLang="en-US" sz="2000" b="1" spc="300" dirty="0">
                  <a:gradFill>
                    <a:gsLst>
                      <a:gs pos="0">
                        <a:srgbClr val="C00000"/>
                      </a:gs>
                      <a:gs pos="100000">
                        <a:srgbClr val="770504"/>
                      </a:gs>
                    </a:gsLst>
                    <a:lin ang="5400000" scaled="0"/>
                  </a:gradFill>
                  <a:latin typeface="Arial" panose="020B0604020202020204" pitchFamily="34" charset="0"/>
                  <a:ea typeface="微软雅黑" panose="020B0503020204020204" pitchFamily="34" charset="-122"/>
                  <a:cs typeface="Arial" panose="020B0604020202020204" pitchFamily="34" charset="0"/>
                </a:rPr>
                <a:t>目标导航</a:t>
              </a:r>
              <a:endParaRPr kumimoji="1" lang="zh-CN" altLang="en-US" sz="2000" b="1" spc="300" dirty="0">
                <a:gradFill>
                  <a:gsLst>
                    <a:gs pos="0">
                      <a:srgbClr val="C00000"/>
                    </a:gs>
                    <a:gs pos="100000">
                      <a:srgbClr val="770504"/>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
          <p:nvSpPr>
            <p:cNvPr id="5" name="文本框 4"/>
            <p:cNvSpPr txBox="1"/>
            <p:nvPr>
              <p:custDataLst>
                <p:tags r:id="rId18"/>
              </p:custDataLst>
            </p:nvPr>
          </p:nvSpPr>
          <p:spPr>
            <a:xfrm>
              <a:off x="1745304" y="1730868"/>
              <a:ext cx="9522736" cy="730885"/>
            </a:xfrm>
            <a:prstGeom prst="rect">
              <a:avLst/>
            </a:prstGeom>
            <a:noFill/>
          </p:spPr>
          <p:txBody>
            <a:bodyPr wrap="square" rtlCol="0">
              <a:spAutoFit/>
            </a:bodyPr>
            <a:lstStyle/>
            <a:p>
              <a:pPr marL="285750" indent="-285750"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利用优化后的语义高斯表示，结合基于</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LightGlue+DISK</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的特征提取与两阶段目标位姿精修策略，实现了实例级目标图像导航任务</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IIN</a:t>
              </a:r>
              <a:endParaRPr kumimoji="1" lang="en-US" altLang="zh-CN" sz="1600" spc="300" dirty="0">
                <a:latin typeface="Arial" panose="020B0604020202020204" pitchFamily="34" charset="0"/>
                <a:ea typeface="微软雅黑" panose="020B0503020204020204" pitchFamily="34" charset="-122"/>
                <a:cs typeface="Arial" panose="020B0604020202020204" pitchFamily="34" charset="0"/>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grpSp>
        <p:nvGrpSpPr>
          <p:cNvPr id="40" name="组合 39"/>
          <p:cNvGrpSpPr/>
          <p:nvPr/>
        </p:nvGrpSpPr>
        <p:grpSpPr>
          <a:xfrm>
            <a:off x="0" y="-1"/>
            <a:ext cx="12192000" cy="6858002"/>
            <a:chOff x="0" y="-1"/>
            <a:chExt cx="12192000" cy="6858002"/>
          </a:xfrm>
        </p:grpSpPr>
        <p:sp>
          <p:nvSpPr>
            <p:cNvPr id="41" name="矩形 40"/>
            <p:cNvSpPr/>
            <p:nvPr/>
          </p:nvSpPr>
          <p:spPr>
            <a:xfrm>
              <a:off x="0" y="-1"/>
              <a:ext cx="12192000" cy="706266"/>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2" name="矩形 41"/>
            <p:cNvSpPr/>
            <p:nvPr/>
          </p:nvSpPr>
          <p:spPr>
            <a:xfrm>
              <a:off x="0" y="708047"/>
              <a:ext cx="12192000" cy="132378"/>
            </a:xfrm>
            <a:prstGeom prst="rect">
              <a:avLst/>
            </a:prstGeom>
            <a:gradFill>
              <a:gsLst>
                <a:gs pos="0">
                  <a:srgbClr val="C00000">
                    <a:alpha val="32000"/>
                  </a:srgbClr>
                </a:gs>
                <a:gs pos="100000">
                  <a:srgbClr val="C00000">
                    <a:lumMod val="94000"/>
                    <a:lumOff val="600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sp>
          <p:nvSpPr>
            <p:cNvPr id="43" name="矩形 42"/>
            <p:cNvSpPr/>
            <p:nvPr/>
          </p:nvSpPr>
          <p:spPr>
            <a:xfrm>
              <a:off x="0" y="6453336"/>
              <a:ext cx="12192000" cy="404665"/>
            </a:xfrm>
            <a:prstGeom prst="rect">
              <a:avLst/>
            </a:prstGeom>
            <a:gradFill>
              <a:gsLst>
                <a:gs pos="0">
                  <a:srgbClr val="C00000"/>
                </a:gs>
                <a:gs pos="100000">
                  <a:srgbClr val="C00000">
                    <a:lumMod val="94000"/>
                    <a:lumOff val="6000"/>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grpSp>
      <p:grpSp>
        <p:nvGrpSpPr>
          <p:cNvPr id="44" name="组合 43"/>
          <p:cNvGrpSpPr/>
          <p:nvPr/>
        </p:nvGrpSpPr>
        <p:grpSpPr>
          <a:xfrm>
            <a:off x="133400" y="140547"/>
            <a:ext cx="11901234" cy="6795389"/>
            <a:chOff x="133400" y="140547"/>
            <a:chExt cx="11901234" cy="6795389"/>
          </a:xfrm>
        </p:grpSpPr>
        <p:pic>
          <p:nvPicPr>
            <p:cNvPr id="45" name="图片 44"/>
            <p:cNvPicPr>
              <a:picLocks noChangeAspect="1"/>
            </p:cNvPicPr>
            <p:nvPr/>
          </p:nvPicPr>
          <p:blipFill>
            <a:blip r:embed="rId2" cstate="screen">
              <a:alphaModFix amt="70000"/>
            </a:blip>
            <a:stretch>
              <a:fillRect/>
            </a:stretch>
          </p:blipFill>
          <p:spPr>
            <a:xfrm>
              <a:off x="9840416" y="140547"/>
              <a:ext cx="2031325" cy="403124"/>
            </a:xfrm>
            <a:prstGeom prst="rect">
              <a:avLst/>
            </a:prstGeom>
          </p:spPr>
        </p:pic>
        <p:pic>
          <p:nvPicPr>
            <p:cNvPr id="46" name="图片 45"/>
            <p:cNvPicPr>
              <a:picLocks noChangeAspect="1"/>
            </p:cNvPicPr>
            <p:nvPr/>
          </p:nvPicPr>
          <p:blipFill>
            <a:blip r:embed="rId3" cstate="screen">
              <a:alphaModFix amt="50000"/>
            </a:blip>
            <a:stretch>
              <a:fillRect/>
            </a:stretch>
          </p:blipFill>
          <p:spPr>
            <a:xfrm>
              <a:off x="8996245" y="6572902"/>
              <a:ext cx="3038389" cy="185483"/>
            </a:xfrm>
            <a:prstGeom prst="rect">
              <a:avLst/>
            </a:prstGeom>
          </p:spPr>
        </p:pic>
        <p:pic>
          <p:nvPicPr>
            <p:cNvPr id="47" name="图片 46" descr="图片包含 游戏机, 画, 钟表&#10;&#10;描述已自动生成"/>
            <p:cNvPicPr>
              <a:picLocks noChangeAspect="1"/>
            </p:cNvPicPr>
            <p:nvPr/>
          </p:nvPicPr>
          <p:blipFill>
            <a:blip r:embed="rId4"/>
            <a:stretch>
              <a:fillRect/>
            </a:stretch>
          </p:blipFill>
          <p:spPr>
            <a:xfrm>
              <a:off x="133400" y="6453336"/>
              <a:ext cx="2362200" cy="482600"/>
            </a:xfrm>
            <a:prstGeom prst="rect">
              <a:avLst/>
            </a:prstGeom>
          </p:spPr>
        </p:pic>
      </p:grpSp>
      <p:sp>
        <p:nvSpPr>
          <p:cNvPr id="26" name="文本框 25"/>
          <p:cNvSpPr txBox="1"/>
          <p:nvPr/>
        </p:nvSpPr>
        <p:spPr>
          <a:xfrm>
            <a:off x="175107" y="116852"/>
            <a:ext cx="607060" cy="460375"/>
          </a:xfrm>
          <a:prstGeom prst="rect">
            <a:avLst/>
          </a:prstGeom>
          <a:noFill/>
        </p:spPr>
        <p:txBody>
          <a:bodyPr wrap="none" rtlCol="0">
            <a:spAutoFit/>
          </a:bodyPr>
          <a:lstStyle/>
          <a:p>
            <a:pPr algn="l"/>
            <a:r>
              <a:rPr kumimoji="1" lang="en-US" altLang="zh-CN"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04</a:t>
            </a:r>
            <a:endParaRPr kumimoji="1" lang="zh-CN" altLang="en-US" sz="2400" b="1"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7" name="直线连接符 26"/>
          <p:cNvCxnSpPr/>
          <p:nvPr/>
        </p:nvCxnSpPr>
        <p:spPr>
          <a:xfrm>
            <a:off x="839416" y="124472"/>
            <a:ext cx="0" cy="4188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08331" y="124472"/>
            <a:ext cx="3268980" cy="460375"/>
          </a:xfrm>
          <a:prstGeom prst="rect">
            <a:avLst/>
          </a:prstGeom>
          <a:noFill/>
        </p:spPr>
        <p:txBody>
          <a:bodyPr wrap="none" rtlCol="0">
            <a:spAutoFit/>
          </a:bodyPr>
          <a:lstStyle/>
          <a:p>
            <a:pPr algn="l"/>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总结与展望</a:t>
            </a:r>
            <a:r>
              <a:rPr kumimoji="1" lang="en-US" altLang="zh-CN"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a:t>
            </a:r>
            <a:r>
              <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rPr>
              <a:t>展望</a:t>
            </a:r>
            <a:endParaRPr kumimoji="1" lang="zh-CN" altLang="en-US" sz="2400" b="1" spc="300" dirty="0">
              <a:solidFill>
                <a:schemeClr val="bg1"/>
              </a:solidFill>
              <a:effectLst>
                <a:outerShdw blurRad="50800" dist="38100" dir="5400000" algn="t" rotWithShape="0">
                  <a:prstClr val="black">
                    <a:alpha val="40000"/>
                  </a:prst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8" name="组合 7"/>
          <p:cNvGrpSpPr/>
          <p:nvPr>
            <p:custDataLst>
              <p:tags r:id="rId5"/>
            </p:custDataLst>
          </p:nvPr>
        </p:nvGrpSpPr>
        <p:grpSpPr>
          <a:xfrm>
            <a:off x="1008271" y="1171547"/>
            <a:ext cx="10229924" cy="1551191"/>
            <a:chOff x="1038116" y="1230602"/>
            <a:chExt cx="10229924" cy="1551191"/>
          </a:xfrm>
        </p:grpSpPr>
        <p:sp>
          <p:nvSpPr>
            <p:cNvPr id="13" name="文本框 12"/>
            <p:cNvSpPr txBox="1"/>
            <p:nvPr>
              <p:custDataLst>
                <p:tags r:id="rId6"/>
              </p:custDataLst>
            </p:nvPr>
          </p:nvSpPr>
          <p:spPr>
            <a:xfrm>
              <a:off x="1038116" y="1230602"/>
              <a:ext cx="755335" cy="707886"/>
            </a:xfrm>
            <a:prstGeom prst="rect">
              <a:avLst/>
            </a:prstGeom>
            <a:noFill/>
          </p:spPr>
          <p:txBody>
            <a:bodyPr wrap="none" rtlCol="0">
              <a:spAutoFit/>
            </a:bodyPr>
            <a:lstStyle/>
            <a:p>
              <a:pPr algn="l"/>
              <a:r>
                <a:rPr kumimoji="1" lang="en-US" altLang="zh-CN" sz="4000" b="1" dirty="0">
                  <a:gradFill>
                    <a:gsLst>
                      <a:gs pos="0">
                        <a:srgbClr val="C00000">
                          <a:alpha val="73000"/>
                        </a:srgbClr>
                      </a:gs>
                      <a:gs pos="100000">
                        <a:srgbClr val="C00000">
                          <a:alpha val="91000"/>
                        </a:srgbClr>
                      </a:gs>
                    </a:gsLst>
                    <a:lin ang="5400000" scaled="0"/>
                  </a:gradFill>
                  <a:latin typeface="Arial" panose="020B0604020202020204" pitchFamily="34" charset="0"/>
                  <a:ea typeface="微软雅黑" panose="020B0503020204020204" pitchFamily="34" charset="-122"/>
                  <a:cs typeface="Arial" panose="020B0604020202020204" pitchFamily="34" charset="0"/>
                </a:rPr>
                <a:t>01</a:t>
              </a:r>
              <a:endParaRPr kumimoji="1" lang="zh-CN" altLang="en-US" sz="4000" b="1" dirty="0">
                <a:gradFill>
                  <a:gsLst>
                    <a:gs pos="0">
                      <a:srgbClr val="C00000">
                        <a:alpha val="73000"/>
                      </a:srgbClr>
                    </a:gs>
                    <a:gs pos="100000">
                      <a:srgbClr val="C00000">
                        <a:alpha val="91000"/>
                      </a:srgb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
          <p:nvSpPr>
            <p:cNvPr id="14" name="文本框 13"/>
            <p:cNvSpPr txBox="1"/>
            <p:nvPr>
              <p:custDataLst>
                <p:tags r:id="rId7"/>
              </p:custDataLst>
            </p:nvPr>
          </p:nvSpPr>
          <p:spPr>
            <a:xfrm>
              <a:off x="1745304" y="1331333"/>
              <a:ext cx="6316980" cy="398780"/>
            </a:xfrm>
            <a:prstGeom prst="rect">
              <a:avLst/>
            </a:prstGeom>
            <a:noFill/>
          </p:spPr>
          <p:txBody>
            <a:bodyPr wrap="none" rtlCol="0">
              <a:spAutoFit/>
            </a:bodyPr>
            <a:lstStyle/>
            <a:p>
              <a:pPr algn="l"/>
              <a:r>
                <a:rPr kumimoji="1" lang="zh-CN" altLang="en-US" sz="2000" b="1" spc="300" dirty="0">
                  <a:gradFill>
                    <a:gsLst>
                      <a:gs pos="0">
                        <a:srgbClr val="C00000"/>
                      </a:gs>
                      <a:gs pos="100000">
                        <a:srgbClr val="770504"/>
                      </a:gs>
                    </a:gsLst>
                    <a:lin ang="5400000" scaled="0"/>
                  </a:gradFill>
                  <a:latin typeface="Arial" panose="020B0604020202020204" pitchFamily="34" charset="0"/>
                  <a:ea typeface="微软雅黑" panose="020B0503020204020204" pitchFamily="34" charset="-122"/>
                  <a:cs typeface="Arial" panose="020B0604020202020204" pitchFamily="34" charset="0"/>
                </a:rPr>
                <a:t>提升方法在真实物理环境中的适应性与泛化能力</a:t>
              </a:r>
              <a:endParaRPr kumimoji="1" lang="zh-CN" altLang="en-US" sz="2000" b="1" spc="300" dirty="0">
                <a:gradFill>
                  <a:gsLst>
                    <a:gs pos="0">
                      <a:srgbClr val="C00000"/>
                    </a:gs>
                    <a:gs pos="100000">
                      <a:srgbClr val="770504"/>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
          <p:nvSpPr>
            <p:cNvPr id="15" name="文本框 14"/>
            <p:cNvSpPr txBox="1"/>
            <p:nvPr>
              <p:custDataLst>
                <p:tags r:id="rId8"/>
              </p:custDataLst>
            </p:nvPr>
          </p:nvSpPr>
          <p:spPr>
            <a:xfrm>
              <a:off x="1745304" y="1730868"/>
              <a:ext cx="9522736" cy="1050925"/>
            </a:xfrm>
            <a:prstGeom prst="rect">
              <a:avLst/>
            </a:prstGeom>
            <a:noFill/>
          </p:spPr>
          <p:txBody>
            <a:bodyPr wrap="square" rtlCol="0">
              <a:spAutoFit/>
            </a:bodyPr>
            <a:lstStyle/>
            <a:p>
              <a:pPr marL="285750" indent="-285750"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仿真环境与真实世界存在不可避免的域偏移</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未来研究可探索结合域自适应、元学习与在线增量学习技术，实现跨场景、跨设备的快速适配，增强方法在复杂真实环境中的可靠性</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grpSp>
      <p:cxnSp>
        <p:nvCxnSpPr>
          <p:cNvPr id="16" name="直线连接符 15"/>
          <p:cNvCxnSpPr/>
          <p:nvPr>
            <p:custDataLst>
              <p:tags r:id="rId9"/>
            </p:custDataLst>
          </p:nvPr>
        </p:nvCxnSpPr>
        <p:spPr>
          <a:xfrm>
            <a:off x="1715459" y="2807098"/>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直线连接符 33"/>
          <p:cNvCxnSpPr/>
          <p:nvPr>
            <p:custDataLst>
              <p:tags r:id="rId10"/>
            </p:custDataLst>
          </p:nvPr>
        </p:nvCxnSpPr>
        <p:spPr>
          <a:xfrm>
            <a:off x="1715459" y="4485389"/>
            <a:ext cx="923081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p:custDataLst>
              <p:tags r:id="rId11"/>
            </p:custDataLst>
          </p:nvPr>
        </p:nvGrpSpPr>
        <p:grpSpPr>
          <a:xfrm>
            <a:off x="1029292" y="2833981"/>
            <a:ext cx="10208903" cy="1567048"/>
            <a:chOff x="1059137" y="2893036"/>
            <a:chExt cx="10208903" cy="1567048"/>
          </a:xfrm>
        </p:grpSpPr>
        <p:sp>
          <p:nvSpPr>
            <p:cNvPr id="32" name="文本框 31"/>
            <p:cNvSpPr txBox="1"/>
            <p:nvPr>
              <p:custDataLst>
                <p:tags r:id="rId12"/>
              </p:custDataLst>
            </p:nvPr>
          </p:nvSpPr>
          <p:spPr>
            <a:xfrm>
              <a:off x="1745304" y="3009624"/>
              <a:ext cx="4856480" cy="398780"/>
            </a:xfrm>
            <a:prstGeom prst="rect">
              <a:avLst/>
            </a:prstGeom>
            <a:noFill/>
          </p:spPr>
          <p:txBody>
            <a:bodyPr wrap="none" rtlCol="0">
              <a:spAutoFit/>
            </a:bodyPr>
            <a:lstStyle/>
            <a:p>
              <a:pPr algn="l"/>
              <a:r>
                <a:rPr kumimoji="1" lang="zh-CN" altLang="en-US" sz="2000" b="1" spc="300" dirty="0">
                  <a:gradFill>
                    <a:gsLst>
                      <a:gs pos="0">
                        <a:srgbClr val="C00000"/>
                      </a:gs>
                      <a:gs pos="100000">
                        <a:srgbClr val="770504"/>
                      </a:gs>
                    </a:gsLst>
                    <a:lin ang="5400000" scaled="0"/>
                  </a:gradFill>
                  <a:latin typeface="Arial" panose="020B0604020202020204" pitchFamily="34" charset="0"/>
                  <a:ea typeface="微软雅黑" panose="020B0503020204020204" pitchFamily="34" charset="-122"/>
                  <a:cs typeface="Arial" panose="020B0604020202020204" pitchFamily="34" charset="0"/>
                </a:rPr>
                <a:t>引入可微分物理与动态高斯建模机制</a:t>
              </a:r>
              <a:endParaRPr kumimoji="1" lang="zh-CN" altLang="en-US" sz="2000" b="1" spc="300" dirty="0">
                <a:gradFill>
                  <a:gsLst>
                    <a:gs pos="0">
                      <a:srgbClr val="C00000"/>
                    </a:gs>
                    <a:gs pos="100000">
                      <a:srgbClr val="770504"/>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
          <p:nvSpPr>
            <p:cNvPr id="33" name="文本框 32"/>
            <p:cNvSpPr txBox="1"/>
            <p:nvPr>
              <p:custDataLst>
                <p:tags r:id="rId13"/>
              </p:custDataLst>
            </p:nvPr>
          </p:nvSpPr>
          <p:spPr>
            <a:xfrm>
              <a:off x="1745304" y="3409159"/>
              <a:ext cx="9522736" cy="1050925"/>
            </a:xfrm>
            <a:prstGeom prst="rect">
              <a:avLst/>
            </a:prstGeom>
            <a:noFill/>
          </p:spPr>
          <p:txBody>
            <a:bodyPr wrap="square" rtlCol="0">
              <a:spAutoFit/>
            </a:bodyPr>
            <a:lstStyle/>
            <a:p>
              <a:pPr marL="285750" indent="-285750"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未来可将可微分物理引擎与 3</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D </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高斯泼溅相结合，引入物理一致性约束优化高斯参数，提升场景重建的精度与合理性。</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研究动态 3</a:t>
              </a:r>
              <a:r>
                <a:rPr kumimoji="1" lang="en-US" altLang="zh-CN" sz="1600" spc="300" dirty="0">
                  <a:latin typeface="Arial" panose="020B0604020202020204" pitchFamily="34" charset="0"/>
                  <a:ea typeface="微软雅黑" panose="020B0503020204020204" pitchFamily="34" charset="-122"/>
                  <a:cs typeface="Arial" panose="020B0604020202020204" pitchFamily="34" charset="0"/>
                </a:rPr>
                <a:t>D </a:t>
              </a: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高斯表示方法，拓展导航系统在动态环境中的应用能力。</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sp>
          <p:nvSpPr>
            <p:cNvPr id="50" name="文本框 49"/>
            <p:cNvSpPr txBox="1"/>
            <p:nvPr>
              <p:custDataLst>
                <p:tags r:id="rId14"/>
              </p:custDataLst>
            </p:nvPr>
          </p:nvSpPr>
          <p:spPr>
            <a:xfrm>
              <a:off x="1059137" y="2893036"/>
              <a:ext cx="755335" cy="707886"/>
            </a:xfrm>
            <a:prstGeom prst="rect">
              <a:avLst/>
            </a:prstGeom>
            <a:noFill/>
          </p:spPr>
          <p:txBody>
            <a:bodyPr wrap="none" rtlCol="0">
              <a:spAutoFit/>
            </a:bodyPr>
            <a:lstStyle/>
            <a:p>
              <a:pPr algn="l"/>
              <a:r>
                <a:rPr kumimoji="1" lang="en-US" altLang="zh-CN" sz="4000" b="1" dirty="0">
                  <a:gradFill>
                    <a:gsLst>
                      <a:gs pos="0">
                        <a:srgbClr val="C00000">
                          <a:alpha val="73000"/>
                        </a:srgbClr>
                      </a:gs>
                      <a:gs pos="100000">
                        <a:srgbClr val="C00000">
                          <a:alpha val="91000"/>
                        </a:srgbClr>
                      </a:gs>
                    </a:gsLst>
                    <a:lin ang="5400000" scaled="0"/>
                  </a:gradFill>
                  <a:latin typeface="Arial" panose="020B0604020202020204" pitchFamily="34" charset="0"/>
                  <a:ea typeface="微软雅黑" panose="020B0503020204020204" pitchFamily="34" charset="-122"/>
                  <a:cs typeface="Arial" panose="020B0604020202020204" pitchFamily="34" charset="0"/>
                </a:rPr>
                <a:t>02</a:t>
              </a:r>
              <a:endParaRPr kumimoji="1" lang="zh-CN" altLang="en-US" sz="4000" b="1" dirty="0">
                <a:gradFill>
                  <a:gsLst>
                    <a:gs pos="0">
                      <a:srgbClr val="C00000">
                        <a:alpha val="73000"/>
                      </a:srgbClr>
                    </a:gs>
                    <a:gs pos="100000">
                      <a:srgbClr val="C00000">
                        <a:alpha val="91000"/>
                      </a:srgb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2" name="组合 1"/>
          <p:cNvGrpSpPr/>
          <p:nvPr>
            <p:custDataLst>
              <p:tags r:id="rId15"/>
            </p:custDataLst>
          </p:nvPr>
        </p:nvGrpSpPr>
        <p:grpSpPr>
          <a:xfrm>
            <a:off x="1008271" y="4401792"/>
            <a:ext cx="10229924" cy="1231151"/>
            <a:chOff x="1038116" y="1230602"/>
            <a:chExt cx="10229924" cy="1231151"/>
          </a:xfrm>
        </p:grpSpPr>
        <p:sp>
          <p:nvSpPr>
            <p:cNvPr id="3" name="文本框 2"/>
            <p:cNvSpPr txBox="1"/>
            <p:nvPr>
              <p:custDataLst>
                <p:tags r:id="rId16"/>
              </p:custDataLst>
            </p:nvPr>
          </p:nvSpPr>
          <p:spPr>
            <a:xfrm>
              <a:off x="1038116" y="1230602"/>
              <a:ext cx="748030" cy="706755"/>
            </a:xfrm>
            <a:prstGeom prst="rect">
              <a:avLst/>
            </a:prstGeom>
            <a:noFill/>
          </p:spPr>
          <p:txBody>
            <a:bodyPr wrap="none" rtlCol="0">
              <a:spAutoFit/>
            </a:bodyPr>
            <a:lstStyle/>
            <a:p>
              <a:pPr algn="l"/>
              <a:r>
                <a:rPr kumimoji="1" lang="en-US" altLang="zh-CN" sz="4000" b="1" dirty="0">
                  <a:gradFill>
                    <a:gsLst>
                      <a:gs pos="0">
                        <a:srgbClr val="C00000">
                          <a:alpha val="73000"/>
                        </a:srgbClr>
                      </a:gs>
                      <a:gs pos="100000">
                        <a:srgbClr val="C00000">
                          <a:alpha val="91000"/>
                        </a:srgbClr>
                      </a:gs>
                    </a:gsLst>
                    <a:lin ang="5400000" scaled="0"/>
                  </a:gradFill>
                  <a:latin typeface="Arial" panose="020B0604020202020204" pitchFamily="34" charset="0"/>
                  <a:ea typeface="微软雅黑" panose="020B0503020204020204" pitchFamily="34" charset="-122"/>
                  <a:cs typeface="Arial" panose="020B0604020202020204" pitchFamily="34" charset="0"/>
                </a:rPr>
                <a:t>03</a:t>
              </a:r>
              <a:endParaRPr kumimoji="1" lang="zh-CN" altLang="en-US" sz="4000" b="1" dirty="0">
                <a:gradFill>
                  <a:gsLst>
                    <a:gs pos="0">
                      <a:srgbClr val="C00000">
                        <a:alpha val="73000"/>
                      </a:srgbClr>
                    </a:gs>
                    <a:gs pos="100000">
                      <a:srgbClr val="C00000">
                        <a:alpha val="91000"/>
                      </a:srgbClr>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
          <p:nvSpPr>
            <p:cNvPr id="4" name="文本框 3"/>
            <p:cNvSpPr txBox="1"/>
            <p:nvPr>
              <p:custDataLst>
                <p:tags r:id="rId17"/>
              </p:custDataLst>
            </p:nvPr>
          </p:nvSpPr>
          <p:spPr>
            <a:xfrm>
              <a:off x="1745304" y="1331333"/>
              <a:ext cx="5732780" cy="398780"/>
            </a:xfrm>
            <a:prstGeom prst="rect">
              <a:avLst/>
            </a:prstGeom>
            <a:noFill/>
          </p:spPr>
          <p:txBody>
            <a:bodyPr wrap="none" rtlCol="0">
              <a:spAutoFit/>
            </a:bodyPr>
            <a:lstStyle/>
            <a:p>
              <a:pPr algn="l"/>
              <a:r>
                <a:rPr kumimoji="1" lang="zh-CN" altLang="en-US" sz="2000" b="1" spc="300" dirty="0">
                  <a:gradFill>
                    <a:gsLst>
                      <a:gs pos="0">
                        <a:srgbClr val="C00000"/>
                      </a:gs>
                      <a:gs pos="100000">
                        <a:srgbClr val="770504"/>
                      </a:gs>
                    </a:gsLst>
                    <a:lin ang="5400000" scaled="0"/>
                  </a:gradFill>
                  <a:latin typeface="Arial" panose="020B0604020202020204" pitchFamily="34" charset="0"/>
                  <a:ea typeface="微软雅黑" panose="020B0503020204020204" pitchFamily="34" charset="-122"/>
                  <a:cs typeface="Arial" panose="020B0604020202020204" pitchFamily="34" charset="0"/>
                </a:rPr>
                <a:t>实现大场景轻量化在线构建与人机协同交互</a:t>
              </a:r>
              <a:endParaRPr kumimoji="1" lang="zh-CN" altLang="en-US" sz="2000" b="1" spc="300" dirty="0">
                <a:gradFill>
                  <a:gsLst>
                    <a:gs pos="0">
                      <a:srgbClr val="C00000"/>
                    </a:gs>
                    <a:gs pos="100000">
                      <a:srgbClr val="770504"/>
                    </a:gs>
                  </a:gsLst>
                  <a:lin ang="5400000" scaled="0"/>
                </a:gradFill>
                <a:latin typeface="Arial" panose="020B0604020202020204" pitchFamily="34" charset="0"/>
                <a:ea typeface="微软雅黑" panose="020B0503020204020204" pitchFamily="34" charset="-122"/>
                <a:cs typeface="Arial" panose="020B0604020202020204" pitchFamily="34" charset="0"/>
              </a:endParaRPr>
            </a:p>
          </p:txBody>
        </p:sp>
        <p:sp>
          <p:nvSpPr>
            <p:cNvPr id="5" name="文本框 4"/>
            <p:cNvSpPr txBox="1"/>
            <p:nvPr>
              <p:custDataLst>
                <p:tags r:id="rId18"/>
              </p:custDataLst>
            </p:nvPr>
          </p:nvSpPr>
          <p:spPr>
            <a:xfrm>
              <a:off x="1745304" y="1730868"/>
              <a:ext cx="9522736" cy="730885"/>
            </a:xfrm>
            <a:prstGeom prst="rect">
              <a:avLst/>
            </a:prstGeom>
            <a:noFill/>
          </p:spPr>
          <p:txBody>
            <a:bodyPr wrap="square" rtlCol="0">
              <a:spAutoFit/>
            </a:bodyPr>
            <a:lstStyle/>
            <a:p>
              <a:pPr marL="285750" indent="-285750"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未来研究可探索高斯压缩、稀疏化与层次化表示技术，降低大场景地图的内存开销</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a:p>
              <a:pPr marL="285750" indent="-285750" hangingPunct="0">
                <a:lnSpc>
                  <a:spcPct val="130000"/>
                </a:lnSpc>
                <a:buFont typeface="Arial" panose="020B0604020202020204" pitchFamily="34" charset="0"/>
                <a:buChar char="•"/>
              </a:pPr>
              <a:r>
                <a:rPr kumimoji="1" lang="zh-CN" altLang="en-US" sz="1600" spc="300" dirty="0">
                  <a:latin typeface="Arial" panose="020B0604020202020204" pitchFamily="34" charset="0"/>
                  <a:ea typeface="微软雅黑" panose="020B0503020204020204" pitchFamily="34" charset="-122"/>
                  <a:cs typeface="Arial" panose="020B0604020202020204" pitchFamily="34" charset="0"/>
                </a:rPr>
                <a:t>研究增量式高斯构建与回环检测算法，实现边导航边建图的未知环境探索模式</a:t>
              </a:r>
              <a:endParaRPr kumimoji="1" lang="zh-CN" altLang="en-US" sz="1600" spc="300" dirty="0">
                <a:latin typeface="Arial" panose="020B0604020202020204" pitchFamily="34" charset="0"/>
                <a:ea typeface="微软雅黑" panose="020B0503020204020204" pitchFamily="34" charset="-122"/>
                <a:cs typeface="Arial" panose="020B0604020202020204" pitchFamily="34" charset="0"/>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16" name="矩形 15"/>
          <p:cNvSpPr/>
          <p:nvPr/>
        </p:nvSpPr>
        <p:spPr>
          <a:xfrm>
            <a:off x="346287" y="375495"/>
            <a:ext cx="11462658" cy="6077693"/>
          </a:xfrm>
          <a:prstGeom prst="rect">
            <a:avLst/>
          </a:prstGeom>
          <a:gradFill>
            <a:gsLst>
              <a:gs pos="0">
                <a:schemeClr val="bg1">
                  <a:alpha val="7000"/>
                </a:schemeClr>
              </a:gs>
              <a:gs pos="38000">
                <a:schemeClr val="bg1">
                  <a:alpha val="0"/>
                </a:schemeClr>
              </a:gs>
              <a:gs pos="62000">
                <a:schemeClr val="bg1">
                  <a:alpha val="0"/>
                </a:schemeClr>
              </a:gs>
              <a:gs pos="100000">
                <a:schemeClr val="bg1">
                  <a:alpha val="7000"/>
                </a:schemeClr>
              </a:gs>
            </a:gsLst>
            <a:lin ang="0" scaled="0"/>
          </a:gradFill>
          <a:ln w="19050">
            <a:gradFill>
              <a:gsLst>
                <a:gs pos="0">
                  <a:schemeClr val="bg1"/>
                </a:gs>
                <a:gs pos="38000">
                  <a:schemeClr val="bg1">
                    <a:alpha val="0"/>
                  </a:schemeClr>
                </a:gs>
                <a:gs pos="62000">
                  <a:schemeClr val="bg1">
                    <a:alpha val="0"/>
                  </a:schemeClr>
                </a:gs>
                <a:gs pos="100000">
                  <a:schemeClr val="bg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cs typeface="Arial" panose="020B0604020202020204" pitchFamily="34" charset="0"/>
            </a:endParaRPr>
          </a:p>
        </p:txBody>
      </p:sp>
      <p:pic>
        <p:nvPicPr>
          <p:cNvPr id="9" name="图片 8" descr="图片包含 游戏机, 画, 钟表&#10;&#10;描述已自动生成"/>
          <p:cNvPicPr>
            <a:picLocks noChangeAspect="1"/>
          </p:cNvPicPr>
          <p:nvPr/>
        </p:nvPicPr>
        <p:blipFill>
          <a:blip r:embed="rId2"/>
          <a:stretch>
            <a:fillRect/>
          </a:stretch>
        </p:blipFill>
        <p:spPr>
          <a:xfrm>
            <a:off x="4586145" y="122295"/>
            <a:ext cx="3019710" cy="616930"/>
          </a:xfrm>
          <a:prstGeom prst="rect">
            <a:avLst/>
          </a:prstGeom>
        </p:spPr>
      </p:pic>
      <p:pic>
        <p:nvPicPr>
          <p:cNvPr id="8" name="图片 7"/>
          <p:cNvPicPr>
            <a:picLocks noChangeAspect="1"/>
          </p:cNvPicPr>
          <p:nvPr/>
        </p:nvPicPr>
        <p:blipFill>
          <a:blip r:embed="rId3" cstate="screen">
            <a:alphaModFix amt="70000"/>
          </a:blip>
          <a:stretch>
            <a:fillRect/>
          </a:stretch>
        </p:blipFill>
        <p:spPr>
          <a:xfrm>
            <a:off x="5052435" y="6220399"/>
            <a:ext cx="2050361" cy="406902"/>
          </a:xfrm>
          <a:prstGeom prst="rect">
            <a:avLst/>
          </a:prstGeom>
        </p:spPr>
      </p:pic>
      <p:pic>
        <p:nvPicPr>
          <p:cNvPr id="10" name="图片 9" descr="图片包含 游戏机, 画&#10;&#10;描述已自动生成"/>
          <p:cNvPicPr>
            <a:picLocks noChangeAspect="1"/>
          </p:cNvPicPr>
          <p:nvPr/>
        </p:nvPicPr>
        <p:blipFill>
          <a:blip r:embed="rId4">
            <a:alphaModFix amt="50000"/>
          </a:blip>
          <a:stretch>
            <a:fillRect/>
          </a:stretch>
        </p:blipFill>
        <p:spPr>
          <a:xfrm>
            <a:off x="1133960" y="690867"/>
            <a:ext cx="9887309" cy="3229854"/>
          </a:xfrm>
          <a:prstGeom prst="rect">
            <a:avLst/>
          </a:prstGeom>
        </p:spPr>
      </p:pic>
      <p:cxnSp>
        <p:nvCxnSpPr>
          <p:cNvPr id="6" name="直线连接符 5"/>
          <p:cNvCxnSpPr/>
          <p:nvPr/>
        </p:nvCxnSpPr>
        <p:spPr>
          <a:xfrm>
            <a:off x="2854036" y="3541855"/>
            <a:ext cx="6483928" cy="0"/>
          </a:xfrm>
          <a:prstGeom prst="line">
            <a:avLst/>
          </a:prstGeom>
          <a:ln w="19050">
            <a:gradFill>
              <a:gsLst>
                <a:gs pos="50000">
                  <a:schemeClr val="bg1"/>
                </a:gs>
                <a:gs pos="0">
                  <a:schemeClr val="bg1">
                    <a:lumMod val="100000"/>
                    <a:alpha val="0"/>
                  </a:schemeClr>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3341639" y="3789868"/>
            <a:ext cx="5589865" cy="338554"/>
          </a:xfrm>
          <a:prstGeom prst="rect">
            <a:avLst/>
          </a:prstGeom>
        </p:spPr>
        <p:txBody>
          <a:bodyPr wrap="none">
            <a:spAutoFit/>
          </a:bodyPr>
          <a:lstStyle/>
          <a:p>
            <a:pPr algn="ctr"/>
            <a:r>
              <a:rPr lang="en-US" altLang="zh-CN" sz="1600" spc="1200" dirty="0">
                <a:solidFill>
                  <a:schemeClr val="bg1"/>
                </a:solidFill>
                <a:effectLst>
                  <a:outerShdw dist="12700" dir="5400000" algn="ctr" rotWithShape="0">
                    <a:srgbClr val="000000"/>
                  </a:outerShdw>
                </a:effectLst>
                <a:latin typeface="Arial" panose="020B0604020202020204" pitchFamily="34" charset="0"/>
                <a:ea typeface="微软雅黑 Light" panose="020B0502040204020203" pitchFamily="34" charset="-122"/>
                <a:cs typeface="Arial" panose="020B0604020202020204" pitchFamily="34" charset="0"/>
              </a:rPr>
              <a:t>QUESTIONS</a:t>
            </a:r>
            <a:r>
              <a:rPr lang="zh-CN" altLang="en-US" sz="1600" spc="1200" dirty="0">
                <a:solidFill>
                  <a:schemeClr val="bg1"/>
                </a:solidFill>
                <a:effectLst>
                  <a:outerShdw dist="12700" dir="5400000" algn="ctr" rotWithShape="0">
                    <a:srgbClr val="000000"/>
                  </a:outerShdw>
                </a:effectLst>
                <a:latin typeface="Arial" panose="020B0604020202020204" pitchFamily="34" charset="0"/>
                <a:ea typeface="微软雅黑 Light" panose="020B0502040204020203" pitchFamily="34" charset="-122"/>
                <a:cs typeface="Arial" panose="020B0604020202020204" pitchFamily="34" charset="0"/>
              </a:rPr>
              <a:t> </a:t>
            </a:r>
            <a:r>
              <a:rPr lang="en-US" altLang="zh-CN" sz="1600" spc="1200" dirty="0">
                <a:solidFill>
                  <a:schemeClr val="bg1"/>
                </a:solidFill>
                <a:effectLst>
                  <a:outerShdw dist="12700" dir="5400000" algn="ctr" rotWithShape="0">
                    <a:srgbClr val="000000"/>
                  </a:outerShdw>
                </a:effectLst>
                <a:latin typeface="Arial" panose="020B0604020202020204" pitchFamily="34" charset="0"/>
                <a:ea typeface="微软雅黑 Light" panose="020B0502040204020203" pitchFamily="34" charset="-122"/>
                <a:cs typeface="Arial" panose="020B0604020202020204" pitchFamily="34" charset="0"/>
              </a:rPr>
              <a:t>&amp;</a:t>
            </a:r>
            <a:r>
              <a:rPr lang="zh-CN" altLang="en-US" sz="1600" spc="1200" dirty="0">
                <a:solidFill>
                  <a:schemeClr val="bg1"/>
                </a:solidFill>
                <a:effectLst>
                  <a:outerShdw dist="12700" dir="5400000" algn="ctr" rotWithShape="0">
                    <a:srgbClr val="000000"/>
                  </a:outerShdw>
                </a:effectLst>
                <a:latin typeface="Arial" panose="020B0604020202020204" pitchFamily="34" charset="0"/>
                <a:ea typeface="微软雅黑 Light" panose="020B0502040204020203" pitchFamily="34" charset="-122"/>
                <a:cs typeface="Arial" panose="020B0604020202020204" pitchFamily="34" charset="0"/>
              </a:rPr>
              <a:t> </a:t>
            </a:r>
            <a:r>
              <a:rPr lang="en-US" altLang="zh-CN" sz="1600" spc="1200" dirty="0">
                <a:solidFill>
                  <a:schemeClr val="bg1"/>
                </a:solidFill>
                <a:effectLst>
                  <a:outerShdw dist="12700" dir="5400000" algn="ctr" rotWithShape="0">
                    <a:srgbClr val="000000"/>
                  </a:outerShdw>
                </a:effectLst>
                <a:latin typeface="Arial" panose="020B0604020202020204" pitchFamily="34" charset="0"/>
                <a:ea typeface="微软雅黑 Light" panose="020B0502040204020203" pitchFamily="34" charset="-122"/>
                <a:cs typeface="Arial" panose="020B0604020202020204" pitchFamily="34" charset="0"/>
              </a:rPr>
              <a:t>ANSWERS</a:t>
            </a:r>
            <a:endParaRPr lang="zh-CN" altLang="en-US" sz="1600" spc="1200" dirty="0">
              <a:solidFill>
                <a:schemeClr val="bg1"/>
              </a:solidFill>
              <a:effectLst>
                <a:outerShdw dist="12700" dir="5400000" algn="ctr" rotWithShape="0">
                  <a:srgbClr val="000000"/>
                </a:outerShdw>
              </a:effectLst>
              <a:latin typeface="Arial" panose="020B0604020202020204" pitchFamily="34" charset="0"/>
              <a:ea typeface="微软雅黑 Light" panose="020B0502040204020203" pitchFamily="34" charset="-122"/>
              <a:cs typeface="Arial" panose="020B0604020202020204" pitchFamily="34" charset="0"/>
            </a:endParaRPr>
          </a:p>
        </p:txBody>
      </p:sp>
      <p:grpSp>
        <p:nvGrpSpPr>
          <p:cNvPr id="19" name="组合 18"/>
          <p:cNvGrpSpPr/>
          <p:nvPr/>
        </p:nvGrpSpPr>
        <p:grpSpPr>
          <a:xfrm>
            <a:off x="4745773" y="4632957"/>
            <a:ext cx="2710507" cy="1096394"/>
            <a:chOff x="4745773" y="4772657"/>
            <a:chExt cx="2710507" cy="1096394"/>
          </a:xfrm>
        </p:grpSpPr>
        <p:sp>
          <p:nvSpPr>
            <p:cNvPr id="21" name="文本框 20"/>
            <p:cNvSpPr txBox="1"/>
            <p:nvPr/>
          </p:nvSpPr>
          <p:spPr>
            <a:xfrm>
              <a:off x="5330446" y="5593461"/>
              <a:ext cx="1612265" cy="275590"/>
            </a:xfrm>
            <a:prstGeom prst="rect">
              <a:avLst/>
            </a:prstGeom>
            <a:noFill/>
          </p:spPr>
          <p:txBody>
            <a:bodyPr wrap="none" rtlCol="0">
              <a:spAutoFit/>
            </a:bodyPr>
            <a:lstStyle/>
            <a:p>
              <a:pPr algn="ctr"/>
              <a:r>
                <a:rPr kumimoji="1" lang="en-US" altLang="zh-CN" sz="1200" spc="300" dirty="0">
                  <a:solidFill>
                    <a:schemeClr val="bg1"/>
                  </a:solidFill>
                  <a:latin typeface="Arial" panose="020B0604020202020204" pitchFamily="34" charset="0"/>
                  <a:ea typeface="微软雅黑 Light" panose="020B0502040204020203" pitchFamily="34" charset="-122"/>
                  <a:cs typeface="Arial" panose="020B0604020202020204" pitchFamily="34" charset="0"/>
                </a:rPr>
                <a:t>2026</a:t>
              </a:r>
              <a:r>
                <a:rPr kumimoji="1" lang="zh-CN" altLang="en-US" sz="1200" spc="300" dirty="0">
                  <a:solidFill>
                    <a:schemeClr val="bg1"/>
                  </a:solidFill>
                  <a:latin typeface="Arial" panose="020B0604020202020204" pitchFamily="34" charset="0"/>
                  <a:ea typeface="微软雅黑 Light" panose="020B0502040204020203" pitchFamily="34" charset="-122"/>
                  <a:cs typeface="Arial" panose="020B0604020202020204" pitchFamily="34" charset="0"/>
                </a:rPr>
                <a:t>年</a:t>
              </a:r>
              <a:r>
                <a:rPr kumimoji="1" lang="en-US" altLang="zh-CN" sz="1200" spc="300" dirty="0">
                  <a:solidFill>
                    <a:schemeClr val="bg1"/>
                  </a:solidFill>
                  <a:latin typeface="Arial" panose="020B0604020202020204" pitchFamily="34" charset="0"/>
                  <a:ea typeface="微软雅黑 Light" panose="020B0502040204020203" pitchFamily="34" charset="-122"/>
                  <a:cs typeface="Arial" panose="020B0604020202020204" pitchFamily="34" charset="0"/>
                </a:rPr>
                <a:t>5</a:t>
              </a:r>
              <a:r>
                <a:rPr kumimoji="1" lang="zh-CN" altLang="en-US" sz="1200" spc="300" dirty="0">
                  <a:solidFill>
                    <a:schemeClr val="bg1"/>
                  </a:solidFill>
                  <a:latin typeface="Arial" panose="020B0604020202020204" pitchFamily="34" charset="0"/>
                  <a:ea typeface="微软雅黑 Light" panose="020B0502040204020203" pitchFamily="34" charset="-122"/>
                  <a:cs typeface="Arial" panose="020B0604020202020204" pitchFamily="34" charset="0"/>
                </a:rPr>
                <a:t>月</a:t>
              </a:r>
              <a:r>
                <a:rPr kumimoji="1" lang="en-US" altLang="zh-CN" sz="1200" spc="300" dirty="0">
                  <a:solidFill>
                    <a:schemeClr val="bg1"/>
                  </a:solidFill>
                  <a:latin typeface="Arial" panose="020B0604020202020204" pitchFamily="34" charset="0"/>
                  <a:ea typeface="微软雅黑 Light" panose="020B0502040204020203" pitchFamily="34" charset="-122"/>
                  <a:cs typeface="Arial" panose="020B0604020202020204" pitchFamily="34" charset="0"/>
                </a:rPr>
                <a:t>26</a:t>
              </a:r>
              <a:r>
                <a:rPr kumimoji="1" lang="zh-CN" altLang="en-US" sz="1200" spc="300" dirty="0">
                  <a:solidFill>
                    <a:schemeClr val="bg1"/>
                  </a:solidFill>
                  <a:latin typeface="Arial" panose="020B0604020202020204" pitchFamily="34" charset="0"/>
                  <a:ea typeface="微软雅黑 Light" panose="020B0502040204020203" pitchFamily="34" charset="-122"/>
                  <a:cs typeface="Arial" panose="020B0604020202020204" pitchFamily="34" charset="0"/>
                </a:rPr>
                <a:t>日</a:t>
              </a:r>
              <a:endParaRPr kumimoji="1" lang="zh-CN" altLang="en-US" sz="1200" spc="300" dirty="0">
                <a:solidFill>
                  <a:schemeClr val="bg1"/>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24" name="文本框 23"/>
            <p:cNvSpPr txBox="1"/>
            <p:nvPr/>
          </p:nvSpPr>
          <p:spPr>
            <a:xfrm>
              <a:off x="4799842" y="4772657"/>
              <a:ext cx="1146468" cy="338554"/>
            </a:xfrm>
            <a:prstGeom prst="rect">
              <a:avLst/>
            </a:prstGeom>
            <a:noFill/>
          </p:spPr>
          <p:txBody>
            <a:bodyPr wrap="none" rtlCol="0">
              <a:spAutoFit/>
            </a:bodyPr>
            <a:lstStyle/>
            <a:p>
              <a:pPr algn="ctr"/>
              <a:r>
                <a:rPr kumimoji="1" lang="zh-CN" altLang="en-US" sz="1600" spc="900" dirty="0">
                  <a:solidFill>
                    <a:schemeClr val="bg1"/>
                  </a:solidFill>
                  <a:latin typeface="Arial" panose="020B0604020202020204" pitchFamily="34" charset="0"/>
                  <a:ea typeface="微软雅黑 Light" panose="020B0502040204020203" pitchFamily="34" charset="-122"/>
                  <a:cs typeface="Arial" panose="020B0604020202020204" pitchFamily="34" charset="0"/>
                </a:rPr>
                <a:t>汇报人</a:t>
              </a:r>
              <a:endParaRPr kumimoji="1" lang="zh-CN" altLang="en-US" sz="1600" spc="900" dirty="0">
                <a:solidFill>
                  <a:schemeClr val="bg1"/>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25" name="文本框 24"/>
            <p:cNvSpPr txBox="1"/>
            <p:nvPr/>
          </p:nvSpPr>
          <p:spPr>
            <a:xfrm>
              <a:off x="6296987" y="4772657"/>
              <a:ext cx="1159293" cy="338554"/>
            </a:xfrm>
            <a:prstGeom prst="rect">
              <a:avLst/>
            </a:prstGeom>
            <a:noFill/>
          </p:spPr>
          <p:txBody>
            <a:bodyPr wrap="none" rtlCol="0">
              <a:spAutoFit/>
            </a:bodyPr>
            <a:lstStyle/>
            <a:p>
              <a:pPr algn="ctr"/>
              <a:r>
                <a:rPr kumimoji="1" lang="zh-CN" altLang="en-US" sz="1600" spc="250" dirty="0">
                  <a:solidFill>
                    <a:schemeClr val="bg1"/>
                  </a:solidFill>
                  <a:latin typeface="Arial" panose="020B0604020202020204" pitchFamily="34" charset="0"/>
                  <a:ea typeface="微软雅黑 Light" panose="020B0502040204020203" pitchFamily="34" charset="-122"/>
                  <a:cs typeface="Arial" panose="020B0604020202020204" pitchFamily="34" charset="0"/>
                </a:rPr>
                <a:t>指导老师</a:t>
              </a:r>
              <a:endParaRPr kumimoji="1" lang="zh-CN" altLang="en-US" sz="1600" spc="250" dirty="0">
                <a:solidFill>
                  <a:schemeClr val="bg1"/>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26" name="文本框 25"/>
            <p:cNvSpPr txBox="1"/>
            <p:nvPr/>
          </p:nvSpPr>
          <p:spPr>
            <a:xfrm>
              <a:off x="4745773" y="5111211"/>
              <a:ext cx="1139190" cy="429895"/>
            </a:xfrm>
            <a:prstGeom prst="rect">
              <a:avLst/>
            </a:prstGeom>
            <a:noFill/>
          </p:spPr>
          <p:txBody>
            <a:bodyPr wrap="none" rtlCol="0">
              <a:spAutoFit/>
            </a:bodyPr>
            <a:lstStyle/>
            <a:p>
              <a:pPr algn="ctr"/>
              <a:r>
                <a:rPr kumimoji="1" lang="zh-CN" altLang="en-US" sz="22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李钰杰</a:t>
              </a:r>
              <a:endParaRPr kumimoji="1" lang="zh-CN" altLang="en-US" sz="22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7" name="文本框 26"/>
            <p:cNvSpPr txBox="1"/>
            <p:nvPr/>
          </p:nvSpPr>
          <p:spPr>
            <a:xfrm>
              <a:off x="6307038" y="5111211"/>
              <a:ext cx="1139190" cy="429895"/>
            </a:xfrm>
            <a:prstGeom prst="rect">
              <a:avLst/>
            </a:prstGeom>
            <a:noFill/>
          </p:spPr>
          <p:txBody>
            <a:bodyPr wrap="none" rtlCol="0">
              <a:spAutoFit/>
            </a:bodyPr>
            <a:lstStyle/>
            <a:p>
              <a:pPr algn="ctr"/>
              <a:r>
                <a:rPr kumimoji="1" lang="zh-CN" altLang="en-US" sz="22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毋芳芳</a:t>
              </a:r>
              <a:endParaRPr kumimoji="1" lang="zh-CN" altLang="en-US" sz="2200" b="1" spc="3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8" name="直线连接符 27"/>
            <p:cNvCxnSpPr/>
            <p:nvPr/>
          </p:nvCxnSpPr>
          <p:spPr>
            <a:xfrm flipH="1">
              <a:off x="6061727" y="5008857"/>
              <a:ext cx="149690" cy="20470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7" name="文本框 16"/>
          <p:cNvSpPr txBox="1"/>
          <p:nvPr/>
        </p:nvSpPr>
        <p:spPr>
          <a:xfrm>
            <a:off x="2539933" y="2433859"/>
            <a:ext cx="7193280" cy="1106805"/>
          </a:xfrm>
          <a:prstGeom prst="rect">
            <a:avLst/>
          </a:prstGeom>
          <a:noFill/>
          <a:effectLst>
            <a:outerShdw blurRad="50800" dist="38100" dir="5400000" algn="t" rotWithShape="0">
              <a:prstClr val="black">
                <a:alpha val="40000"/>
              </a:prstClr>
            </a:outerShdw>
          </a:effectLst>
        </p:spPr>
        <p:txBody>
          <a:bodyPr wrap="none" rtlCol="0">
            <a:spAutoFit/>
          </a:bodyPr>
          <a:lstStyle/>
          <a:p>
            <a:pPr algn="ctr"/>
            <a:r>
              <a:rPr kumimoji="1" lang="zh-CN" altLang="en-US" sz="6600" b="1" spc="300" dirty="0">
                <a:ln w="9525">
                  <a:noFill/>
                </a:ln>
                <a:gradFill>
                  <a:gsLst>
                    <a:gs pos="0">
                      <a:schemeClr val="bg1"/>
                    </a:gs>
                    <a:gs pos="100000">
                      <a:schemeClr val="bg1">
                        <a:lumMod val="65000"/>
                      </a:schemeClr>
                    </a:gs>
                  </a:gsLst>
                  <a:lin ang="5400000" scaled="1"/>
                </a:gradFill>
                <a:latin typeface="Arial" panose="020B0604020202020204" pitchFamily="34" charset="0"/>
                <a:ea typeface="微软雅黑" panose="020B0503020204020204" pitchFamily="34" charset="-122"/>
                <a:cs typeface="Arial" panose="020B0604020202020204" pitchFamily="34" charset="0"/>
              </a:rPr>
              <a:t>恳请老师批评指正</a:t>
            </a:r>
            <a:endParaRPr kumimoji="1" lang="zh-CN" altLang="en-US" sz="6600" b="1" spc="300" dirty="0">
              <a:ln w="9525">
                <a:noFill/>
              </a:ln>
              <a:gradFill>
                <a:gsLst>
                  <a:gs pos="0">
                    <a:schemeClr val="bg1"/>
                  </a:gs>
                  <a:gs pos="100000">
                    <a:schemeClr val="bg1">
                      <a:lumMod val="65000"/>
                    </a:schemeClr>
                  </a:gs>
                </a:gsLst>
                <a:lin ang="5400000" scaled="1"/>
              </a:gra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2.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3.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4.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5.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6.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7.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8.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9.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10.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11.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12.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13.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14.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15.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16.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17.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18.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19.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20.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21.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22.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23.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24.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25.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26.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27.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28.xml><?xml version="1.0" encoding="utf-8"?>
<p:tagLst xmlns:p="http://schemas.openxmlformats.org/presentationml/2006/main">
  <p:tag name="KSO_WM_DIAGRAM_VIRTUALLY_FRAME" val="{&quot;height&quot;:178.24165354330714,&quot;left&quot;:149.12102362204723,&quot;top&quot;:187.0203937007874,&quot;width&quot;:669.7755118110236}"/>
</p:tagLst>
</file>

<file path=ppt/tags/tag29.xml><?xml version="1.0" encoding="utf-8"?>
<p:tagLst xmlns:p="http://schemas.openxmlformats.org/presentationml/2006/main">
  <p:tag name="KSO_WM_DIAGRAM_VIRTUALLY_FRAME" val="{&quot;height&quot;:376.49102362204724,&quot;left&quot;:79.39141732283466,&quot;top&quot;:92.2477952755906,&quot;width&quot;:805.5058267716537}"/>
</p:tagLst>
</file>

<file path=ppt/tags/tag30.xml><?xml version="1.0" encoding="utf-8"?>
<p:tagLst xmlns:p="http://schemas.openxmlformats.org/presentationml/2006/main">
  <p:tag name="KSO_WM_DIAGRAM_VIRTUALLY_FRAME" val="{&quot;height&quot;:376.49102362204724,&quot;left&quot;:79.39141732283466,&quot;top&quot;:92.2477952755906,&quot;width&quot;:805.5058267716537}"/>
</p:tagLst>
</file>

<file path=ppt/tags/tag31.xml><?xml version="1.0" encoding="utf-8"?>
<p:tagLst xmlns:p="http://schemas.openxmlformats.org/presentationml/2006/main">
  <p:tag name="KSO_WM_DIAGRAM_VIRTUALLY_FRAME" val="{&quot;height&quot;:376.49102362204724,&quot;left&quot;:79.39141732283466,&quot;top&quot;:92.2477952755906,&quot;width&quot;:805.5058267716537}"/>
</p:tagLst>
</file>

<file path=ppt/tags/tag32.xml><?xml version="1.0" encoding="utf-8"?>
<p:tagLst xmlns:p="http://schemas.openxmlformats.org/presentationml/2006/main">
  <p:tag name="KSO_WM_DIAGRAM_VIRTUALLY_FRAME" val="{&quot;height&quot;:376.49102362204724,&quot;left&quot;:79.39141732283466,&quot;top&quot;:92.2477952755906,&quot;width&quot;:805.5058267716537}"/>
</p:tagLst>
</file>

<file path=ppt/tags/tag33.xml><?xml version="1.0" encoding="utf-8"?>
<p:tagLst xmlns:p="http://schemas.openxmlformats.org/presentationml/2006/main">
  <p:tag name="KSO_WM_DIAGRAM_VIRTUALLY_FRAME" val="{&quot;height&quot;:376.49102362204724,&quot;left&quot;:79.39141732283466,&quot;top&quot;:92.2477952755906,&quot;width&quot;:805.5058267716537}"/>
</p:tagLst>
</file>

<file path=ppt/tags/tag34.xml><?xml version="1.0" encoding="utf-8"?>
<p:tagLst xmlns:p="http://schemas.openxmlformats.org/presentationml/2006/main">
  <p:tag name="KSO_WM_DIAGRAM_VIRTUALLY_FRAME" val="{&quot;height&quot;:376.49102362204724,&quot;left&quot;:79.39141732283466,&quot;top&quot;:92.2477952755906,&quot;width&quot;:805.5058267716537}"/>
</p:tagLst>
</file>

<file path=ppt/tags/tag35.xml><?xml version="1.0" encoding="utf-8"?>
<p:tagLst xmlns:p="http://schemas.openxmlformats.org/presentationml/2006/main">
  <p:tag name="KSO_WM_DIAGRAM_VIRTUALLY_FRAME" val="{&quot;height&quot;:376.49102362204724,&quot;left&quot;:79.39141732283466,&quot;top&quot;:92.2477952755906,&quot;width&quot;:805.5058267716537}"/>
</p:tagLst>
</file>

<file path=ppt/tags/tag36.xml><?xml version="1.0" encoding="utf-8"?>
<p:tagLst xmlns:p="http://schemas.openxmlformats.org/presentationml/2006/main">
  <p:tag name="KSO_WM_DIAGRAM_VIRTUALLY_FRAME" val="{&quot;height&quot;:376.49102362204724,&quot;left&quot;:79.39141732283466,&quot;top&quot;:92.2477952755906,&quot;width&quot;:805.5058267716537}"/>
</p:tagLst>
</file>

<file path=ppt/tags/tag37.xml><?xml version="1.0" encoding="utf-8"?>
<p:tagLst xmlns:p="http://schemas.openxmlformats.org/presentationml/2006/main">
  <p:tag name="KSO_WM_DIAGRAM_VIRTUALLY_FRAME" val="{&quot;height&quot;:376.49102362204724,&quot;left&quot;:79.39141732283466,&quot;top&quot;:92.2477952755906,&quot;width&quot;:805.5058267716537}"/>
</p:tagLst>
</file>

<file path=ppt/tags/tag38.xml><?xml version="1.0" encoding="utf-8"?>
<p:tagLst xmlns:p="http://schemas.openxmlformats.org/presentationml/2006/main">
  <p:tag name="KSO_WM_DIAGRAM_VIRTUALLY_FRAME" val="{&quot;height&quot;:376.49102362204724,&quot;left&quot;:79.39141732283466,&quot;top&quot;:92.2477952755906,&quot;width&quot;:805.5058267716537}"/>
</p:tagLst>
</file>

<file path=ppt/tags/tag39.xml><?xml version="1.0" encoding="utf-8"?>
<p:tagLst xmlns:p="http://schemas.openxmlformats.org/presentationml/2006/main">
  <p:tag name="KSO_WM_DIAGRAM_VIRTUALLY_FRAME" val="{&quot;height&quot;:376.49102362204724,&quot;left&quot;:79.39141732283466,&quot;top&quot;:92.2477952755906,&quot;width&quot;:805.5058267716537}"/>
</p:tagLst>
</file>

<file path=ppt/tags/tag40.xml><?xml version="1.0" encoding="utf-8"?>
<p:tagLst xmlns:p="http://schemas.openxmlformats.org/presentationml/2006/main">
  <p:tag name="KSO_WM_DIAGRAM_VIRTUALLY_FRAME" val="{&quot;height&quot;:376.49102362204724,&quot;left&quot;:79.39141732283466,&quot;top&quot;:92.2477952755906,&quot;width&quot;:805.5058267716537}"/>
</p:tagLst>
</file>

<file path=ppt/tags/tag41.xml><?xml version="1.0" encoding="utf-8"?>
<p:tagLst xmlns:p="http://schemas.openxmlformats.org/presentationml/2006/main">
  <p:tag name="KSO_WM_DIAGRAM_VIRTUALLY_FRAME" val="{&quot;height&quot;:376.49102362204724,&quot;left&quot;:79.39141732283466,&quot;top&quot;:92.2477952755906,&quot;width&quot;:805.5058267716537}"/>
</p:tagLst>
</file>

<file path=ppt/tags/tag42.xml><?xml version="1.0" encoding="utf-8"?>
<p:tagLst xmlns:p="http://schemas.openxmlformats.org/presentationml/2006/main">
  <p:tag name="KSO_WM_DIAGRAM_VIRTUALLY_FRAME" val="{&quot;height&quot;:376.49102362204724,&quot;left&quot;:79.39141732283466,&quot;top&quot;:92.2477952755906,&quot;width&quot;:805.5058267716537}"/>
</p:tagLst>
</file>

<file path=ppt/tags/tag43.xml><?xml version="1.0" encoding="utf-8"?>
<p:tagLst xmlns:p="http://schemas.openxmlformats.org/presentationml/2006/main">
  <p:tag name="KSO_WM_DIAGRAM_VIRTUALLY_FRAME" val="{&quot;height&quot;:376.49102362204724,&quot;left&quot;:79.39141732283466,&quot;top&quot;:92.24779527559053,&quot;width&quot;:805.5058267716537}"/>
</p:tagLst>
</file>

<file path=ppt/tags/tag44.xml><?xml version="1.0" encoding="utf-8"?>
<p:tagLst xmlns:p="http://schemas.openxmlformats.org/presentationml/2006/main">
  <p:tag name="KSO_WM_DIAGRAM_VIRTUALLY_FRAME" val="{&quot;height&quot;:376.49102362204724,&quot;left&quot;:79.39141732283466,&quot;top&quot;:92.24779527559053,&quot;width&quot;:805.5058267716537}"/>
</p:tagLst>
</file>

<file path=ppt/tags/tag45.xml><?xml version="1.0" encoding="utf-8"?>
<p:tagLst xmlns:p="http://schemas.openxmlformats.org/presentationml/2006/main">
  <p:tag name="KSO_WM_DIAGRAM_VIRTUALLY_FRAME" val="{&quot;height&quot;:376.49102362204724,&quot;left&quot;:79.39141732283466,&quot;top&quot;:92.24779527559053,&quot;width&quot;:805.5058267716537}"/>
</p:tagLst>
</file>

<file path=ppt/tags/tag46.xml><?xml version="1.0" encoding="utf-8"?>
<p:tagLst xmlns:p="http://schemas.openxmlformats.org/presentationml/2006/main">
  <p:tag name="KSO_WM_DIAGRAM_VIRTUALLY_FRAME" val="{&quot;height&quot;:376.49102362204724,&quot;left&quot;:79.39141732283466,&quot;top&quot;:92.24779527559053,&quot;width&quot;:805.5058267716537}"/>
</p:tagLst>
</file>

<file path=ppt/tags/tag47.xml><?xml version="1.0" encoding="utf-8"?>
<p:tagLst xmlns:p="http://schemas.openxmlformats.org/presentationml/2006/main">
  <p:tag name="KSO_WM_DIAGRAM_VIRTUALLY_FRAME" val="{&quot;height&quot;:376.49102362204724,&quot;left&quot;:79.39141732283466,&quot;top&quot;:92.24779527559053,&quot;width&quot;:805.5058267716537}"/>
</p:tagLst>
</file>

<file path=ppt/tags/tag48.xml><?xml version="1.0" encoding="utf-8"?>
<p:tagLst xmlns:p="http://schemas.openxmlformats.org/presentationml/2006/main">
  <p:tag name="KSO_WM_DIAGRAM_VIRTUALLY_FRAME" val="{&quot;height&quot;:376.49102362204724,&quot;left&quot;:79.39141732283466,&quot;top&quot;:92.24779527559053,&quot;width&quot;:805.5058267716537}"/>
</p:tagLst>
</file>

<file path=ppt/tags/tag49.xml><?xml version="1.0" encoding="utf-8"?>
<p:tagLst xmlns:p="http://schemas.openxmlformats.org/presentationml/2006/main">
  <p:tag name="KSO_WM_DIAGRAM_VIRTUALLY_FRAME" val="{&quot;height&quot;:376.49102362204724,&quot;left&quot;:79.39141732283466,&quot;top&quot;:92.24779527559053,&quot;width&quot;:805.5058267716537}"/>
</p:tagLst>
</file>

<file path=ppt/tags/tag50.xml><?xml version="1.0" encoding="utf-8"?>
<p:tagLst xmlns:p="http://schemas.openxmlformats.org/presentationml/2006/main">
  <p:tag name="KSO_WM_DIAGRAM_VIRTUALLY_FRAME" val="{&quot;height&quot;:376.49102362204724,&quot;left&quot;:79.39141732283466,&quot;top&quot;:92.24779527559053,&quot;width&quot;:805.5058267716537}"/>
</p:tagLst>
</file>

<file path=ppt/tags/tag51.xml><?xml version="1.0" encoding="utf-8"?>
<p:tagLst xmlns:p="http://schemas.openxmlformats.org/presentationml/2006/main">
  <p:tag name="KSO_WM_DIAGRAM_VIRTUALLY_FRAME" val="{&quot;height&quot;:376.49102362204724,&quot;left&quot;:79.39141732283466,&quot;top&quot;:92.24779527559053,&quot;width&quot;:805.5058267716537}"/>
</p:tagLst>
</file>

<file path=ppt/tags/tag52.xml><?xml version="1.0" encoding="utf-8"?>
<p:tagLst xmlns:p="http://schemas.openxmlformats.org/presentationml/2006/main">
  <p:tag name="KSO_WM_DIAGRAM_VIRTUALLY_FRAME" val="{&quot;height&quot;:376.49102362204724,&quot;left&quot;:79.39141732283466,&quot;top&quot;:92.24779527559053,&quot;width&quot;:805.5058267716537}"/>
</p:tagLst>
</file>

<file path=ppt/tags/tag53.xml><?xml version="1.0" encoding="utf-8"?>
<p:tagLst xmlns:p="http://schemas.openxmlformats.org/presentationml/2006/main">
  <p:tag name="KSO_WM_DIAGRAM_VIRTUALLY_FRAME" val="{&quot;height&quot;:376.49102362204724,&quot;left&quot;:79.39141732283466,&quot;top&quot;:92.24779527559053,&quot;width&quot;:805.5058267716537}"/>
</p:tagLst>
</file>

<file path=ppt/tags/tag54.xml><?xml version="1.0" encoding="utf-8"?>
<p:tagLst xmlns:p="http://schemas.openxmlformats.org/presentationml/2006/main">
  <p:tag name="KSO_WM_DIAGRAM_VIRTUALLY_FRAME" val="{&quot;height&quot;:376.49102362204724,&quot;left&quot;:79.39141732283466,&quot;top&quot;:92.24779527559053,&quot;width&quot;:805.5058267716537}"/>
</p:tagLst>
</file>

<file path=ppt/tags/tag55.xml><?xml version="1.0" encoding="utf-8"?>
<p:tagLst xmlns:p="http://schemas.openxmlformats.org/presentationml/2006/main">
  <p:tag name="KSO_WM_DIAGRAM_VIRTUALLY_FRAME" val="{&quot;height&quot;:376.49102362204724,&quot;left&quot;:79.39141732283466,&quot;top&quot;:92.24779527559053,&quot;width&quot;:805.5058267716537}"/>
</p:tagLst>
</file>

<file path=ppt/tags/tag56.xml><?xml version="1.0" encoding="utf-8"?>
<p:tagLst xmlns:p="http://schemas.openxmlformats.org/presentationml/2006/main">
  <p:tag name="KSO_WM_DIAGRAM_VIRTUALLY_FRAME" val="{&quot;height&quot;:376.49102362204724,&quot;left&quot;:79.39141732283466,&quot;top&quot;:92.24779527559053,&quot;width&quot;:805.505826771653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ctr">
          <a:lnSpc>
            <a:spcPct val="130000"/>
          </a:lnSpc>
          <a:defRPr kumimoji="1" sz="1200" dirty="0">
            <a:latin typeface="Source Han Sans SC Normal" panose="020B0400000000000000" pitchFamily="34" charset="-128"/>
            <a:ea typeface="Source Han Sans SC Normal" panose="020B0400000000000000" pitchFamily="34" charset="-128"/>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ctr">
          <a:lnSpc>
            <a:spcPct val="130000"/>
          </a:lnSpc>
          <a:defRPr kumimoji="1" sz="1200" dirty="0">
            <a:latin typeface="Source Han Sans SC Normal" panose="020B0400000000000000" pitchFamily="34" charset="-128"/>
            <a:ea typeface="Source Han Sans SC Normal" panose="020B0400000000000000" pitchFamily="34" charset="-128"/>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4089</Words>
  <Application>WPS 演示</Application>
  <PresentationFormat>宽屏</PresentationFormat>
  <Paragraphs>434</Paragraphs>
  <Slides>31</Slides>
  <Notes>43</Notes>
  <HiddenSlides>0</HiddenSlides>
  <MMClips>3</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31</vt:i4>
      </vt:variant>
    </vt:vector>
  </HeadingPairs>
  <TitlesOfParts>
    <vt:vector size="44" baseType="lpstr">
      <vt:lpstr>Arial</vt:lpstr>
      <vt:lpstr>宋体</vt:lpstr>
      <vt:lpstr>Wingdings</vt:lpstr>
      <vt:lpstr>Source Han Sans SC Normal</vt:lpstr>
      <vt:lpstr>Yu Gothic UI Semilight</vt:lpstr>
      <vt:lpstr>微软雅黑</vt:lpstr>
      <vt:lpstr>ZhenyanGB</vt:lpstr>
      <vt:lpstr>黑体</vt:lpstr>
      <vt:lpstr>Arial Unicode MS</vt:lpstr>
      <vt:lpstr>等线</vt:lpstr>
      <vt:lpstr>微软雅黑 Light</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Manager>51P PT模 板 网</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于 正洋</dc:creator>
  <cp:keywords>我给母校送模板 第二届</cp:keywords>
  <dc:description>www.51 ppt moban.co m</dc:description>
  <cp:lastModifiedBy>LiYuki</cp:lastModifiedBy>
  <cp:revision>304</cp:revision>
  <dcterms:created xsi:type="dcterms:W3CDTF">2026-03-18T10:08:00Z</dcterms:created>
  <dcterms:modified xsi:type="dcterms:W3CDTF">2026-05-28T05:15:00Z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00D84DAF5AD24998AFA764FE254F95BB_13</vt:lpwstr>
  </property>
  <property fmtid="{D5CDD505-2E9C-101B-9397-08002B2CF9AE}" pid="3" name="KSOProductBuildVer">
    <vt:lpwstr>2052-12.1.0.25225</vt:lpwstr>
  </property>
</Properties>
</file>